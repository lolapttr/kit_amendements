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libri (MS)" panose="020F0502020204030204" pitchFamily="34" charset="0"/>
      <p:regular r:id="rId25"/>
    </p:embeddedFont>
    <p:embeddedFont>
      <p:font typeface="Gotham Bold" pitchFamily="2" charset="0"/>
      <p:regular r:id="rId26"/>
      <p:bold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 Bold" panose="020B0806030504020204" pitchFamily="34" charset="0"/>
      <p:regular r:id="rId32"/>
      <p:bold r:id="rId33"/>
    </p:embeddedFont>
    <p:embeddedFont>
      <p:font typeface="Open Sauce" pitchFamily="2" charset="77"/>
      <p:regular r:id="rId34"/>
    </p:embeddedFont>
    <p:embeddedFont>
      <p:font typeface="Open Sauce Bold" pitchFamily="2" charset="77"/>
      <p:regular r:id="rId35"/>
      <p:bold r:id="rId36"/>
    </p:embeddedFont>
    <p:embeddedFont>
      <p:font typeface="Open Sauce Bold Italics" pitchFamily="2" charset="77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1" autoAdjust="0"/>
  </p:normalViewPr>
  <p:slideViewPr>
    <p:cSldViewPr>
      <p:cViewPr varScale="1">
        <p:scale>
          <a:sx n="75" d="100"/>
          <a:sy n="75" d="100"/>
        </p:scale>
        <p:origin x="54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 use case a avant tout une visée pédagogique.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Seuls 664 amendements ont +1024 tokens.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PLF 2025 : amendements sourcés commencent le 11/10/24 et vont jusqu'au 12/11/24.</a:t>
            </a:r>
          </a:p>
          <a:p>
            <a:endParaRPr lang="en-US"/>
          </a:p>
          <a:p>
            <a:r>
              <a:rPr lang="en-US"/>
              <a:t>De même PLF 2026 de 16/10/25 à 23/11/25</a:t>
            </a:r>
          </a:p>
          <a:p>
            <a:endParaRPr lang="en-US"/>
          </a:p>
          <a:p>
            <a:r>
              <a:rPr lang="en-US"/>
              <a:t>/////</a:t>
            </a:r>
          </a:p>
          <a:p>
            <a:endParaRPr lang="en-US"/>
          </a:p>
          <a:p>
            <a:r>
              <a:rPr lang="en-US"/>
              <a:t>Duplomb discutée sur 5 jours : 18/05/25 à 22/05/25</a:t>
            </a:r>
          </a:p>
          <a:p>
            <a:endParaRPr lang="en-US"/>
          </a:p>
          <a:p>
            <a:r>
              <a:rPr lang="en-US"/>
              <a:t>Urgence discutée sur 2 semaines : 11/05/26 à 29/05/26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028700"/>
            <a:ext cx="16230600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28700" y="3205297"/>
            <a:ext cx="1482272" cy="1521799"/>
          </a:xfrm>
          <a:custGeom>
            <a:avLst/>
            <a:gdLst/>
            <a:ahLst/>
            <a:cxnLst/>
            <a:rect l="l" t="t" r="r" b="b"/>
            <a:pathLst>
              <a:path w="1482272" h="1521799">
                <a:moveTo>
                  <a:pt x="0" y="0"/>
                </a:moveTo>
                <a:lnTo>
                  <a:pt x="1482272" y="0"/>
                </a:lnTo>
                <a:lnTo>
                  <a:pt x="1482272" y="1521799"/>
                </a:lnTo>
                <a:lnTo>
                  <a:pt x="0" y="1521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913659" y="3119572"/>
            <a:ext cx="1434564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Étude de cas : Les influences déclarées dans les amendements de l’Assemblée Nationale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45043" y="5837959"/>
            <a:ext cx="14397914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Objectif : classer automatiquement des amendements de la XVIIème législature selon qu’ils sont </a:t>
            </a:r>
            <a:r>
              <a:rPr lang="en-US" sz="3999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sourcés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ou </a:t>
            </a:r>
            <a:r>
              <a:rPr lang="en-US" sz="3999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non-sourcés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avec ActiveTigger.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1874" y="2960333"/>
            <a:ext cx="130379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Contexte, questions de recherche et données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Sommaire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874" y="4173494"/>
            <a:ext cx="12273760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Définir son codebook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les jeux de données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Entraîner des modèles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Sélectionner un modèle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Évaluer le modèle</a:t>
            </a:r>
          </a:p>
        </p:txBody>
      </p:sp>
      <p:sp>
        <p:nvSpPr>
          <p:cNvPr id="5" name="AutoShape 5"/>
          <p:cNvSpPr/>
          <p:nvPr/>
        </p:nvSpPr>
        <p:spPr>
          <a:xfrm flipH="1" flipV="1">
            <a:off x="13780936" y="4179533"/>
            <a:ext cx="1" cy="26514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 flipH="1">
            <a:off x="13568582" y="4206032"/>
            <a:ext cx="212350" cy="2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H="1">
            <a:off x="13568602" y="6811699"/>
            <a:ext cx="212350" cy="2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4156594" y="5769542"/>
            <a:ext cx="25370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ActiveTigger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1874" y="7516769"/>
            <a:ext cx="20012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Résultats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Discussion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4955992" y="4777721"/>
            <a:ext cx="938226" cy="963246"/>
          </a:xfrm>
          <a:custGeom>
            <a:avLst/>
            <a:gdLst/>
            <a:ahLst/>
            <a:cxnLst/>
            <a:rect l="l" t="t" r="r" b="b"/>
            <a:pathLst>
              <a:path w="938226" h="963246">
                <a:moveTo>
                  <a:pt x="938227" y="0"/>
                </a:moveTo>
                <a:lnTo>
                  <a:pt x="0" y="0"/>
                </a:lnTo>
                <a:lnTo>
                  <a:pt x="0" y="963246"/>
                </a:lnTo>
                <a:lnTo>
                  <a:pt x="938227" y="963246"/>
                </a:lnTo>
                <a:lnTo>
                  <a:pt x="93822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41689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47263"/>
            <a:ext cx="10401300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nombreuses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interactions.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41689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47263"/>
            <a:ext cx="10248900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nombreuses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interactions.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686024"/>
            <a:ext cx="894394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Certains sont discutés avec ou proposés par un ou plusieurs groupe(s) d’intérêt.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5514824"/>
            <a:ext cx="10515878" cy="15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i="1">
                <a:solidFill>
                  <a:srgbClr val="E98E2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Sourcing des amendements 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citer nommément ces groupes et la nature de leur influence sur la soumission d’un amendement donné dans l’exposé des motifs.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63821" y="9358504"/>
            <a:ext cx="3629816" cy="184245"/>
            <a:chOff x="0" y="0"/>
            <a:chExt cx="956001" cy="48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01" cy="48525"/>
            </a:xfrm>
            <a:custGeom>
              <a:avLst/>
              <a:gdLst/>
              <a:ahLst/>
              <a:cxnLst/>
              <a:rect l="l" t="t" r="r" b="b"/>
              <a:pathLst>
                <a:path w="956001" h="48525">
                  <a:moveTo>
                    <a:pt x="24263" y="0"/>
                  </a:moveTo>
                  <a:lnTo>
                    <a:pt x="931738" y="0"/>
                  </a:lnTo>
                  <a:cubicBezTo>
                    <a:pt x="945138" y="0"/>
                    <a:pt x="956001" y="10863"/>
                    <a:pt x="956001" y="24263"/>
                  </a:cubicBezTo>
                  <a:lnTo>
                    <a:pt x="956001" y="24263"/>
                  </a:lnTo>
                  <a:cubicBezTo>
                    <a:pt x="956001" y="30698"/>
                    <a:pt x="953445" y="36869"/>
                    <a:pt x="948895" y="41419"/>
                  </a:cubicBezTo>
                  <a:cubicBezTo>
                    <a:pt x="944344" y="45969"/>
                    <a:pt x="938173" y="48525"/>
                    <a:pt x="931738" y="48525"/>
                  </a:cubicBezTo>
                  <a:lnTo>
                    <a:pt x="24263" y="48525"/>
                  </a:lnTo>
                  <a:cubicBezTo>
                    <a:pt x="17828" y="48525"/>
                    <a:pt x="11657" y="45969"/>
                    <a:pt x="7106" y="41419"/>
                  </a:cubicBezTo>
                  <a:cubicBezTo>
                    <a:pt x="2556" y="36869"/>
                    <a:pt x="0" y="30698"/>
                    <a:pt x="0" y="24263"/>
                  </a:cubicBezTo>
                  <a:lnTo>
                    <a:pt x="0" y="24263"/>
                  </a:lnTo>
                  <a:cubicBezTo>
                    <a:pt x="0" y="17828"/>
                    <a:pt x="2556" y="11657"/>
                    <a:pt x="7106" y="7106"/>
                  </a:cubicBezTo>
                  <a:cubicBezTo>
                    <a:pt x="11657" y="2556"/>
                    <a:pt x="17828" y="0"/>
                    <a:pt x="24263" y="0"/>
                  </a:cubicBezTo>
                  <a:close/>
                </a:path>
              </a:pathLst>
            </a:custGeom>
            <a:solidFill>
              <a:srgbClr val="E98E2D">
                <a:alpha val="33725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56001" cy="8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23925"/>
            <a:ext cx="41689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15170" y="9252189"/>
            <a:ext cx="145039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sourcing 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47263"/>
            <a:ext cx="10096500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nombreuses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interactions.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86024"/>
            <a:ext cx="894394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Certains sont discutés avec ou proposés par un ou plusieurs groupe(s) d’intérêt.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5288" y="7391386"/>
            <a:ext cx="9678512" cy="492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➔ “Bonne pratique”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promue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mais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non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obligatoire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2163821" y="9358504"/>
            <a:ext cx="3629816" cy="184245"/>
            <a:chOff x="0" y="0"/>
            <a:chExt cx="956001" cy="48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6001" cy="48525"/>
            </a:xfrm>
            <a:custGeom>
              <a:avLst/>
              <a:gdLst/>
              <a:ahLst/>
              <a:cxnLst/>
              <a:rect l="l" t="t" r="r" b="b"/>
              <a:pathLst>
                <a:path w="956001" h="48525">
                  <a:moveTo>
                    <a:pt x="24263" y="0"/>
                  </a:moveTo>
                  <a:lnTo>
                    <a:pt x="931738" y="0"/>
                  </a:lnTo>
                  <a:cubicBezTo>
                    <a:pt x="945138" y="0"/>
                    <a:pt x="956001" y="10863"/>
                    <a:pt x="956001" y="24263"/>
                  </a:cubicBezTo>
                  <a:lnTo>
                    <a:pt x="956001" y="24263"/>
                  </a:lnTo>
                  <a:cubicBezTo>
                    <a:pt x="956001" y="30698"/>
                    <a:pt x="953445" y="36869"/>
                    <a:pt x="948895" y="41419"/>
                  </a:cubicBezTo>
                  <a:cubicBezTo>
                    <a:pt x="944344" y="45969"/>
                    <a:pt x="938173" y="48525"/>
                    <a:pt x="931738" y="48525"/>
                  </a:cubicBezTo>
                  <a:lnTo>
                    <a:pt x="24263" y="48525"/>
                  </a:lnTo>
                  <a:cubicBezTo>
                    <a:pt x="17828" y="48525"/>
                    <a:pt x="11657" y="45969"/>
                    <a:pt x="7106" y="41419"/>
                  </a:cubicBezTo>
                  <a:cubicBezTo>
                    <a:pt x="2556" y="36869"/>
                    <a:pt x="0" y="30698"/>
                    <a:pt x="0" y="24263"/>
                  </a:cubicBezTo>
                  <a:lnTo>
                    <a:pt x="0" y="24263"/>
                  </a:lnTo>
                  <a:cubicBezTo>
                    <a:pt x="0" y="17828"/>
                    <a:pt x="2556" y="11657"/>
                    <a:pt x="7106" y="7106"/>
                  </a:cubicBezTo>
                  <a:cubicBezTo>
                    <a:pt x="11657" y="2556"/>
                    <a:pt x="17828" y="0"/>
                    <a:pt x="24263" y="0"/>
                  </a:cubicBezTo>
                  <a:close/>
                </a:path>
              </a:pathLst>
            </a:custGeom>
            <a:solidFill>
              <a:srgbClr val="E98E2D">
                <a:alpha val="33725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56001" cy="8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62462" y="7981833"/>
            <a:ext cx="52160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C’est ici que le </a:t>
            </a:r>
            <a:r>
              <a:rPr lang="en-US" sz="2000" b="1">
                <a:solidFill>
                  <a:srgbClr val="E98E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sourcing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peut se trouver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115063" y="5401962"/>
            <a:ext cx="125304" cy="1609536"/>
            <a:chOff x="0" y="0"/>
            <a:chExt cx="167072" cy="2146048"/>
          </a:xfrm>
        </p:grpSpPr>
        <p:sp>
          <p:nvSpPr>
            <p:cNvPr id="9" name="AutoShape 9"/>
            <p:cNvSpPr/>
            <p:nvPr/>
          </p:nvSpPr>
          <p:spPr>
            <a:xfrm>
              <a:off x="25399" y="207"/>
              <a:ext cx="17466" cy="21456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AutoShape 10"/>
            <p:cNvSpPr/>
            <p:nvPr/>
          </p:nvSpPr>
          <p:spPr>
            <a:xfrm flipV="1">
              <a:off x="25452" y="212014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25350" y="2560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15063" y="3422867"/>
            <a:ext cx="125304" cy="1609536"/>
            <a:chOff x="0" y="0"/>
            <a:chExt cx="167072" cy="2146048"/>
          </a:xfrm>
        </p:grpSpPr>
        <p:sp>
          <p:nvSpPr>
            <p:cNvPr id="13" name="AutoShape 13"/>
            <p:cNvSpPr/>
            <p:nvPr/>
          </p:nvSpPr>
          <p:spPr>
            <a:xfrm>
              <a:off x="25399" y="207"/>
              <a:ext cx="17466" cy="21456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25452" y="212014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25350" y="2560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115025" y="7224845"/>
            <a:ext cx="125342" cy="2413978"/>
            <a:chOff x="0" y="0"/>
            <a:chExt cx="167122" cy="3218638"/>
          </a:xfrm>
        </p:grpSpPr>
        <p:sp>
          <p:nvSpPr>
            <p:cNvPr id="17" name="AutoShape 17"/>
            <p:cNvSpPr/>
            <p:nvPr/>
          </p:nvSpPr>
          <p:spPr>
            <a:xfrm flipH="1">
              <a:off x="25400" y="0"/>
              <a:ext cx="50" cy="321863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AutoShape 18"/>
            <p:cNvSpPr/>
            <p:nvPr/>
          </p:nvSpPr>
          <p:spPr>
            <a:xfrm flipV="1">
              <a:off x="25502" y="3192943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25400" y="25400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6217570" y="8189795"/>
            <a:ext cx="417138" cy="26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21" name="Group 21"/>
          <p:cNvGrpSpPr/>
          <p:nvPr/>
        </p:nvGrpSpPr>
        <p:grpSpPr>
          <a:xfrm>
            <a:off x="11115025" y="799339"/>
            <a:ext cx="125342" cy="2413978"/>
            <a:chOff x="0" y="0"/>
            <a:chExt cx="167122" cy="3218638"/>
          </a:xfrm>
        </p:grpSpPr>
        <p:sp>
          <p:nvSpPr>
            <p:cNvPr id="22" name="AutoShape 22"/>
            <p:cNvSpPr/>
            <p:nvPr/>
          </p:nvSpPr>
          <p:spPr>
            <a:xfrm flipH="1">
              <a:off x="25400" y="0"/>
              <a:ext cx="50" cy="321863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25502" y="3192943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25400" y="25400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09084" y="5971780"/>
            <a:ext cx="28263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Substance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104900"/>
            <a:ext cx="6747508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 : structure</a:t>
            </a:r>
          </a:p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d’un amendement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00728" y="3990778"/>
            <a:ext cx="32347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Autrices/Auteurs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10994" y="7892655"/>
            <a:ext cx="392446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Exposé sommaire des motifs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10858" y="1552303"/>
            <a:ext cx="252460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Date, projet de loi, identifiants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66542" y="5405984"/>
            <a:ext cx="12984813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pratique est-elle répandue ? (RQ1)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pratique est-elle uniforme entre les groupes politiques ? (RQ2)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pratique évolue-t-elle dans le temps ? (RQ3)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recherche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598779"/>
            <a:ext cx="164667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Méthodologiquement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Peut-on identifier les amendements sourcés sur un large corpus, sachant que les termes évoqués varient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465679"/>
            <a:ext cx="130379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Cela nous permettrait de répondre à une série de questions 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24837" y="3466632"/>
            <a:ext cx="6301966" cy="3917722"/>
          </a:xfrm>
          <a:custGeom>
            <a:avLst/>
            <a:gdLst/>
            <a:ahLst/>
            <a:cxnLst/>
            <a:rect l="l" t="t" r="r" b="b"/>
            <a:pathLst>
              <a:path w="6301966" h="3917722">
                <a:moveTo>
                  <a:pt x="0" y="0"/>
                </a:moveTo>
                <a:lnTo>
                  <a:pt x="6301967" y="0"/>
                </a:lnTo>
                <a:lnTo>
                  <a:pt x="6301967" y="3917723"/>
                </a:lnTo>
                <a:lnTo>
                  <a:pt x="0" y="3917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2223966"/>
            <a:ext cx="16518261" cy="103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Ensemble des amendements de la XVIIème législature de l’Assemblée Nationale (AN) jusqu’au 21-07-2026.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430095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7030" y="3960707"/>
            <a:ext cx="8650904" cy="976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df_original</a:t>
            </a:r>
            <a:r>
              <a:rPr lang="en-US" sz="2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= 123 224 </a:t>
            </a:r>
            <a:r>
              <a:rPr lang="en-US" sz="28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amendements</a:t>
            </a:r>
            <a:r>
              <a:rPr lang="en-US" sz="2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x 25 col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df_clean</a:t>
            </a:r>
            <a:r>
              <a:rPr lang="en-US" sz="2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= 65 388 </a:t>
            </a:r>
            <a:r>
              <a:rPr lang="en-US" sz="28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amendements</a:t>
            </a:r>
            <a:r>
              <a:rPr lang="en-US" sz="2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x 2 col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29411"/>
            <a:ext cx="8650904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Retirer les variables inutiles, les amendements dont l’exposé sommaire est vide, les </a:t>
            </a:r>
            <a:r>
              <a:rPr lang="en-US" sz="30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duplicats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les </a:t>
            </a:r>
            <a:r>
              <a:rPr lang="en-US" sz="30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amendements de +1024 tokens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56178" y="7316917"/>
            <a:ext cx="347639" cy="504566"/>
            <a:chOff x="0" y="0"/>
            <a:chExt cx="463519" cy="672755"/>
          </a:xfrm>
        </p:grpSpPr>
        <p:sp>
          <p:nvSpPr>
            <p:cNvPr id="8" name="AutoShape 8"/>
            <p:cNvSpPr/>
            <p:nvPr/>
          </p:nvSpPr>
          <p:spPr>
            <a:xfrm>
              <a:off x="0" y="647355"/>
              <a:ext cx="46351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25400" y="24"/>
              <a:ext cx="616" cy="64733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51428" y="7561112"/>
            <a:ext cx="2452027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éviter les annotations contradictoires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276428" y="7316917"/>
            <a:ext cx="347639" cy="504566"/>
            <a:chOff x="0" y="0"/>
            <a:chExt cx="463519" cy="672755"/>
          </a:xfrm>
        </p:grpSpPr>
        <p:sp>
          <p:nvSpPr>
            <p:cNvPr id="12" name="AutoShape 12"/>
            <p:cNvSpPr/>
            <p:nvPr/>
          </p:nvSpPr>
          <p:spPr>
            <a:xfrm>
              <a:off x="0" y="647355"/>
              <a:ext cx="46351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25400" y="24"/>
              <a:ext cx="616" cy="64733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109799" y="7521575"/>
            <a:ext cx="3178032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fenêtre de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contexte maximale recommandée sur l’instance CREST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53687" y="7503265"/>
            <a:ext cx="317803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identifiant unique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75820" y="7503265"/>
            <a:ext cx="317803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texte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013185" y="8413750"/>
            <a:ext cx="2940667" cy="638903"/>
            <a:chOff x="0" y="0"/>
            <a:chExt cx="3920889" cy="8518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7407" cy="851871"/>
            </a:xfrm>
            <a:custGeom>
              <a:avLst/>
              <a:gdLst/>
              <a:ahLst/>
              <a:cxnLst/>
              <a:rect l="l" t="t" r="r" b="b"/>
              <a:pathLst>
                <a:path w="1277407" h="851871">
                  <a:moveTo>
                    <a:pt x="0" y="0"/>
                  </a:moveTo>
                  <a:lnTo>
                    <a:pt x="1277407" y="0"/>
                  </a:lnTo>
                  <a:lnTo>
                    <a:pt x="1277407" y="851871"/>
                  </a:lnTo>
                  <a:lnTo>
                    <a:pt x="0" y="851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01232" y="103597"/>
              <a:ext cx="1330264" cy="748274"/>
            </a:xfrm>
            <a:custGeom>
              <a:avLst/>
              <a:gdLst/>
              <a:ahLst/>
              <a:cxnLst/>
              <a:rect l="l" t="t" r="r" b="b"/>
              <a:pathLst>
                <a:path w="1330264" h="748274">
                  <a:moveTo>
                    <a:pt x="0" y="0"/>
                  </a:moveTo>
                  <a:lnTo>
                    <a:pt x="1330264" y="0"/>
                  </a:lnTo>
                  <a:lnTo>
                    <a:pt x="1330264" y="748274"/>
                  </a:lnTo>
                  <a:lnTo>
                    <a:pt x="0" y="748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331496" y="69056"/>
              <a:ext cx="688815" cy="782815"/>
            </a:xfrm>
            <a:custGeom>
              <a:avLst/>
              <a:gdLst/>
              <a:ahLst/>
              <a:cxnLst/>
              <a:rect l="l" t="t" r="r" b="b"/>
              <a:pathLst>
                <a:path w="688815" h="782815">
                  <a:moveTo>
                    <a:pt x="0" y="0"/>
                  </a:moveTo>
                  <a:lnTo>
                    <a:pt x="688816" y="0"/>
                  </a:lnTo>
                  <a:lnTo>
                    <a:pt x="688816" y="782815"/>
                  </a:lnTo>
                  <a:lnTo>
                    <a:pt x="0" y="782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20312" y="384337"/>
              <a:ext cx="900577" cy="467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8"/>
                </a:lnSpc>
                <a:spcBef>
                  <a:spcPct val="0"/>
                </a:spcBef>
              </a:pPr>
              <a:r>
                <a:rPr lang="en-US" sz="220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...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6009" y="4141342"/>
            <a:ext cx="7238420" cy="5116958"/>
            <a:chOff x="0" y="0"/>
            <a:chExt cx="9651226" cy="6822611"/>
          </a:xfrm>
        </p:grpSpPr>
        <p:sp>
          <p:nvSpPr>
            <p:cNvPr id="3" name="AutoShape 3"/>
            <p:cNvSpPr/>
            <p:nvPr/>
          </p:nvSpPr>
          <p:spPr>
            <a:xfrm flipV="1">
              <a:off x="7026344" y="24307"/>
              <a:ext cx="21465" cy="6797960"/>
            </a:xfrm>
            <a:prstGeom prst="line">
              <a:avLst/>
            </a:prstGeom>
            <a:ln w="217441" cap="flat">
              <a:solidFill>
                <a:srgbClr val="2A306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4663157" y="0"/>
              <a:ext cx="4988069" cy="1022464"/>
              <a:chOff x="0" y="0"/>
              <a:chExt cx="1029588" cy="21104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29588" cy="211047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11047">
                    <a:moveTo>
                      <a:pt x="59053" y="0"/>
                    </a:moveTo>
                    <a:lnTo>
                      <a:pt x="970535" y="0"/>
                    </a:lnTo>
                    <a:cubicBezTo>
                      <a:pt x="1003149" y="0"/>
                      <a:pt x="1029588" y="26439"/>
                      <a:pt x="1029588" y="59053"/>
                    </a:cubicBezTo>
                    <a:lnTo>
                      <a:pt x="1029588" y="151994"/>
                    </a:lnTo>
                    <a:cubicBezTo>
                      <a:pt x="1029588" y="167656"/>
                      <a:pt x="1023366" y="182676"/>
                      <a:pt x="1012292" y="193751"/>
                    </a:cubicBezTo>
                    <a:cubicBezTo>
                      <a:pt x="1001217" y="204825"/>
                      <a:pt x="986197" y="211047"/>
                      <a:pt x="970535" y="211047"/>
                    </a:cubicBezTo>
                    <a:lnTo>
                      <a:pt x="59053" y="211047"/>
                    </a:lnTo>
                    <a:cubicBezTo>
                      <a:pt x="26439" y="211047"/>
                      <a:pt x="0" y="184608"/>
                      <a:pt x="0" y="151994"/>
                    </a:cubicBezTo>
                    <a:lnTo>
                      <a:pt x="0" y="59053"/>
                    </a:lnTo>
                    <a:cubicBezTo>
                      <a:pt x="0" y="26439"/>
                      <a:pt x="26439" y="0"/>
                      <a:pt x="5905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1029588" cy="2396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Annoter les données d’entraînement aléatoirement</a:t>
                </a:r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724952" y="2343480"/>
              <a:ext cx="3633337" cy="3633337"/>
            </a:xfrm>
            <a:custGeom>
              <a:avLst/>
              <a:gdLst/>
              <a:ahLst/>
              <a:cxnLst/>
              <a:rect l="l" t="t" r="r" b="b"/>
              <a:pathLst>
                <a:path w="3633337" h="3633337">
                  <a:moveTo>
                    <a:pt x="0" y="0"/>
                  </a:moveTo>
                  <a:lnTo>
                    <a:pt x="3633337" y="0"/>
                  </a:lnTo>
                  <a:lnTo>
                    <a:pt x="3633337" y="3633338"/>
                  </a:lnTo>
                  <a:lnTo>
                    <a:pt x="0" y="3633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4663157" y="5374425"/>
              <a:ext cx="4988069" cy="1447843"/>
              <a:chOff x="0" y="0"/>
              <a:chExt cx="1029588" cy="29884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59053" y="0"/>
                    </a:moveTo>
                    <a:lnTo>
                      <a:pt x="970535" y="0"/>
                    </a:lnTo>
                    <a:cubicBezTo>
                      <a:pt x="1003149" y="0"/>
                      <a:pt x="1029588" y="26439"/>
                      <a:pt x="1029588" y="59053"/>
                    </a:cubicBezTo>
                    <a:lnTo>
                      <a:pt x="1029588" y="239797"/>
                    </a:lnTo>
                    <a:cubicBezTo>
                      <a:pt x="1029588" y="255458"/>
                      <a:pt x="1023366" y="270479"/>
                      <a:pt x="1012292" y="281553"/>
                    </a:cubicBezTo>
                    <a:cubicBezTo>
                      <a:pt x="1001217" y="292628"/>
                      <a:pt x="986197" y="298849"/>
                      <a:pt x="970535" y="298849"/>
                    </a:cubicBezTo>
                    <a:lnTo>
                      <a:pt x="59053" y="298849"/>
                    </a:lnTo>
                    <a:cubicBezTo>
                      <a:pt x="26439" y="298849"/>
                      <a:pt x="0" y="272411"/>
                      <a:pt x="0" y="239797"/>
                    </a:cubicBezTo>
                    <a:lnTo>
                      <a:pt x="0" y="59053"/>
                    </a:lnTo>
                    <a:cubicBezTo>
                      <a:pt x="0" y="26439"/>
                      <a:pt x="26439" y="0"/>
                      <a:pt x="5905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Active learning : entraîner un modèle pour annoter les cas </a:t>
                </a:r>
              </a:p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les plus ambigus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663157" y="1957397"/>
              <a:ext cx="4988069" cy="1447843"/>
              <a:chOff x="0" y="0"/>
              <a:chExt cx="1029588" cy="29884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59053" y="0"/>
                    </a:moveTo>
                    <a:lnTo>
                      <a:pt x="970535" y="0"/>
                    </a:lnTo>
                    <a:cubicBezTo>
                      <a:pt x="1003149" y="0"/>
                      <a:pt x="1029588" y="26439"/>
                      <a:pt x="1029588" y="59053"/>
                    </a:cubicBezTo>
                    <a:lnTo>
                      <a:pt x="1029588" y="239797"/>
                    </a:lnTo>
                    <a:cubicBezTo>
                      <a:pt x="1029588" y="255458"/>
                      <a:pt x="1023366" y="270479"/>
                      <a:pt x="1012292" y="281553"/>
                    </a:cubicBezTo>
                    <a:cubicBezTo>
                      <a:pt x="1001217" y="292628"/>
                      <a:pt x="986197" y="298849"/>
                      <a:pt x="970535" y="298849"/>
                    </a:cubicBezTo>
                    <a:lnTo>
                      <a:pt x="59053" y="298849"/>
                    </a:lnTo>
                    <a:cubicBezTo>
                      <a:pt x="26439" y="298849"/>
                      <a:pt x="0" y="272411"/>
                      <a:pt x="0" y="239797"/>
                    </a:cubicBezTo>
                    <a:lnTo>
                      <a:pt x="0" y="59053"/>
                    </a:lnTo>
                    <a:cubicBezTo>
                      <a:pt x="0" y="26439"/>
                      <a:pt x="26439" y="0"/>
                      <a:pt x="5905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Search : annoter des données choisies par des RegEx, des mots-clés ou du génératif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753308"/>
              <a:ext cx="4014875" cy="1129790"/>
              <a:chOff x="0" y="0"/>
              <a:chExt cx="828711" cy="233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28711" cy="233200"/>
              </a:xfrm>
              <a:custGeom>
                <a:avLst/>
                <a:gdLst/>
                <a:ahLst/>
                <a:cxnLst/>
                <a:rect l="l" t="t" r="r" b="b"/>
                <a:pathLst>
                  <a:path w="828711" h="233200">
                    <a:moveTo>
                      <a:pt x="73367" y="0"/>
                    </a:moveTo>
                    <a:lnTo>
                      <a:pt x="755344" y="0"/>
                    </a:lnTo>
                    <a:cubicBezTo>
                      <a:pt x="774802" y="0"/>
                      <a:pt x="793463" y="7730"/>
                      <a:pt x="807222" y="21489"/>
                    </a:cubicBezTo>
                    <a:cubicBezTo>
                      <a:pt x="820981" y="35248"/>
                      <a:pt x="828711" y="53909"/>
                      <a:pt x="828711" y="73367"/>
                    </a:cubicBezTo>
                    <a:lnTo>
                      <a:pt x="828711" y="159833"/>
                    </a:lnTo>
                    <a:cubicBezTo>
                      <a:pt x="828711" y="179291"/>
                      <a:pt x="820981" y="197952"/>
                      <a:pt x="807222" y="211711"/>
                    </a:cubicBezTo>
                    <a:cubicBezTo>
                      <a:pt x="793463" y="225470"/>
                      <a:pt x="774802" y="233200"/>
                      <a:pt x="755344" y="233200"/>
                    </a:cubicBezTo>
                    <a:lnTo>
                      <a:pt x="73367" y="233200"/>
                    </a:lnTo>
                    <a:cubicBezTo>
                      <a:pt x="53909" y="233200"/>
                      <a:pt x="35248" y="225470"/>
                      <a:pt x="21489" y="211711"/>
                    </a:cubicBezTo>
                    <a:cubicBezTo>
                      <a:pt x="7730" y="197952"/>
                      <a:pt x="0" y="179291"/>
                      <a:pt x="0" y="159833"/>
                    </a:cubicBezTo>
                    <a:lnTo>
                      <a:pt x="0" y="73367"/>
                    </a:lnTo>
                    <a:cubicBezTo>
                      <a:pt x="0" y="53909"/>
                      <a:pt x="7730" y="35248"/>
                      <a:pt x="21489" y="21489"/>
                    </a:cubicBezTo>
                    <a:cubicBezTo>
                      <a:pt x="35248" y="7730"/>
                      <a:pt x="53909" y="0"/>
                      <a:pt x="73367" y="0"/>
                    </a:cubicBezTo>
                    <a:close/>
                  </a:path>
                </a:pathLst>
              </a:custGeom>
              <a:solidFill>
                <a:srgbClr val="2A3067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828711" cy="261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Modifier le codebook par itérations successives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74686" y="1114425"/>
            <a:ext cx="15685922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Rappel : le workflow d’un projet ActiveTigger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009" y="3167592"/>
            <a:ext cx="594563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6009" y="2370048"/>
            <a:ext cx="594563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Création du projet</a:t>
            </a:r>
          </a:p>
        </p:txBody>
      </p:sp>
      <p:sp>
        <p:nvSpPr>
          <p:cNvPr id="20" name="AutoShape 20"/>
          <p:cNvSpPr/>
          <p:nvPr/>
        </p:nvSpPr>
        <p:spPr>
          <a:xfrm flipH="1" flipV="1">
            <a:off x="9107863" y="2357914"/>
            <a:ext cx="45662" cy="7222837"/>
          </a:xfrm>
          <a:prstGeom prst="line">
            <a:avLst/>
          </a:prstGeom>
          <a:ln w="19050" cap="flat">
            <a:solidFill>
              <a:srgbClr val="2A30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9623691" y="2906135"/>
            <a:ext cx="753747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3 : Annoter les jeux de données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3691" y="4103141"/>
            <a:ext cx="410462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23691" y="5386130"/>
            <a:ext cx="520959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5 : Sélectionner un modèle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01200" y="6684284"/>
            <a:ext cx="520959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6 : Évaluer le modèle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23691" y="8021498"/>
            <a:ext cx="62109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7 : Étendre la prédiction à tout le corpus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331328" y="6494921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3" y="0"/>
                </a:lnTo>
                <a:lnTo>
                  <a:pt x="503603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27" name="Group 27"/>
          <p:cNvGrpSpPr/>
          <p:nvPr/>
        </p:nvGrpSpPr>
        <p:grpSpPr>
          <a:xfrm>
            <a:off x="13240144" y="6669122"/>
            <a:ext cx="685971" cy="1126111"/>
            <a:chOff x="0" y="-14305"/>
            <a:chExt cx="22819" cy="374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819" cy="8886"/>
            </a:xfrm>
            <a:custGeom>
              <a:avLst/>
              <a:gdLst/>
              <a:ahLst/>
              <a:cxnLst/>
              <a:rect l="l" t="t" r="r" b="b"/>
              <a:pathLst>
                <a:path w="22819" h="8886">
                  <a:moveTo>
                    <a:pt x="0" y="0"/>
                  </a:moveTo>
                  <a:lnTo>
                    <a:pt x="22819" y="0"/>
                  </a:lnTo>
                  <a:lnTo>
                    <a:pt x="22819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4305"/>
              <a:ext cx="22819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Test Set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4334278" y="5140701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1" name="Group 31"/>
          <p:cNvGrpSpPr/>
          <p:nvPr/>
        </p:nvGrpSpPr>
        <p:grpSpPr>
          <a:xfrm>
            <a:off x="14062173" y="5299735"/>
            <a:ext cx="1047814" cy="1143855"/>
            <a:chOff x="0" y="-14492"/>
            <a:chExt cx="34857" cy="380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4857" cy="9476"/>
            </a:xfrm>
            <a:custGeom>
              <a:avLst/>
              <a:gdLst/>
              <a:ahLst/>
              <a:cxnLst/>
              <a:rect l="l" t="t" r="r" b="b"/>
              <a:pathLst>
                <a:path w="34857" h="9476">
                  <a:moveTo>
                    <a:pt x="0" y="0"/>
                  </a:moveTo>
                  <a:lnTo>
                    <a:pt x="34857" y="0"/>
                  </a:lnTo>
                  <a:lnTo>
                    <a:pt x="34857" y="9476"/>
                  </a:lnTo>
                  <a:lnTo>
                    <a:pt x="0" y="947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4492"/>
              <a:ext cx="34857" cy="3805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Validation Set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5734188" y="7842514"/>
            <a:ext cx="633958" cy="547284"/>
          </a:xfrm>
          <a:custGeom>
            <a:avLst/>
            <a:gdLst/>
            <a:ahLst/>
            <a:cxnLst/>
            <a:rect l="l" t="t" r="r" b="b"/>
            <a:pathLst>
              <a:path w="633958" h="547284">
                <a:moveTo>
                  <a:pt x="0" y="0"/>
                </a:moveTo>
                <a:lnTo>
                  <a:pt x="633958" y="0"/>
                </a:lnTo>
                <a:lnTo>
                  <a:pt x="633958" y="547284"/>
                </a:lnTo>
                <a:lnTo>
                  <a:pt x="0" y="547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5" name="Group 35"/>
          <p:cNvGrpSpPr/>
          <p:nvPr/>
        </p:nvGrpSpPr>
        <p:grpSpPr>
          <a:xfrm>
            <a:off x="15383422" y="8050704"/>
            <a:ext cx="1377186" cy="1126111"/>
            <a:chOff x="0" y="-15043"/>
            <a:chExt cx="45813" cy="3746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813" cy="8886"/>
            </a:xfrm>
            <a:custGeom>
              <a:avLst/>
              <a:gdLst/>
              <a:ahLst/>
              <a:cxnLst/>
              <a:rect l="l" t="t" r="r" b="b"/>
              <a:pathLst>
                <a:path w="45813" h="8886">
                  <a:moveTo>
                    <a:pt x="0" y="0"/>
                  </a:moveTo>
                  <a:lnTo>
                    <a:pt x="45813" y="0"/>
                  </a:lnTo>
                  <a:lnTo>
                    <a:pt x="45813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5043"/>
              <a:ext cx="45813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Données </a:t>
              </a:r>
              <a:r>
                <a:rPr lang="en-US" sz="1000" b="1" dirty="0" err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restantes</a:t>
              </a:r>
              <a:endParaRPr lang="en-US" sz="1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</p:txBody>
        </p:sp>
      </p:grpSp>
      <p:sp>
        <p:nvSpPr>
          <p:cNvPr id="38" name="Freeform 38"/>
          <p:cNvSpPr/>
          <p:nvPr/>
        </p:nvSpPr>
        <p:spPr>
          <a:xfrm>
            <a:off x="13857422" y="3934835"/>
            <a:ext cx="521631" cy="517555"/>
          </a:xfrm>
          <a:custGeom>
            <a:avLst/>
            <a:gdLst/>
            <a:ahLst/>
            <a:cxnLst/>
            <a:rect l="l" t="t" r="r" b="b"/>
            <a:pathLst>
              <a:path w="521631" h="517555">
                <a:moveTo>
                  <a:pt x="0" y="0"/>
                </a:moveTo>
                <a:lnTo>
                  <a:pt x="521631" y="0"/>
                </a:lnTo>
                <a:lnTo>
                  <a:pt x="521631" y="517556"/>
                </a:lnTo>
                <a:lnTo>
                  <a:pt x="0" y="517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9" name="Group 39"/>
          <p:cNvGrpSpPr/>
          <p:nvPr/>
        </p:nvGrpSpPr>
        <p:grpSpPr>
          <a:xfrm>
            <a:off x="13728320" y="4131713"/>
            <a:ext cx="798348" cy="1084707"/>
            <a:chOff x="-2076" y="-14418"/>
            <a:chExt cx="27902" cy="3791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-2076" y="-14418"/>
              <a:ext cx="27902" cy="3791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4655783" y="2640317"/>
            <a:ext cx="521631" cy="517555"/>
          </a:xfrm>
          <a:custGeom>
            <a:avLst/>
            <a:gdLst/>
            <a:ahLst/>
            <a:cxnLst/>
            <a:rect l="l" t="t" r="r" b="b"/>
            <a:pathLst>
              <a:path w="521631" h="517555">
                <a:moveTo>
                  <a:pt x="0" y="0"/>
                </a:moveTo>
                <a:lnTo>
                  <a:pt x="521631" y="0"/>
                </a:lnTo>
                <a:lnTo>
                  <a:pt x="521631" y="517555"/>
                </a:lnTo>
                <a:lnTo>
                  <a:pt x="0" y="517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3" name="Group 43"/>
          <p:cNvGrpSpPr/>
          <p:nvPr/>
        </p:nvGrpSpPr>
        <p:grpSpPr>
          <a:xfrm>
            <a:off x="14470085" y="2840914"/>
            <a:ext cx="893027" cy="1084707"/>
            <a:chOff x="-4054" y="-14288"/>
            <a:chExt cx="31211" cy="3791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-4054" y="-14288"/>
              <a:ext cx="31211" cy="3791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46" name="Freeform 46"/>
          <p:cNvSpPr/>
          <p:nvPr/>
        </p:nvSpPr>
        <p:spPr>
          <a:xfrm>
            <a:off x="15570290" y="2637304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7" name="Group 47"/>
          <p:cNvGrpSpPr/>
          <p:nvPr/>
        </p:nvGrpSpPr>
        <p:grpSpPr>
          <a:xfrm>
            <a:off x="15298184" y="2811338"/>
            <a:ext cx="1047814" cy="1143855"/>
            <a:chOff x="0" y="-13993"/>
            <a:chExt cx="34857" cy="3805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4857" cy="9476"/>
            </a:xfrm>
            <a:custGeom>
              <a:avLst/>
              <a:gdLst/>
              <a:ahLst/>
              <a:cxnLst/>
              <a:rect l="l" t="t" r="r" b="b"/>
              <a:pathLst>
                <a:path w="34857" h="9476">
                  <a:moveTo>
                    <a:pt x="0" y="0"/>
                  </a:moveTo>
                  <a:lnTo>
                    <a:pt x="34857" y="0"/>
                  </a:lnTo>
                  <a:lnTo>
                    <a:pt x="34857" y="9476"/>
                  </a:lnTo>
                  <a:lnTo>
                    <a:pt x="0" y="9476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3993"/>
              <a:ext cx="34857" cy="3805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Validation Set</a:t>
              </a:r>
            </a:p>
          </p:txBody>
        </p:sp>
      </p:grpSp>
      <p:sp>
        <p:nvSpPr>
          <p:cNvPr id="50" name="Freeform 50"/>
          <p:cNvSpPr/>
          <p:nvPr/>
        </p:nvSpPr>
        <p:spPr>
          <a:xfrm>
            <a:off x="16475460" y="2637304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3" y="0"/>
                </a:lnTo>
                <a:lnTo>
                  <a:pt x="503603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1" name="Group 51"/>
          <p:cNvGrpSpPr/>
          <p:nvPr/>
        </p:nvGrpSpPr>
        <p:grpSpPr>
          <a:xfrm>
            <a:off x="16384276" y="2808709"/>
            <a:ext cx="685971" cy="1126111"/>
            <a:chOff x="0" y="-14398"/>
            <a:chExt cx="22819" cy="3746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819" cy="8886"/>
            </a:xfrm>
            <a:custGeom>
              <a:avLst/>
              <a:gdLst/>
              <a:ahLst/>
              <a:cxnLst/>
              <a:rect l="l" t="t" r="r" b="b"/>
              <a:pathLst>
                <a:path w="22819" h="8886">
                  <a:moveTo>
                    <a:pt x="0" y="0"/>
                  </a:moveTo>
                  <a:lnTo>
                    <a:pt x="22819" y="0"/>
                  </a:lnTo>
                  <a:lnTo>
                    <a:pt x="22819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4398"/>
              <a:ext cx="22819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Test Set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6675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036030" y="2771778"/>
            <a:ext cx="13444296" cy="6201182"/>
          </a:xfrm>
          <a:custGeom>
            <a:avLst/>
            <a:gdLst/>
            <a:ahLst/>
            <a:cxnLst/>
            <a:rect l="l" t="t" r="r" b="b"/>
            <a:pathLst>
              <a:path w="13444296" h="6201182">
                <a:moveTo>
                  <a:pt x="0" y="0"/>
                </a:moveTo>
                <a:lnTo>
                  <a:pt x="13444296" y="0"/>
                </a:lnTo>
                <a:lnTo>
                  <a:pt x="13444296" y="6201182"/>
                </a:lnTo>
                <a:lnTo>
                  <a:pt x="0" y="6201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752475"/>
            <a:ext cx="15685922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Définir son guide d’annotation (étape 2)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251942"/>
            <a:ext cx="234054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Fixer son codebook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706945"/>
            <a:ext cx="2652488" cy="88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 itérations successives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6675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752475"/>
            <a:ext cx="15685922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Annoter les jeux de données (étape 3)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87335"/>
            <a:ext cx="157318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Annoter</a:t>
            </a:r>
          </a:p>
        </p:txBody>
      </p:sp>
      <p:sp>
        <p:nvSpPr>
          <p:cNvPr id="5" name="Freeform 5"/>
          <p:cNvSpPr/>
          <p:nvPr/>
        </p:nvSpPr>
        <p:spPr>
          <a:xfrm>
            <a:off x="4609508" y="2622523"/>
            <a:ext cx="12392757" cy="6157651"/>
          </a:xfrm>
          <a:custGeom>
            <a:avLst/>
            <a:gdLst/>
            <a:ahLst/>
            <a:cxnLst/>
            <a:rect l="l" t="t" r="r" b="b"/>
            <a:pathLst>
              <a:path w="12392757" h="6157651">
                <a:moveTo>
                  <a:pt x="0" y="0"/>
                </a:moveTo>
                <a:lnTo>
                  <a:pt x="12392757" y="0"/>
                </a:lnTo>
                <a:lnTo>
                  <a:pt x="12392757" y="6157651"/>
                </a:lnTo>
                <a:lnTo>
                  <a:pt x="0" y="6157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4668676" y="5141304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6" y="0"/>
                </a:lnTo>
                <a:lnTo>
                  <a:pt x="430126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4999171"/>
            <a:ext cx="2652488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1) Aléatoirement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914205"/>
            <a:ext cx="2517575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2) par RegEx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829240"/>
            <a:ext cx="3580808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3) par Active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4035355" y="4238567"/>
            <a:ext cx="2849060" cy="757382"/>
          </a:xfrm>
          <a:custGeom>
            <a:avLst/>
            <a:gdLst/>
            <a:ahLst/>
            <a:cxnLst/>
            <a:rect l="l" t="t" r="r" b="b"/>
            <a:pathLst>
              <a:path w="2849060" h="757382">
                <a:moveTo>
                  <a:pt x="0" y="0"/>
                </a:moveTo>
                <a:lnTo>
                  <a:pt x="2849059" y="0"/>
                </a:lnTo>
                <a:lnTo>
                  <a:pt x="2849059" y="757382"/>
                </a:lnTo>
                <a:lnTo>
                  <a:pt x="0" y="757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2847532" y="3881044"/>
            <a:ext cx="1069561" cy="419714"/>
          </a:xfrm>
          <a:custGeom>
            <a:avLst/>
            <a:gdLst/>
            <a:ahLst/>
            <a:cxnLst/>
            <a:rect l="l" t="t" r="r" b="b"/>
            <a:pathLst>
              <a:path w="1069561" h="419714">
                <a:moveTo>
                  <a:pt x="0" y="0"/>
                </a:moveTo>
                <a:quadBezTo>
                  <a:pt x="395968" y="620904"/>
                  <a:pt x="1069561" y="323273"/>
                </a:quadBezTo>
              </a:path>
            </a:pathLst>
          </a:cu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 rot="-3443471">
            <a:off x="12755141" y="3872734"/>
            <a:ext cx="324660" cy="283652"/>
            <a:chOff x="0" y="0"/>
            <a:chExt cx="432881" cy="378203"/>
          </a:xfrm>
        </p:grpSpPr>
        <p:sp>
          <p:nvSpPr>
            <p:cNvPr id="6" name="AutoShape 6"/>
            <p:cNvSpPr/>
            <p:nvPr/>
          </p:nvSpPr>
          <p:spPr>
            <a:xfrm flipV="1">
              <a:off x="8480" y="12417"/>
              <a:ext cx="319420" cy="218148"/>
            </a:xfrm>
            <a:prstGeom prst="line">
              <a:avLst/>
            </a:prstGeom>
            <a:ln w="30073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AutoShape 7"/>
            <p:cNvSpPr/>
            <p:nvPr/>
          </p:nvSpPr>
          <p:spPr>
            <a:xfrm flipH="1" flipV="1">
              <a:off x="306196" y="21560"/>
              <a:ext cx="112360" cy="352072"/>
            </a:xfrm>
            <a:prstGeom prst="line">
              <a:avLst/>
            </a:prstGeom>
            <a:ln w="30073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29327" y="4929274"/>
            <a:ext cx="11495094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utilise ici </a:t>
            </a:r>
            <a:r>
              <a:rPr lang="en-US" sz="2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CamembertaV2base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Francophone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Fenêtre de contexte de +1024 tokens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d’entraînement conviennent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Entraîner des modèles (étape 4)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173023"/>
            <a:ext cx="155396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Choisir un ou des modèles dont les caractéristiques correspondent à nos données.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63586" y="3927417"/>
            <a:ext cx="27684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cf. documentation sur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Sélectionner un modèle (étape 5)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34617"/>
            <a:ext cx="155396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Sélection du modèle le plus performant sur le set de validation.</a:t>
            </a:r>
          </a:p>
        </p:txBody>
      </p:sp>
      <p:sp>
        <p:nvSpPr>
          <p:cNvPr id="5" name="Freeform 5"/>
          <p:cNvSpPr/>
          <p:nvPr/>
        </p:nvSpPr>
        <p:spPr>
          <a:xfrm>
            <a:off x="6201438" y="3973494"/>
            <a:ext cx="5531665" cy="2165837"/>
          </a:xfrm>
          <a:custGeom>
            <a:avLst/>
            <a:gdLst/>
            <a:ahLst/>
            <a:cxnLst/>
            <a:rect l="l" t="t" r="r" b="b"/>
            <a:pathLst>
              <a:path w="5531665" h="2165837">
                <a:moveTo>
                  <a:pt x="0" y="0"/>
                </a:moveTo>
                <a:lnTo>
                  <a:pt x="5531665" y="0"/>
                </a:lnTo>
                <a:lnTo>
                  <a:pt x="5531665" y="2165837"/>
                </a:lnTo>
                <a:lnTo>
                  <a:pt x="0" y="2165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7686221" y="3272842"/>
            <a:ext cx="3870153" cy="471632"/>
          </a:xfrm>
          <a:custGeom>
            <a:avLst/>
            <a:gdLst/>
            <a:ahLst/>
            <a:cxnLst/>
            <a:rect l="l" t="t" r="r" b="b"/>
            <a:pathLst>
              <a:path w="3870153" h="471632">
                <a:moveTo>
                  <a:pt x="0" y="0"/>
                </a:moveTo>
                <a:lnTo>
                  <a:pt x="3870152" y="0"/>
                </a:lnTo>
                <a:lnTo>
                  <a:pt x="3870152" y="471632"/>
                </a:lnTo>
                <a:lnTo>
                  <a:pt x="0" y="471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6453610" y="3372844"/>
            <a:ext cx="1110183" cy="27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4"/>
              </a:lnSpc>
              <a:spcBef>
                <a:spcPct val="0"/>
              </a:spcBef>
            </a:pPr>
            <a:r>
              <a:rPr lang="en-US" sz="1703" b="1" i="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Modèle B</a:t>
            </a:r>
          </a:p>
        </p:txBody>
      </p:sp>
      <p:sp>
        <p:nvSpPr>
          <p:cNvPr id="8" name="Freeform 8"/>
          <p:cNvSpPr/>
          <p:nvPr/>
        </p:nvSpPr>
        <p:spPr>
          <a:xfrm>
            <a:off x="11332054" y="6233567"/>
            <a:ext cx="5927246" cy="3026600"/>
          </a:xfrm>
          <a:custGeom>
            <a:avLst/>
            <a:gdLst/>
            <a:ahLst/>
            <a:cxnLst/>
            <a:rect l="l" t="t" r="r" b="b"/>
            <a:pathLst>
              <a:path w="5927246" h="3026600">
                <a:moveTo>
                  <a:pt x="0" y="0"/>
                </a:moveTo>
                <a:lnTo>
                  <a:pt x="5927246" y="0"/>
                </a:lnTo>
                <a:lnTo>
                  <a:pt x="5927246" y="3026600"/>
                </a:lnTo>
                <a:lnTo>
                  <a:pt x="0" y="3026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8097533" y="8207449"/>
            <a:ext cx="3245666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Note : losses d’entraînement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5161233" y="6802934"/>
            <a:ext cx="6100055" cy="2380098"/>
          </a:xfrm>
          <a:custGeom>
            <a:avLst/>
            <a:gdLst/>
            <a:ahLst/>
            <a:cxnLst/>
            <a:rect l="l" t="t" r="r" b="b"/>
            <a:pathLst>
              <a:path w="6100055" h="2380098">
                <a:moveTo>
                  <a:pt x="0" y="0"/>
                </a:moveTo>
                <a:lnTo>
                  <a:pt x="6100056" y="0"/>
                </a:lnTo>
                <a:lnTo>
                  <a:pt x="6100056" y="2380097"/>
                </a:lnTo>
                <a:lnTo>
                  <a:pt x="0" y="2380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304" t="-61085" b="-94824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 rot="6396356">
            <a:off x="11143419" y="6603086"/>
            <a:ext cx="401263" cy="829113"/>
            <a:chOff x="0" y="0"/>
            <a:chExt cx="535018" cy="1105484"/>
          </a:xfrm>
        </p:grpSpPr>
        <p:sp>
          <p:nvSpPr>
            <p:cNvPr id="5" name="Freeform 5"/>
            <p:cNvSpPr/>
            <p:nvPr/>
          </p:nvSpPr>
          <p:spPr>
            <a:xfrm>
              <a:off x="135771" y="11149"/>
              <a:ext cx="387109" cy="1020352"/>
            </a:xfrm>
            <a:custGeom>
              <a:avLst/>
              <a:gdLst/>
              <a:ahLst/>
              <a:cxnLst/>
              <a:rect l="l" t="t" r="r" b="b"/>
              <a:pathLst>
                <a:path w="387109" h="1020352">
                  <a:moveTo>
                    <a:pt x="98543" y="0"/>
                  </a:moveTo>
                  <a:quadBezTo>
                    <a:pt x="-195312" y="634086"/>
                    <a:pt x="387109" y="1020352"/>
                  </a:quadBezTo>
                </a:path>
              </a:pathLst>
            </a:custGeom>
            <a:ln w="2675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15330" y="9586"/>
              <a:ext cx="227349" cy="155269"/>
            </a:xfrm>
            <a:prstGeom prst="line">
              <a:avLst/>
            </a:prstGeom>
            <a:ln w="21404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AutoShape 7"/>
            <p:cNvSpPr/>
            <p:nvPr/>
          </p:nvSpPr>
          <p:spPr>
            <a:xfrm flipH="1" flipV="1">
              <a:off x="227231" y="16094"/>
              <a:ext cx="79973" cy="250589"/>
            </a:xfrm>
            <a:prstGeom prst="line">
              <a:avLst/>
            </a:prstGeom>
            <a:ln w="21404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Freeform 8"/>
          <p:cNvSpPr/>
          <p:nvPr/>
        </p:nvSpPr>
        <p:spPr>
          <a:xfrm>
            <a:off x="11801381" y="9183031"/>
            <a:ext cx="4559594" cy="529239"/>
          </a:xfrm>
          <a:custGeom>
            <a:avLst/>
            <a:gdLst/>
            <a:ahLst/>
            <a:cxnLst/>
            <a:rect l="l" t="t" r="r" b="b"/>
            <a:pathLst>
              <a:path w="4559594" h="529239">
                <a:moveTo>
                  <a:pt x="0" y="0"/>
                </a:moveTo>
                <a:lnTo>
                  <a:pt x="4559594" y="0"/>
                </a:lnTo>
                <a:lnTo>
                  <a:pt x="4559594" y="529239"/>
                </a:lnTo>
                <a:lnTo>
                  <a:pt x="0" y="529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8" b="-478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" name="Group 9"/>
          <p:cNvGrpSpPr/>
          <p:nvPr/>
        </p:nvGrpSpPr>
        <p:grpSpPr>
          <a:xfrm rot="4158669">
            <a:off x="12563238" y="8778118"/>
            <a:ext cx="271269" cy="560511"/>
            <a:chOff x="0" y="0"/>
            <a:chExt cx="361692" cy="747348"/>
          </a:xfrm>
        </p:grpSpPr>
        <p:sp>
          <p:nvSpPr>
            <p:cNvPr id="10" name="Freeform 10"/>
            <p:cNvSpPr/>
            <p:nvPr/>
          </p:nvSpPr>
          <p:spPr>
            <a:xfrm>
              <a:off x="91786" y="7537"/>
              <a:ext cx="261700" cy="689796"/>
            </a:xfrm>
            <a:custGeom>
              <a:avLst/>
              <a:gdLst/>
              <a:ahLst/>
              <a:cxnLst/>
              <a:rect l="l" t="t" r="r" b="b"/>
              <a:pathLst>
                <a:path w="261700" h="689796">
                  <a:moveTo>
                    <a:pt x="66619" y="0"/>
                  </a:moveTo>
                  <a:quadBezTo>
                    <a:pt x="-132038" y="428666"/>
                    <a:pt x="261700" y="689796"/>
                  </a:quadBezTo>
                </a:path>
              </a:pathLst>
            </a:custGeom>
            <a:ln w="1808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10363" y="6480"/>
              <a:ext cx="153697" cy="104967"/>
            </a:xfrm>
            <a:prstGeom prst="line">
              <a:avLst/>
            </a:prstGeom>
            <a:ln w="1447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AutoShape 12"/>
            <p:cNvSpPr/>
            <p:nvPr/>
          </p:nvSpPr>
          <p:spPr>
            <a:xfrm flipH="1" flipV="1">
              <a:off x="153616" y="10880"/>
              <a:ext cx="54065" cy="169408"/>
            </a:xfrm>
            <a:prstGeom prst="line">
              <a:avLst/>
            </a:prstGeom>
            <a:ln w="1447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743656" y="3707596"/>
            <a:ext cx="4868343" cy="2094609"/>
          </a:xfrm>
          <a:custGeom>
            <a:avLst/>
            <a:gdLst/>
            <a:ahLst/>
            <a:cxnLst/>
            <a:rect l="l" t="t" r="r" b="b"/>
            <a:pathLst>
              <a:path w="4868343" h="2094609">
                <a:moveTo>
                  <a:pt x="0" y="0"/>
                </a:moveTo>
                <a:lnTo>
                  <a:pt x="4868343" y="0"/>
                </a:lnTo>
                <a:lnTo>
                  <a:pt x="4868343" y="2094609"/>
                </a:lnTo>
                <a:lnTo>
                  <a:pt x="0" y="2094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896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 signifient les scores 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66124" y="8751669"/>
            <a:ext cx="493324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moyenne des F1 de chaque label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01480" y="7070468"/>
            <a:ext cx="260584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moyenne harmonique de recall et precision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23153" y="2704710"/>
            <a:ext cx="2150640" cy="86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Combien d’éléments sélectionnés sont pertinents 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20137" y="2704710"/>
            <a:ext cx="1947809" cy="86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Combien d’éléments pertinents sont sélectionnés ?</a:t>
            </a:r>
          </a:p>
        </p:txBody>
      </p:sp>
      <p:sp>
        <p:nvSpPr>
          <p:cNvPr id="19" name="Freeform 19"/>
          <p:cNvSpPr/>
          <p:nvPr/>
        </p:nvSpPr>
        <p:spPr>
          <a:xfrm>
            <a:off x="3963723" y="2296082"/>
            <a:ext cx="3346830" cy="4329961"/>
          </a:xfrm>
          <a:custGeom>
            <a:avLst/>
            <a:gdLst/>
            <a:ahLst/>
            <a:cxnLst/>
            <a:rect l="l" t="t" r="r" b="b"/>
            <a:pathLst>
              <a:path w="3346830" h="4329961">
                <a:moveTo>
                  <a:pt x="0" y="0"/>
                </a:moveTo>
                <a:lnTo>
                  <a:pt x="3346829" y="0"/>
                </a:lnTo>
                <a:lnTo>
                  <a:pt x="3346829" y="4329960"/>
                </a:lnTo>
                <a:lnTo>
                  <a:pt x="0" y="4329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TextBox 20"/>
          <p:cNvSpPr txBox="1"/>
          <p:nvPr/>
        </p:nvSpPr>
        <p:spPr>
          <a:xfrm>
            <a:off x="3810523" y="6519553"/>
            <a:ext cx="2150640" cy="19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7"/>
              </a:lnSpc>
            </a:pPr>
            <a:r>
              <a:rPr lang="en-US" sz="1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(= jugés positifs)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10523" y="2163561"/>
            <a:ext cx="2150640" cy="19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7"/>
              </a:lnSpc>
            </a:pPr>
            <a:r>
              <a:rPr lang="en-US" sz="1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(= réellement positifs)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95645" y="5578348"/>
            <a:ext cx="2196792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"/>
              </a:lnSpc>
              <a:spcBef>
                <a:spcPct val="0"/>
              </a:spcBef>
            </a:pPr>
            <a:r>
              <a:rPr lang="en-US" sz="1500">
                <a:solidFill>
                  <a:srgbClr val="939596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1 = le modèle sélectionne presque tous les éléments pertinents.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35079" y="5578348"/>
            <a:ext cx="2173403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"/>
              </a:lnSpc>
              <a:spcBef>
                <a:spcPct val="0"/>
              </a:spcBef>
            </a:pPr>
            <a:r>
              <a:rPr lang="en-US" sz="1500">
                <a:solidFill>
                  <a:srgbClr val="939596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1 = le modèle ne sélectionne presque que des éléments pertinents.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65011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 signifient les courbes de perte 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57406"/>
            <a:ext cx="1596937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Évolution de la </a:t>
            </a:r>
            <a:r>
              <a:rPr lang="en-US" sz="27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fonction de perte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sur les </a:t>
            </a:r>
            <a:r>
              <a:rPr lang="en-US" sz="27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 et train-eval sets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 fonction des </a:t>
            </a:r>
            <a:r>
              <a:rPr lang="en-US" sz="27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époques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5" name="Freeform 5"/>
          <p:cNvSpPr/>
          <p:nvPr/>
        </p:nvSpPr>
        <p:spPr>
          <a:xfrm>
            <a:off x="6688340" y="3593751"/>
            <a:ext cx="10317344" cy="5268294"/>
          </a:xfrm>
          <a:custGeom>
            <a:avLst/>
            <a:gdLst/>
            <a:ahLst/>
            <a:cxnLst/>
            <a:rect l="l" t="t" r="r" b="b"/>
            <a:pathLst>
              <a:path w="10317344" h="5268294">
                <a:moveTo>
                  <a:pt x="0" y="0"/>
                </a:moveTo>
                <a:lnTo>
                  <a:pt x="10317344" y="0"/>
                </a:lnTo>
                <a:lnTo>
                  <a:pt x="10317344" y="5268293"/>
                </a:lnTo>
                <a:lnTo>
                  <a:pt x="0" y="5268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2441735" y="3593751"/>
            <a:ext cx="2294202" cy="594810"/>
            <a:chOff x="0" y="0"/>
            <a:chExt cx="604234" cy="1566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234" cy="156658"/>
            </a:xfrm>
            <a:custGeom>
              <a:avLst/>
              <a:gdLst/>
              <a:ahLst/>
              <a:cxnLst/>
              <a:rect l="l" t="t" r="r" b="b"/>
              <a:pathLst>
                <a:path w="604234" h="156658">
                  <a:moveTo>
                    <a:pt x="0" y="0"/>
                  </a:moveTo>
                  <a:lnTo>
                    <a:pt x="604234" y="0"/>
                  </a:lnTo>
                  <a:lnTo>
                    <a:pt x="604234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4234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41735" y="4323527"/>
            <a:ext cx="1650839" cy="594810"/>
            <a:chOff x="0" y="0"/>
            <a:chExt cx="434789" cy="1566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4789" cy="156658"/>
            </a:xfrm>
            <a:custGeom>
              <a:avLst/>
              <a:gdLst/>
              <a:ahLst/>
              <a:cxnLst/>
              <a:rect l="l" t="t" r="r" b="b"/>
              <a:pathLst>
                <a:path w="434789" h="156658">
                  <a:moveTo>
                    <a:pt x="0" y="0"/>
                  </a:moveTo>
                  <a:lnTo>
                    <a:pt x="434789" y="0"/>
                  </a:lnTo>
                  <a:lnTo>
                    <a:pt x="434789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34789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29479" y="4323527"/>
            <a:ext cx="606458" cy="594810"/>
            <a:chOff x="0" y="0"/>
            <a:chExt cx="159726" cy="1566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726" cy="156658"/>
            </a:xfrm>
            <a:custGeom>
              <a:avLst/>
              <a:gdLst/>
              <a:ahLst/>
              <a:cxnLst/>
              <a:rect l="l" t="t" r="r" b="b"/>
              <a:pathLst>
                <a:path w="159726" h="156658">
                  <a:moveTo>
                    <a:pt x="0" y="0"/>
                  </a:moveTo>
                  <a:lnTo>
                    <a:pt x="159726" y="0"/>
                  </a:lnTo>
                  <a:lnTo>
                    <a:pt x="159726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E1ED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9726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066" y="6730745"/>
            <a:ext cx="2353088" cy="117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d’apprentissage du modèle.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2379449" y="5310652"/>
            <a:ext cx="687195" cy="681826"/>
          </a:xfrm>
          <a:custGeom>
            <a:avLst/>
            <a:gdLst/>
            <a:ahLst/>
            <a:cxnLst/>
            <a:rect l="l" t="t" r="r" b="b"/>
            <a:pathLst>
              <a:path w="687195" h="681826">
                <a:moveTo>
                  <a:pt x="0" y="0"/>
                </a:moveTo>
                <a:lnTo>
                  <a:pt x="687195" y="0"/>
                </a:lnTo>
                <a:lnTo>
                  <a:pt x="687195" y="681826"/>
                </a:lnTo>
                <a:lnTo>
                  <a:pt x="0" y="68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7" name="Group 17"/>
          <p:cNvGrpSpPr/>
          <p:nvPr/>
        </p:nvGrpSpPr>
        <p:grpSpPr>
          <a:xfrm>
            <a:off x="2174160" y="5271873"/>
            <a:ext cx="1092235" cy="2202441"/>
            <a:chOff x="-421" y="-19213"/>
            <a:chExt cx="23524" cy="474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-421" y="-19213"/>
              <a:ext cx="23103" cy="47436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2710511" y="4750557"/>
            <a:ext cx="489" cy="4267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21"/>
          <p:cNvSpPr/>
          <p:nvPr/>
        </p:nvSpPr>
        <p:spPr>
          <a:xfrm>
            <a:off x="4134067" y="5310652"/>
            <a:ext cx="635381" cy="619208"/>
          </a:xfrm>
          <a:custGeom>
            <a:avLst/>
            <a:gdLst/>
            <a:ahLst/>
            <a:cxnLst/>
            <a:rect l="l" t="t" r="r" b="b"/>
            <a:pathLst>
              <a:path w="635381" h="619208">
                <a:moveTo>
                  <a:pt x="0" y="0"/>
                </a:moveTo>
                <a:lnTo>
                  <a:pt x="635382" y="0"/>
                </a:lnTo>
                <a:lnTo>
                  <a:pt x="635382" y="619208"/>
                </a:lnTo>
                <a:lnTo>
                  <a:pt x="0" y="619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 flipV="1">
            <a:off x="4413169" y="4750579"/>
            <a:ext cx="489" cy="4267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23" name="Group 23"/>
          <p:cNvGrpSpPr/>
          <p:nvPr/>
        </p:nvGrpSpPr>
        <p:grpSpPr>
          <a:xfrm>
            <a:off x="3642843" y="5271873"/>
            <a:ext cx="1650846" cy="2202441"/>
            <a:chOff x="-1221" y="-19213"/>
            <a:chExt cx="35555" cy="474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423" cy="9336"/>
            </a:xfrm>
            <a:custGeom>
              <a:avLst/>
              <a:gdLst/>
              <a:ahLst/>
              <a:cxnLst/>
              <a:rect l="l" t="t" r="r" b="b"/>
              <a:pathLst>
                <a:path w="32423" h="9336">
                  <a:moveTo>
                    <a:pt x="0" y="0"/>
                  </a:moveTo>
                  <a:lnTo>
                    <a:pt x="32423" y="0"/>
                  </a:lnTo>
                  <a:lnTo>
                    <a:pt x="3242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E1ED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1221" y="-19213"/>
              <a:ext cx="35555" cy="47436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Train-Eval Set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699535" y="6730745"/>
            <a:ext cx="2310632" cy="197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pour évaluer le modèle à chaque étape d’entraînement.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7687172" y="3272842"/>
            <a:ext cx="4307891" cy="368079"/>
          </a:xfrm>
          <a:custGeom>
            <a:avLst/>
            <a:gdLst/>
            <a:ahLst/>
            <a:cxnLst/>
            <a:rect l="l" t="t" r="r" b="b"/>
            <a:pathLst>
              <a:path w="4307891" h="368079">
                <a:moveTo>
                  <a:pt x="0" y="0"/>
                </a:moveTo>
                <a:lnTo>
                  <a:pt x="4307891" y="0"/>
                </a:lnTo>
                <a:lnTo>
                  <a:pt x="4307891" y="368080"/>
                </a:lnTo>
                <a:lnTo>
                  <a:pt x="0" y="368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6292937" y="3793097"/>
            <a:ext cx="5702125" cy="2439243"/>
          </a:xfrm>
          <a:custGeom>
            <a:avLst/>
            <a:gdLst/>
            <a:ahLst/>
            <a:cxnLst/>
            <a:rect l="l" t="t" r="r" b="b"/>
            <a:pathLst>
              <a:path w="5702125" h="2439243">
                <a:moveTo>
                  <a:pt x="0" y="0"/>
                </a:moveTo>
                <a:lnTo>
                  <a:pt x="5702126" y="0"/>
                </a:lnTo>
                <a:lnTo>
                  <a:pt x="5702126" y="2439242"/>
                </a:lnTo>
                <a:lnTo>
                  <a:pt x="0" y="2439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Évaluer le modèle (étape 6)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34617"/>
            <a:ext cx="155396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Évaluation du modèle sélectionné sur le set de test.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67093" y="3309384"/>
            <a:ext cx="1110183" cy="27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4"/>
              </a:lnSpc>
              <a:spcBef>
                <a:spcPct val="0"/>
              </a:spcBef>
            </a:pPr>
            <a:r>
              <a:rPr lang="en-US" sz="1703" b="1" i="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Modèle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90969" y="3865222"/>
            <a:ext cx="6783391" cy="4780712"/>
          </a:xfrm>
          <a:custGeom>
            <a:avLst/>
            <a:gdLst/>
            <a:ahLst/>
            <a:cxnLst/>
            <a:rect l="l" t="t" r="r" b="b"/>
            <a:pathLst>
              <a:path w="6783391" h="4780712">
                <a:moveTo>
                  <a:pt x="0" y="0"/>
                </a:moveTo>
                <a:lnTo>
                  <a:pt x="6783391" y="0"/>
                </a:lnTo>
                <a:lnTo>
                  <a:pt x="6783391" y="4780712"/>
                </a:lnTo>
                <a:lnTo>
                  <a:pt x="0" y="4780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89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Quelques résultats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9513" y="2284529"/>
            <a:ext cx="800418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(RQ1) : Pratique minoritaire mais non marginale.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89042" y="3372455"/>
            <a:ext cx="8987245" cy="29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8"/>
              </a:lnSpc>
            </a:pPr>
            <a:r>
              <a:rPr lang="en-US" sz="20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Répartition des amendements de la XVIIème législature* selon leur sourcing (en %)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11095" y="8598309"/>
            <a:ext cx="10087863" cy="25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*à l’exclusion des amendements dont l’exposé sommaire est null ou d’une longueur &gt;1024 tokens.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82466" y="4763146"/>
            <a:ext cx="5345860" cy="4246467"/>
          </a:xfrm>
          <a:custGeom>
            <a:avLst/>
            <a:gdLst/>
            <a:ahLst/>
            <a:cxnLst/>
            <a:rect l="l" t="t" r="r" b="b"/>
            <a:pathLst>
              <a:path w="5345860" h="4246467">
                <a:moveTo>
                  <a:pt x="0" y="0"/>
                </a:moveTo>
                <a:lnTo>
                  <a:pt x="5345860" y="0"/>
                </a:lnTo>
                <a:lnTo>
                  <a:pt x="5345860" y="4246467"/>
                </a:lnTo>
                <a:lnTo>
                  <a:pt x="0" y="424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28700" y="2059389"/>
            <a:ext cx="8882565" cy="7167614"/>
          </a:xfrm>
          <a:custGeom>
            <a:avLst/>
            <a:gdLst/>
            <a:ahLst/>
            <a:cxnLst/>
            <a:rect l="l" t="t" r="r" b="b"/>
            <a:pathLst>
              <a:path w="8882565" h="7167614">
                <a:moveTo>
                  <a:pt x="0" y="0"/>
                </a:moveTo>
                <a:lnTo>
                  <a:pt x="8882565" y="0"/>
                </a:lnTo>
                <a:lnTo>
                  <a:pt x="8882565" y="7167615"/>
                </a:lnTo>
                <a:lnTo>
                  <a:pt x="0" y="7167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Quelques résultats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8945" y="1824439"/>
            <a:ext cx="888256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(RQ2) : Différence substantielle entre groupes politiques.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0590" y="9220200"/>
            <a:ext cx="8900691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*à l’exclusion des amendements dont l’exposé sommaire est null ou d’une longueur &gt;1024 tokens.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4274" y="4362568"/>
            <a:ext cx="3815954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À mettre au regard du volume des amendements déposés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4274" y="2769177"/>
            <a:ext cx="713198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Les NI et LIOT sont-ils plus soumis à influence ou plus transparents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0890" y="2516682"/>
            <a:ext cx="15986221" cy="5785014"/>
          </a:xfrm>
          <a:custGeom>
            <a:avLst/>
            <a:gdLst/>
            <a:ahLst/>
            <a:cxnLst/>
            <a:rect l="l" t="t" r="r" b="b"/>
            <a:pathLst>
              <a:path w="15986221" h="5785014">
                <a:moveTo>
                  <a:pt x="0" y="0"/>
                </a:moveTo>
                <a:lnTo>
                  <a:pt x="15986220" y="0"/>
                </a:lnTo>
                <a:lnTo>
                  <a:pt x="15986220" y="5785014"/>
                </a:lnTo>
                <a:lnTo>
                  <a:pt x="0" y="5785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857584" y="2352821"/>
            <a:ext cx="2510315" cy="1797342"/>
            <a:chOff x="0" y="0"/>
            <a:chExt cx="661153" cy="4733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1153" cy="473374"/>
            </a:xfrm>
            <a:custGeom>
              <a:avLst/>
              <a:gdLst/>
              <a:ahLst/>
              <a:cxnLst/>
              <a:rect l="l" t="t" r="r" b="b"/>
              <a:pathLst>
                <a:path w="661153" h="473374">
                  <a:moveTo>
                    <a:pt x="0" y="0"/>
                  </a:moveTo>
                  <a:lnTo>
                    <a:pt x="661153" y="0"/>
                  </a:lnTo>
                  <a:lnTo>
                    <a:pt x="661153" y="473374"/>
                  </a:lnTo>
                  <a:lnTo>
                    <a:pt x="0" y="47337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61153" cy="501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de finances + Projet de loi de financement de la sécurité sociale pour 2025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39325" y="1787525"/>
            <a:ext cx="2898732" cy="1130592"/>
            <a:chOff x="0" y="0"/>
            <a:chExt cx="763452" cy="2977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3452" cy="297769"/>
            </a:xfrm>
            <a:custGeom>
              <a:avLst/>
              <a:gdLst/>
              <a:ahLst/>
              <a:cxnLst/>
              <a:rect l="l" t="t" r="r" b="b"/>
              <a:pathLst>
                <a:path w="763452" h="297769">
                  <a:moveTo>
                    <a:pt x="0" y="0"/>
                  </a:moveTo>
                  <a:lnTo>
                    <a:pt x="763452" y="0"/>
                  </a:lnTo>
                  <a:lnTo>
                    <a:pt x="763452" y="297769"/>
                  </a:lnTo>
                  <a:lnTo>
                    <a:pt x="0" y="2977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63452" cy="32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d'urgence pour la protection et la souveraineté agricoles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46106" y="3065297"/>
            <a:ext cx="3402537" cy="1463967"/>
            <a:chOff x="0" y="0"/>
            <a:chExt cx="896141" cy="385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6141" cy="385572"/>
            </a:xfrm>
            <a:custGeom>
              <a:avLst/>
              <a:gdLst/>
              <a:ahLst/>
              <a:cxnLst/>
              <a:rect l="l" t="t" r="r" b="b"/>
              <a:pathLst>
                <a:path w="896141" h="385572">
                  <a:moveTo>
                    <a:pt x="0" y="0"/>
                  </a:moveTo>
                  <a:lnTo>
                    <a:pt x="896141" y="0"/>
                  </a:lnTo>
                  <a:lnTo>
                    <a:pt x="896141" y="385572"/>
                  </a:lnTo>
                  <a:lnTo>
                    <a:pt x="0" y="3855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96141" cy="41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Proposition de loi visant à lever les contraintes à l'exercice du métier d'agriculteur (“loi Duplomb”)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Quelques résultats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0890" y="8616052"/>
            <a:ext cx="1545339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(RQ3) : davantage de sourcing lors des grands moments parlementaires (PLF)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17466" y="9034130"/>
            <a:ext cx="665306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sur des textes relatifs à l’agriculture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77226" y="4265410"/>
            <a:ext cx="937376" cy="211681"/>
            <a:chOff x="0" y="0"/>
            <a:chExt cx="1249834" cy="282241"/>
          </a:xfrm>
        </p:grpSpPr>
        <p:sp>
          <p:nvSpPr>
            <p:cNvPr id="16" name="AutoShape 16"/>
            <p:cNvSpPr/>
            <p:nvPr/>
          </p:nvSpPr>
          <p:spPr>
            <a:xfrm>
              <a:off x="2600" y="25400"/>
              <a:ext cx="1244634" cy="733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AutoShape 17"/>
            <p:cNvSpPr/>
            <p:nvPr/>
          </p:nvSpPr>
          <p:spPr>
            <a:xfrm flipH="1">
              <a:off x="25400" y="25421"/>
              <a:ext cx="325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AutoShape 18"/>
            <p:cNvSpPr/>
            <p:nvPr/>
          </p:nvSpPr>
          <p:spPr>
            <a:xfrm flipH="1">
              <a:off x="1224109" y="25400"/>
              <a:ext cx="325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207744" y="2958292"/>
            <a:ext cx="264652" cy="214015"/>
            <a:chOff x="0" y="0"/>
            <a:chExt cx="352869" cy="285354"/>
          </a:xfrm>
        </p:grpSpPr>
        <p:sp>
          <p:nvSpPr>
            <p:cNvPr id="20" name="AutoShape 20"/>
            <p:cNvSpPr/>
            <p:nvPr/>
          </p:nvSpPr>
          <p:spPr>
            <a:xfrm flipV="1">
              <a:off x="11779" y="25399"/>
              <a:ext cx="329311" cy="31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AutoShape 21"/>
            <p:cNvSpPr/>
            <p:nvPr/>
          </p:nvSpPr>
          <p:spPr>
            <a:xfrm flipH="1">
              <a:off x="25400" y="285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22"/>
            <p:cNvSpPr/>
            <p:nvPr/>
          </p:nvSpPr>
          <p:spPr>
            <a:xfrm flipH="1">
              <a:off x="327351" y="158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67917" y="4635103"/>
            <a:ext cx="255999" cy="214015"/>
            <a:chOff x="0" y="0"/>
            <a:chExt cx="341332" cy="285354"/>
          </a:xfrm>
        </p:grpSpPr>
        <p:sp>
          <p:nvSpPr>
            <p:cNvPr id="24" name="AutoShape 24"/>
            <p:cNvSpPr/>
            <p:nvPr/>
          </p:nvSpPr>
          <p:spPr>
            <a:xfrm flipV="1">
              <a:off x="242" y="25399"/>
              <a:ext cx="329311" cy="31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AutoShape 25"/>
            <p:cNvSpPr/>
            <p:nvPr/>
          </p:nvSpPr>
          <p:spPr>
            <a:xfrm flipH="1">
              <a:off x="26562" y="285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315814" y="158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11265" y="3172308"/>
            <a:ext cx="3787445" cy="1130592"/>
            <a:chOff x="0" y="0"/>
            <a:chExt cx="997516" cy="2977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7516" cy="297769"/>
            </a:xfrm>
            <a:custGeom>
              <a:avLst/>
              <a:gdLst/>
              <a:ahLst/>
              <a:cxnLst/>
              <a:rect l="l" t="t" r="r" b="b"/>
              <a:pathLst>
                <a:path w="997516" h="297769">
                  <a:moveTo>
                    <a:pt x="0" y="0"/>
                  </a:moveTo>
                  <a:lnTo>
                    <a:pt x="997516" y="0"/>
                  </a:lnTo>
                  <a:lnTo>
                    <a:pt x="997516" y="297769"/>
                  </a:lnTo>
                  <a:lnTo>
                    <a:pt x="0" y="2977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997516" cy="32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de finances + Projet de loi de financement de la sécurité sociale pour 2026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573169" y="4393096"/>
            <a:ext cx="729316" cy="272335"/>
            <a:chOff x="0" y="0"/>
            <a:chExt cx="972421" cy="363114"/>
          </a:xfrm>
        </p:grpSpPr>
        <p:sp>
          <p:nvSpPr>
            <p:cNvPr id="31" name="AutoShape 31"/>
            <p:cNvSpPr/>
            <p:nvPr/>
          </p:nvSpPr>
          <p:spPr>
            <a:xfrm>
              <a:off x="7875" y="25399"/>
              <a:ext cx="956670" cy="964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AutoShape 32"/>
            <p:cNvSpPr/>
            <p:nvPr/>
          </p:nvSpPr>
          <p:spPr>
            <a:xfrm flipH="1">
              <a:off x="25400" y="25427"/>
              <a:ext cx="250" cy="33766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AutoShape 33"/>
            <p:cNvSpPr/>
            <p:nvPr/>
          </p:nvSpPr>
          <p:spPr>
            <a:xfrm flipH="1">
              <a:off x="946771" y="25399"/>
              <a:ext cx="250" cy="33766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070553" y="9034130"/>
            <a:ext cx="25337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qui ? pourquoi ?</a:t>
            </a:r>
          </a:p>
        </p:txBody>
      </p:sp>
      <p:sp>
        <p:nvSpPr>
          <p:cNvPr id="35" name="AutoShape 35"/>
          <p:cNvSpPr/>
          <p:nvPr/>
        </p:nvSpPr>
        <p:spPr>
          <a:xfrm>
            <a:off x="12249216" y="9288130"/>
            <a:ext cx="14494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Intérêt, limites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83901"/>
            <a:ext cx="16518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Est-ce qu’un modèle génératif aurait pu le faire 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704153"/>
            <a:ext cx="1481522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 le guide d’annotation est déjà optimal, oui.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0485" y="4685228"/>
            <a:ext cx="1481522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 n’était pas le cas ici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nous permet d’avoir une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meilleure connaissance des données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d’affiner / de remettre en question notre guide d’annotation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Intérêt, limites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20485" y="4754409"/>
            <a:ext cx="1106215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Simplicité de la tâche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(peu d’appréciation subjective)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Absence de sensibilité des données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Coût temporel limité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(peu d’annotations)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20485" y="7869084"/>
            <a:ext cx="1481522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Coûts économique, environnemental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Réplicabilité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83901"/>
            <a:ext cx="16518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Est-ce qu’un modèle génératif aurait pu le faire 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704153"/>
            <a:ext cx="1481522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 ailleurs, mettre en perspective la nature de notre cas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040409"/>
            <a:ext cx="1481522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ne pas ignorer 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03452" y="3570946"/>
            <a:ext cx="488109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Merci !</a:t>
            </a:r>
          </a:p>
        </p:txBody>
      </p:sp>
      <p:sp>
        <p:nvSpPr>
          <p:cNvPr id="3" name="Freeform 3"/>
          <p:cNvSpPr/>
          <p:nvPr/>
        </p:nvSpPr>
        <p:spPr>
          <a:xfrm>
            <a:off x="8634413" y="2629369"/>
            <a:ext cx="1019174" cy="1046352"/>
          </a:xfrm>
          <a:custGeom>
            <a:avLst/>
            <a:gdLst/>
            <a:ahLst/>
            <a:cxnLst/>
            <a:rect l="l" t="t" r="r" b="b"/>
            <a:pathLst>
              <a:path w="1019174" h="1046352">
                <a:moveTo>
                  <a:pt x="0" y="0"/>
                </a:moveTo>
                <a:lnTo>
                  <a:pt x="1019174" y="0"/>
                </a:lnTo>
                <a:lnTo>
                  <a:pt x="1019174" y="1046352"/>
                </a:lnTo>
                <a:lnTo>
                  <a:pt x="0" y="1046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863163" y="5385190"/>
            <a:ext cx="1256167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Demande de compte, documentation, lien GitHub, lien Discord : 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https://activetigger.com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1030</Words>
  <Application>Microsoft Macintosh PowerPoint</Application>
  <PresentationFormat>Personnalisé</PresentationFormat>
  <Paragraphs>158</Paragraphs>
  <Slides>22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3" baseType="lpstr">
      <vt:lpstr>Open Sauce Bold</vt:lpstr>
      <vt:lpstr>Calibri</vt:lpstr>
      <vt:lpstr>Open Sauce</vt:lpstr>
      <vt:lpstr>Open Sauce Bold Italics</vt:lpstr>
      <vt:lpstr>Calibri (MS)</vt:lpstr>
      <vt:lpstr>Open Sans</vt:lpstr>
      <vt:lpstr>Arial</vt:lpstr>
      <vt:lpstr>Open Sans Bold</vt:lpstr>
      <vt:lpstr>Times New Roman</vt:lpstr>
      <vt:lpstr>Gotham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Use_case_VCOURTE_EO</dc:title>
  <cp:lastModifiedBy>ROUGIER Adrien</cp:lastModifiedBy>
  <cp:revision>3</cp:revision>
  <dcterms:created xsi:type="dcterms:W3CDTF">2006-08-16T00:00:00Z</dcterms:created>
  <dcterms:modified xsi:type="dcterms:W3CDTF">2026-10-22T10:18:41Z</dcterms:modified>
  <dc:identifier>DAHYuLI52lk</dc:identifier>
</cp:coreProperties>
</file>