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3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8288000" cy="10287000"/>
  <p:notesSz cx="6858000" cy="9144000"/>
  <p:embeddedFontLst>
    <p:embeddedFont>
      <p:font typeface="Calibri (MS)" panose="020F0502020204030204" pitchFamily="34" charset="0"/>
      <p:regular r:id="rId79"/>
    </p:embeddedFont>
    <p:embeddedFont>
      <p:font typeface="Gotham Bold" pitchFamily="2" charset="0"/>
      <p:regular r:id="rId80"/>
      <p:bold r:id="rId81"/>
    </p:embeddedFont>
    <p:embeddedFont>
      <p:font typeface="Open Sans" panose="020B0606030504020204" pitchFamily="34" charset="0"/>
      <p:regular r:id="rId82"/>
      <p:bold r:id="rId83"/>
      <p:italic r:id="rId84"/>
      <p:boldItalic r:id="rId85"/>
    </p:embeddedFont>
    <p:embeddedFont>
      <p:font typeface="Open Sans Bold" panose="020B0806030504020204" pitchFamily="34" charset="0"/>
      <p:regular r:id="rId86"/>
      <p:bold r:id="rId87"/>
    </p:embeddedFont>
    <p:embeddedFont>
      <p:font typeface="Open Sauce" pitchFamily="2" charset="77"/>
      <p:regular r:id="rId88"/>
    </p:embeddedFont>
    <p:embeddedFont>
      <p:font typeface="Open Sauce Bold" pitchFamily="2" charset="77"/>
      <p:regular r:id="rId89"/>
      <p:bold r:id="rId90"/>
    </p:embeddedFont>
    <p:embeddedFont>
      <p:font typeface="Open Sauce Bold Italics" pitchFamily="2" charset="77"/>
      <p:regular r:id="rId91"/>
      <p:bold r:id="rId92"/>
      <p:italic r:id="rId93"/>
      <p:boldItalic r:id="rId94"/>
    </p:embeddedFont>
    <p:embeddedFont>
      <p:font typeface="Open Sauce Italics" pitchFamily="2" charset="77"/>
      <p:regular r:id="rId95"/>
      <p:italic r:id="rId9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579" autoAdjust="0"/>
  </p:normalViewPr>
  <p:slideViewPr>
    <p:cSldViewPr>
      <p:cViewPr varScale="1">
        <p:scale>
          <a:sx n="67" d="100"/>
          <a:sy n="67" d="100"/>
        </p:scale>
        <p:origin x="7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schemas.openxmlformats.org/officeDocument/2006/relationships/font" Target="fonts/font12.fntdata"/><Relationship Id="rId95" Type="http://schemas.openxmlformats.org/officeDocument/2006/relationships/font" Target="fonts/font17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font" Target="fonts/font13.fntdata"/><Relationship Id="rId96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font" Target="fonts/font16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5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Ce use case a </a:t>
            </a:r>
            <a:r>
              <a:rPr lang="en-US" dirty="0" err="1"/>
              <a:t>avant</a:t>
            </a:r>
            <a:r>
              <a:rPr lang="en-US" dirty="0"/>
              <a:t> tout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visée</a:t>
            </a:r>
            <a:r>
              <a:rPr lang="en-US" dirty="0"/>
              <a:t> </a:t>
            </a:r>
            <a:r>
              <a:rPr lang="en-US" dirty="0" err="1"/>
              <a:t>pédagogique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Ce use case a </a:t>
            </a:r>
            <a:r>
              <a:rPr lang="en-US" dirty="0" err="1"/>
              <a:t>avant</a:t>
            </a:r>
            <a:r>
              <a:rPr lang="en-US" dirty="0"/>
              <a:t> tout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visée</a:t>
            </a:r>
            <a:r>
              <a:rPr lang="en-US" dirty="0"/>
              <a:t> </a:t>
            </a:r>
            <a:r>
              <a:rPr lang="en-US" dirty="0" err="1"/>
              <a:t>pédagogique</a:t>
            </a:r>
            <a:r>
              <a:rPr lang="en-US" dirty="0"/>
              <a:t>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Seuls 664 amendements ont +1024 tokens. </a:t>
            </a:r>
          </a:p>
          <a:p>
            <a:endParaRPr lang="en-US"/>
          </a:p>
          <a:p>
            <a:r>
              <a:rPr lang="en-US"/>
              <a:t>Ne pas hésiter à y passer du temps.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Seuls 664 amendements ont +1024 tokens. </a:t>
            </a:r>
          </a:p>
          <a:p>
            <a:endParaRPr lang="en-US"/>
          </a:p>
          <a:p>
            <a:r>
              <a:rPr lang="en-US"/>
              <a:t>Ne pas hésiter à y passer du temps.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Seuls 664 amendements ont +1024 tokens. </a:t>
            </a:r>
          </a:p>
          <a:p>
            <a:endParaRPr lang="en-US"/>
          </a:p>
          <a:p>
            <a:r>
              <a:rPr lang="en-US"/>
              <a:t>Ne pas hésiter à y passer du temps.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 </a:t>
            </a:r>
            <a:r>
              <a:rPr lang="en-US" dirty="0" err="1"/>
              <a:t>Objet</a:t>
            </a:r>
            <a:r>
              <a:rPr lang="en-US" dirty="0"/>
              <a:t> de la recherche ? Présence d’un certain </a:t>
            </a:r>
            <a:r>
              <a:rPr lang="en-US" dirty="0" err="1"/>
              <a:t>groupe</a:t>
            </a:r>
            <a:r>
              <a:rPr lang="en-US" dirty="0"/>
              <a:t> de mots (pas </a:t>
            </a:r>
            <a:r>
              <a:rPr lang="en-US" dirty="0" err="1"/>
              <a:t>besoin</a:t>
            </a:r>
            <a:r>
              <a:rPr lang="en-US" dirty="0"/>
              <a:t> du </a:t>
            </a:r>
            <a:r>
              <a:rPr lang="en-US" dirty="0" err="1"/>
              <a:t>contexte</a:t>
            </a:r>
            <a:r>
              <a:rPr lang="en-US" dirty="0"/>
              <a:t>). 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Homogénéité</a:t>
            </a:r>
            <a:r>
              <a:rPr lang="en-US" dirty="0"/>
              <a:t> </a:t>
            </a:r>
            <a:r>
              <a:rPr lang="en-US" dirty="0" err="1"/>
              <a:t>thématique</a:t>
            </a:r>
            <a:r>
              <a:rPr lang="en-US" dirty="0"/>
              <a:t> ? Oui. </a:t>
            </a:r>
          </a:p>
          <a:p>
            <a:endParaRPr lang="en-US" dirty="0"/>
          </a:p>
          <a:p>
            <a:r>
              <a:rPr lang="en-US" dirty="0"/>
              <a:t>3. Distribution des labels ? “source” a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prévalence</a:t>
            </a:r>
            <a:r>
              <a:rPr lang="en-US" dirty="0"/>
              <a:t> de 0,5-1% au </a:t>
            </a:r>
            <a:r>
              <a:rPr lang="en-US" dirty="0" err="1"/>
              <a:t>niveau</a:t>
            </a:r>
            <a:r>
              <a:rPr lang="en-US" dirty="0"/>
              <a:t> de la phrase </a:t>
            </a:r>
            <a:r>
              <a:rPr lang="en-US" dirty="0" err="1"/>
              <a:t>contre</a:t>
            </a:r>
            <a:r>
              <a:rPr lang="en-US" dirty="0"/>
              <a:t> 8,5-9% au </a:t>
            </a:r>
            <a:r>
              <a:rPr lang="en-US" dirty="0" err="1"/>
              <a:t>niveau</a:t>
            </a:r>
            <a:r>
              <a:rPr lang="en-US" dirty="0"/>
              <a:t> de </a:t>
            </a:r>
            <a:r>
              <a:rPr lang="en-US" dirty="0" err="1"/>
              <a:t>l'amendement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adapté</a:t>
            </a:r>
            <a:r>
              <a:rPr lang="en-US" dirty="0"/>
              <a:t> aux données avec </a:t>
            </a:r>
            <a:r>
              <a:rPr lang="en-US" dirty="0" err="1"/>
              <a:t>fenêtre</a:t>
            </a:r>
            <a:r>
              <a:rPr lang="en-US" dirty="0"/>
              <a:t> de </a:t>
            </a:r>
            <a:r>
              <a:rPr lang="en-US" dirty="0" err="1"/>
              <a:t>contexte</a:t>
            </a:r>
            <a:r>
              <a:rPr lang="en-US" dirty="0"/>
              <a:t> </a:t>
            </a:r>
            <a:r>
              <a:rPr lang="en-US" dirty="0" err="1"/>
              <a:t>appropriée</a:t>
            </a:r>
            <a:r>
              <a:rPr lang="en-US" dirty="0"/>
              <a:t> ? Oui, des </a:t>
            </a:r>
            <a:r>
              <a:rPr lang="en-US" dirty="0" err="1"/>
              <a:t>modèles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français contemporain existent </a:t>
            </a:r>
            <a:r>
              <a:rPr lang="en-US" dirty="0" err="1"/>
              <a:t>jusqu’à</a:t>
            </a:r>
            <a:r>
              <a:rPr lang="en-US" dirty="0"/>
              <a:t> 8k tokens. </a:t>
            </a:r>
          </a:p>
          <a:p>
            <a:endParaRPr lang="en-US" dirty="0"/>
          </a:p>
          <a:p>
            <a:r>
              <a:rPr lang="en-US" dirty="0"/>
              <a:t>5. Puissance de </a:t>
            </a:r>
            <a:r>
              <a:rPr lang="en-US" dirty="0" err="1"/>
              <a:t>calcul</a:t>
            </a:r>
            <a:r>
              <a:rPr lang="en-US" dirty="0"/>
              <a:t> suffisante ? Sur </a:t>
            </a:r>
            <a:r>
              <a:rPr lang="en-US" dirty="0" err="1"/>
              <a:t>l’instance</a:t>
            </a:r>
            <a:r>
              <a:rPr lang="en-US" dirty="0"/>
              <a:t> CREST, max 1024 tokens </a:t>
            </a:r>
            <a:r>
              <a:rPr lang="en-US" dirty="0" err="1"/>
              <a:t>recommandés</a:t>
            </a:r>
            <a:r>
              <a:rPr lang="en-US" dirty="0"/>
              <a:t>. Seuls 664 </a:t>
            </a:r>
            <a:r>
              <a:rPr lang="en-US" dirty="0" err="1"/>
              <a:t>amendements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au dessus. </a:t>
            </a:r>
          </a:p>
          <a:p>
            <a:endParaRPr lang="en-US" dirty="0"/>
          </a:p>
          <a:p>
            <a:r>
              <a:rPr lang="en-US" dirty="0"/>
              <a:t>Conclusion : </a:t>
            </a:r>
            <a:r>
              <a:rPr lang="en-US" dirty="0" err="1"/>
              <a:t>Amendement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retirant </a:t>
            </a:r>
            <a:r>
              <a:rPr lang="en-US" dirty="0" err="1"/>
              <a:t>ceux</a:t>
            </a:r>
            <a:r>
              <a:rPr lang="en-US" dirty="0"/>
              <a:t> de +1024 tokens (on ne </a:t>
            </a:r>
            <a:r>
              <a:rPr lang="en-US" dirty="0" err="1"/>
              <a:t>peut</a:t>
            </a:r>
            <a:r>
              <a:rPr lang="en-US" dirty="0"/>
              <a:t> pas les </a:t>
            </a:r>
            <a:r>
              <a:rPr lang="en-US" dirty="0" err="1"/>
              <a:t>laisser</a:t>
            </a:r>
            <a:r>
              <a:rPr lang="en-US" dirty="0"/>
              <a:t> se faire </a:t>
            </a:r>
            <a:r>
              <a:rPr lang="en-US" dirty="0" err="1"/>
              <a:t>tronquer</a:t>
            </a:r>
            <a:r>
              <a:rPr lang="en-US" dirty="0"/>
              <a:t> car </a:t>
            </a:r>
            <a:r>
              <a:rPr lang="en-US" dirty="0" err="1"/>
              <a:t>souvent</a:t>
            </a:r>
            <a:r>
              <a:rPr lang="en-US" dirty="0"/>
              <a:t> le sourcing </a:t>
            </a:r>
            <a:r>
              <a:rPr lang="en-US" dirty="0" err="1"/>
              <a:t>apparait</a:t>
            </a:r>
            <a:r>
              <a:rPr lang="en-US" dirty="0"/>
              <a:t> à la fin de </a:t>
            </a:r>
            <a:r>
              <a:rPr lang="en-US" dirty="0" err="1"/>
              <a:t>l'amendement</a:t>
            </a:r>
            <a:r>
              <a:rPr lang="en-US" dirty="0"/>
              <a:t>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Seuls 664 amendements ont +1024 tokens. </a:t>
            </a:r>
          </a:p>
          <a:p>
            <a:endParaRPr lang="en-US"/>
          </a:p>
          <a:p>
            <a:r>
              <a:rPr lang="en-US"/>
              <a:t>Ne pas hésiter à y passer du temps.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$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2274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Changer nombre de tokens de 512 à 1024.</a:t>
            </a:r>
          </a:p>
          <a:p>
            <a:endParaRPr lang="en-US"/>
          </a:p>
          <a:p>
            <a:r>
              <a:rPr lang="en-US"/>
              <a:t>Changer height et width comme voulu (les textes étant très longs, c'est vraiment utile)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F2136-8AB7-F117-ADC1-C952C0F0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413BFB6-DEFC-510A-BDD8-018BA01E9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802F58-3F41-7D2C-6045-3C9CB16D4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A95E6A-D61F-FCB5-31CC-5FD1A4D6E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65187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PLF 2025 : </a:t>
            </a:r>
            <a:r>
              <a:rPr lang="en-US" dirty="0" err="1"/>
              <a:t>amendements</a:t>
            </a:r>
            <a:r>
              <a:rPr lang="en-US" dirty="0"/>
              <a:t> </a:t>
            </a:r>
            <a:r>
              <a:rPr lang="en-US" dirty="0" err="1"/>
              <a:t>sourcés</a:t>
            </a:r>
            <a:r>
              <a:rPr lang="en-US" dirty="0"/>
              <a:t> </a:t>
            </a:r>
            <a:r>
              <a:rPr lang="en-US" dirty="0" err="1"/>
              <a:t>commencent</a:t>
            </a:r>
            <a:r>
              <a:rPr lang="en-US" dirty="0"/>
              <a:t> le 11/10/24 et </a:t>
            </a:r>
            <a:r>
              <a:rPr lang="en-US" dirty="0" err="1"/>
              <a:t>vont</a:t>
            </a:r>
            <a:r>
              <a:rPr lang="en-US" dirty="0"/>
              <a:t> </a:t>
            </a:r>
            <a:r>
              <a:rPr lang="en-US" dirty="0" err="1"/>
              <a:t>jusqu'au</a:t>
            </a:r>
            <a:r>
              <a:rPr lang="en-US" dirty="0"/>
              <a:t> 12/11/24.</a:t>
            </a:r>
          </a:p>
          <a:p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même</a:t>
            </a:r>
            <a:r>
              <a:rPr lang="en-US" dirty="0"/>
              <a:t> PLF 2026 de 16/10/25 à 23/11/25</a:t>
            </a:r>
          </a:p>
          <a:p>
            <a:endParaRPr lang="en-US" dirty="0"/>
          </a:p>
          <a:p>
            <a:r>
              <a:rPr lang="en-US" dirty="0"/>
              <a:t>/////</a:t>
            </a:r>
          </a:p>
          <a:p>
            <a:endParaRPr lang="en-US" dirty="0"/>
          </a:p>
          <a:p>
            <a:r>
              <a:rPr lang="en-US" dirty="0" err="1"/>
              <a:t>Duplomb</a:t>
            </a:r>
            <a:r>
              <a:rPr lang="en-US" dirty="0"/>
              <a:t> </a:t>
            </a:r>
            <a:r>
              <a:rPr lang="en-US" dirty="0" err="1"/>
              <a:t>discutée</a:t>
            </a:r>
            <a:r>
              <a:rPr lang="en-US" dirty="0"/>
              <a:t> sur 5 </a:t>
            </a:r>
            <a:r>
              <a:rPr lang="en-US" dirty="0" err="1"/>
              <a:t>jours</a:t>
            </a:r>
            <a:r>
              <a:rPr lang="en-US" dirty="0"/>
              <a:t> : 18/05/25 à 22/05/25</a:t>
            </a:r>
          </a:p>
          <a:p>
            <a:endParaRPr lang="en-US" dirty="0"/>
          </a:p>
          <a:p>
            <a:r>
              <a:rPr lang="en-US" dirty="0"/>
              <a:t>Urgence </a:t>
            </a:r>
            <a:r>
              <a:rPr lang="en-US" dirty="0" err="1"/>
              <a:t>discutée</a:t>
            </a:r>
            <a:r>
              <a:rPr lang="en-US" dirty="0"/>
              <a:t> sur 2 </a:t>
            </a:r>
            <a:r>
              <a:rPr lang="en-US" dirty="0" err="1"/>
              <a:t>semaines</a:t>
            </a:r>
            <a:r>
              <a:rPr lang="en-US" dirty="0"/>
              <a:t> : 11/05/26 à 29/05/26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PLF 2025 : amendements sourcés commencent le 11/10/24 et vont jusqu'au 12/11/24.</a:t>
            </a:r>
          </a:p>
          <a:p>
            <a:endParaRPr lang="en-US"/>
          </a:p>
          <a:p>
            <a:r>
              <a:rPr lang="en-US"/>
              <a:t>De même PLF 2026 de 16/10/25 à 23/11/25</a:t>
            </a:r>
          </a:p>
          <a:p>
            <a:endParaRPr lang="en-US"/>
          </a:p>
          <a:p>
            <a:r>
              <a:rPr lang="en-US"/>
              <a:t>/////</a:t>
            </a:r>
          </a:p>
          <a:p>
            <a:endParaRPr lang="en-US"/>
          </a:p>
          <a:p>
            <a:r>
              <a:rPr lang="en-US"/>
              <a:t>Duplomb discutée sur 5 jours : 18/05/25 à 22/05/25</a:t>
            </a:r>
          </a:p>
          <a:p>
            <a:endParaRPr lang="en-US"/>
          </a:p>
          <a:p>
            <a:r>
              <a:rPr lang="en-US"/>
              <a:t>Urgence discutée sur 2 semaines : 11/05/26 à 29/05/26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05297"/>
            <a:ext cx="1482272" cy="1521799"/>
          </a:xfrm>
          <a:custGeom>
            <a:avLst/>
            <a:gdLst/>
            <a:ahLst/>
            <a:cxnLst/>
            <a:rect l="l" t="t" r="r" b="b"/>
            <a:pathLst>
              <a:path w="1482272" h="1521799">
                <a:moveTo>
                  <a:pt x="0" y="0"/>
                </a:moveTo>
                <a:lnTo>
                  <a:pt x="1482272" y="0"/>
                </a:lnTo>
                <a:lnTo>
                  <a:pt x="1482272" y="1521799"/>
                </a:lnTo>
                <a:lnTo>
                  <a:pt x="0" y="1521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913659" y="3119572"/>
            <a:ext cx="1434564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Étude de cas : Les influences déclarées dans les amendements de l’Assemblée Nationale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700" y="1028700"/>
            <a:ext cx="16230600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205297"/>
            <a:ext cx="1482272" cy="1521799"/>
          </a:xfrm>
          <a:custGeom>
            <a:avLst/>
            <a:gdLst/>
            <a:ahLst/>
            <a:cxnLst/>
            <a:rect l="l" t="t" r="r" b="b"/>
            <a:pathLst>
              <a:path w="1482272" h="1521799">
                <a:moveTo>
                  <a:pt x="0" y="0"/>
                </a:moveTo>
                <a:lnTo>
                  <a:pt x="1482272" y="0"/>
                </a:lnTo>
                <a:lnTo>
                  <a:pt x="1482272" y="1521799"/>
                </a:lnTo>
                <a:lnTo>
                  <a:pt x="0" y="1521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913659" y="3119572"/>
            <a:ext cx="14345641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Étude de cas : Les influences déclarées dans les amendements de l’Assemblée Nationale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700" y="1028700"/>
            <a:ext cx="16230600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45043" y="5837959"/>
            <a:ext cx="14397914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Objectif : classer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automatiquement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des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amendements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la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XVIIème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législature</a:t>
            </a:r>
            <a:r>
              <a:rPr lang="en-US" sz="3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selon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qu’ils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sont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 b="1" dirty="0" err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sourcés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999" b="1" dirty="0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</a:t>
            </a:r>
            <a:r>
              <a:rPr lang="en-US" sz="3999" b="1" dirty="0" err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sourcés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avec </a:t>
            </a:r>
            <a:r>
              <a:rPr lang="en-US" sz="39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ActiveTigger</a:t>
            </a:r>
            <a:r>
              <a:rPr lang="en-US" sz="39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1874" y="2413792"/>
            <a:ext cx="130379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Introduction : contexte, questions de recherche et données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Plan de la session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874" y="3497342"/>
            <a:ext cx="12273760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Créer un projet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Définir son guide d’annotation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Annoter les jeux de données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Entraîner des modèles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 Sélectionner un modèle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6. Évaluer le modèle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7. Prédire sur l’ensemble du jeu de données</a:t>
            </a:r>
          </a:p>
        </p:txBody>
      </p:sp>
      <p:sp>
        <p:nvSpPr>
          <p:cNvPr id="5" name="AutoShape 5"/>
          <p:cNvSpPr/>
          <p:nvPr/>
        </p:nvSpPr>
        <p:spPr>
          <a:xfrm flipH="1" flipV="1">
            <a:off x="13780936" y="3707937"/>
            <a:ext cx="1" cy="35136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H="1">
            <a:off x="13568582" y="3734436"/>
            <a:ext cx="212350" cy="2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H="1">
            <a:off x="13568562" y="7202346"/>
            <a:ext cx="212350" cy="2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4099104" y="5759299"/>
            <a:ext cx="25370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ActiveTigger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1874" y="7783592"/>
            <a:ext cx="4672726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8.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Quelques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résultats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9. Discussion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4898501" y="4767478"/>
            <a:ext cx="938226" cy="963246"/>
          </a:xfrm>
          <a:custGeom>
            <a:avLst/>
            <a:gdLst/>
            <a:ahLst/>
            <a:cxnLst/>
            <a:rect l="l" t="t" r="r" b="b"/>
            <a:pathLst>
              <a:path w="938226" h="963246">
                <a:moveTo>
                  <a:pt x="938227" y="0"/>
                </a:moveTo>
                <a:lnTo>
                  <a:pt x="0" y="0"/>
                </a:lnTo>
                <a:lnTo>
                  <a:pt x="0" y="963246"/>
                </a:lnTo>
                <a:lnTo>
                  <a:pt x="938227" y="963246"/>
                </a:lnTo>
                <a:lnTo>
                  <a:pt x="938227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41689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47263"/>
            <a:ext cx="10248900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nombreuses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41689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47263"/>
            <a:ext cx="10401300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nombreuses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interactions.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686024"/>
            <a:ext cx="894394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Certains sont discutés avec ou proposés par un ou plusieurs groupe(s) d’intérêt.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5514824"/>
            <a:ext cx="10515878" cy="15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i="1">
                <a:solidFill>
                  <a:srgbClr val="E98E2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Sourcing des amendements </a:t>
            </a: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citer nommément ces groupes et la nature de leur influence sur la soumission d’un amendement donné dans l’exposé des motifs.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63821" y="9358504"/>
            <a:ext cx="3629816" cy="184245"/>
            <a:chOff x="0" y="0"/>
            <a:chExt cx="956001" cy="485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6001" cy="48525"/>
            </a:xfrm>
            <a:custGeom>
              <a:avLst/>
              <a:gdLst/>
              <a:ahLst/>
              <a:cxnLst/>
              <a:rect l="l" t="t" r="r" b="b"/>
              <a:pathLst>
                <a:path w="956001" h="48525">
                  <a:moveTo>
                    <a:pt x="24263" y="0"/>
                  </a:moveTo>
                  <a:lnTo>
                    <a:pt x="931738" y="0"/>
                  </a:lnTo>
                  <a:cubicBezTo>
                    <a:pt x="945138" y="0"/>
                    <a:pt x="956001" y="10863"/>
                    <a:pt x="956001" y="24263"/>
                  </a:cubicBezTo>
                  <a:lnTo>
                    <a:pt x="956001" y="24263"/>
                  </a:lnTo>
                  <a:cubicBezTo>
                    <a:pt x="956001" y="30698"/>
                    <a:pt x="953445" y="36869"/>
                    <a:pt x="948895" y="41419"/>
                  </a:cubicBezTo>
                  <a:cubicBezTo>
                    <a:pt x="944344" y="45969"/>
                    <a:pt x="938173" y="48525"/>
                    <a:pt x="931738" y="48525"/>
                  </a:cubicBezTo>
                  <a:lnTo>
                    <a:pt x="24263" y="48525"/>
                  </a:lnTo>
                  <a:cubicBezTo>
                    <a:pt x="17828" y="48525"/>
                    <a:pt x="11657" y="45969"/>
                    <a:pt x="7106" y="41419"/>
                  </a:cubicBezTo>
                  <a:cubicBezTo>
                    <a:pt x="2556" y="36869"/>
                    <a:pt x="0" y="30698"/>
                    <a:pt x="0" y="24263"/>
                  </a:cubicBezTo>
                  <a:lnTo>
                    <a:pt x="0" y="24263"/>
                  </a:lnTo>
                  <a:cubicBezTo>
                    <a:pt x="0" y="17828"/>
                    <a:pt x="2556" y="11657"/>
                    <a:pt x="7106" y="7106"/>
                  </a:cubicBezTo>
                  <a:cubicBezTo>
                    <a:pt x="11657" y="2556"/>
                    <a:pt x="17828" y="0"/>
                    <a:pt x="24263" y="0"/>
                  </a:cubicBezTo>
                  <a:close/>
                </a:path>
              </a:pathLst>
            </a:custGeom>
            <a:solidFill>
              <a:srgbClr val="E98E2D">
                <a:alpha val="33725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56001" cy="8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923925"/>
            <a:ext cx="416898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5170" y="9252189"/>
            <a:ext cx="145039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sourcing 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47263"/>
            <a:ext cx="10325100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résulte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nombreuses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interactions.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86024"/>
            <a:ext cx="894394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Certains sont discutés avec ou proposés par un ou plusieurs groupe(s) d’intérêt.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5288" y="7391386"/>
            <a:ext cx="9869290" cy="4921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➔ “Bonne pratique”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promue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non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obligatoire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3038" y="431401"/>
            <a:ext cx="6065230" cy="8623796"/>
          </a:xfrm>
          <a:custGeom>
            <a:avLst/>
            <a:gdLst/>
            <a:ahLst/>
            <a:cxnLst/>
            <a:rect l="l" t="t" r="r" b="b"/>
            <a:pathLst>
              <a:path w="6065230" h="8623796">
                <a:moveTo>
                  <a:pt x="0" y="0"/>
                </a:moveTo>
                <a:lnTo>
                  <a:pt x="6065230" y="0"/>
                </a:lnTo>
                <a:lnTo>
                  <a:pt x="6065230" y="8623796"/>
                </a:lnTo>
                <a:lnTo>
                  <a:pt x="0" y="8623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623038" y="8029458"/>
            <a:ext cx="6065230" cy="1826141"/>
          </a:xfrm>
          <a:custGeom>
            <a:avLst/>
            <a:gdLst/>
            <a:ahLst/>
            <a:cxnLst/>
            <a:rect l="l" t="t" r="r" b="b"/>
            <a:pathLst>
              <a:path w="6065230" h="1826141">
                <a:moveTo>
                  <a:pt x="0" y="0"/>
                </a:moveTo>
                <a:lnTo>
                  <a:pt x="6065230" y="0"/>
                </a:lnTo>
                <a:lnTo>
                  <a:pt x="6065230" y="1826141"/>
                </a:lnTo>
                <a:lnTo>
                  <a:pt x="0" y="182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1668" b="-33057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2163821" y="9358504"/>
            <a:ext cx="3629816" cy="184245"/>
            <a:chOff x="0" y="0"/>
            <a:chExt cx="956001" cy="48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6001" cy="48525"/>
            </a:xfrm>
            <a:custGeom>
              <a:avLst/>
              <a:gdLst/>
              <a:ahLst/>
              <a:cxnLst/>
              <a:rect l="l" t="t" r="r" b="b"/>
              <a:pathLst>
                <a:path w="956001" h="48525">
                  <a:moveTo>
                    <a:pt x="24263" y="0"/>
                  </a:moveTo>
                  <a:lnTo>
                    <a:pt x="931738" y="0"/>
                  </a:lnTo>
                  <a:cubicBezTo>
                    <a:pt x="945138" y="0"/>
                    <a:pt x="956001" y="10863"/>
                    <a:pt x="956001" y="24263"/>
                  </a:cubicBezTo>
                  <a:lnTo>
                    <a:pt x="956001" y="24263"/>
                  </a:lnTo>
                  <a:cubicBezTo>
                    <a:pt x="956001" y="30698"/>
                    <a:pt x="953445" y="36869"/>
                    <a:pt x="948895" y="41419"/>
                  </a:cubicBezTo>
                  <a:cubicBezTo>
                    <a:pt x="944344" y="45969"/>
                    <a:pt x="938173" y="48525"/>
                    <a:pt x="931738" y="48525"/>
                  </a:cubicBezTo>
                  <a:lnTo>
                    <a:pt x="24263" y="48525"/>
                  </a:lnTo>
                  <a:cubicBezTo>
                    <a:pt x="17828" y="48525"/>
                    <a:pt x="11657" y="45969"/>
                    <a:pt x="7106" y="41419"/>
                  </a:cubicBezTo>
                  <a:cubicBezTo>
                    <a:pt x="2556" y="36869"/>
                    <a:pt x="0" y="30698"/>
                    <a:pt x="0" y="24263"/>
                  </a:cubicBezTo>
                  <a:lnTo>
                    <a:pt x="0" y="24263"/>
                  </a:lnTo>
                  <a:cubicBezTo>
                    <a:pt x="0" y="17828"/>
                    <a:pt x="2556" y="11657"/>
                    <a:pt x="7106" y="7106"/>
                  </a:cubicBezTo>
                  <a:cubicBezTo>
                    <a:pt x="11657" y="2556"/>
                    <a:pt x="17828" y="0"/>
                    <a:pt x="24263" y="0"/>
                  </a:cubicBezTo>
                  <a:close/>
                </a:path>
              </a:pathLst>
            </a:custGeom>
            <a:solidFill>
              <a:srgbClr val="E98E2D">
                <a:alpha val="33725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956001" cy="8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62462" y="7981833"/>
            <a:ext cx="521605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C’est ici que le </a:t>
            </a:r>
            <a:r>
              <a:rPr lang="en-US" sz="2000" b="1">
                <a:solidFill>
                  <a:srgbClr val="E98E2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sourcing</a:t>
            </a: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peut se trouver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115063" y="5401962"/>
            <a:ext cx="125304" cy="1609536"/>
            <a:chOff x="0" y="0"/>
            <a:chExt cx="167072" cy="2146048"/>
          </a:xfrm>
        </p:grpSpPr>
        <p:sp>
          <p:nvSpPr>
            <p:cNvPr id="9" name="AutoShape 9"/>
            <p:cNvSpPr/>
            <p:nvPr/>
          </p:nvSpPr>
          <p:spPr>
            <a:xfrm>
              <a:off x="25399" y="207"/>
              <a:ext cx="17466" cy="21456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AutoShape 10"/>
            <p:cNvSpPr/>
            <p:nvPr/>
          </p:nvSpPr>
          <p:spPr>
            <a:xfrm flipV="1">
              <a:off x="25452" y="212014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25350" y="2560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15063" y="3422867"/>
            <a:ext cx="125304" cy="1609536"/>
            <a:chOff x="0" y="0"/>
            <a:chExt cx="167072" cy="2146048"/>
          </a:xfrm>
        </p:grpSpPr>
        <p:sp>
          <p:nvSpPr>
            <p:cNvPr id="13" name="AutoShape 13"/>
            <p:cNvSpPr/>
            <p:nvPr/>
          </p:nvSpPr>
          <p:spPr>
            <a:xfrm>
              <a:off x="25399" y="207"/>
              <a:ext cx="17466" cy="21456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AutoShape 14"/>
            <p:cNvSpPr/>
            <p:nvPr/>
          </p:nvSpPr>
          <p:spPr>
            <a:xfrm flipV="1">
              <a:off x="25452" y="212014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25350" y="25607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115025" y="7224845"/>
            <a:ext cx="125342" cy="2413978"/>
            <a:chOff x="0" y="0"/>
            <a:chExt cx="167122" cy="3218638"/>
          </a:xfrm>
        </p:grpSpPr>
        <p:sp>
          <p:nvSpPr>
            <p:cNvPr id="17" name="AutoShape 17"/>
            <p:cNvSpPr/>
            <p:nvPr/>
          </p:nvSpPr>
          <p:spPr>
            <a:xfrm flipH="1">
              <a:off x="25400" y="0"/>
              <a:ext cx="50" cy="321863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utoShape 18"/>
            <p:cNvSpPr/>
            <p:nvPr/>
          </p:nvSpPr>
          <p:spPr>
            <a:xfrm flipV="1">
              <a:off x="25502" y="3192943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25400" y="25400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6217570" y="8189795"/>
            <a:ext cx="417138" cy="26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21" name="Group 21"/>
          <p:cNvGrpSpPr/>
          <p:nvPr/>
        </p:nvGrpSpPr>
        <p:grpSpPr>
          <a:xfrm>
            <a:off x="11115025" y="799339"/>
            <a:ext cx="125342" cy="2413978"/>
            <a:chOff x="0" y="0"/>
            <a:chExt cx="167122" cy="3218638"/>
          </a:xfrm>
        </p:grpSpPr>
        <p:sp>
          <p:nvSpPr>
            <p:cNvPr id="22" name="AutoShape 22"/>
            <p:cNvSpPr/>
            <p:nvPr/>
          </p:nvSpPr>
          <p:spPr>
            <a:xfrm flipH="1">
              <a:off x="25400" y="0"/>
              <a:ext cx="50" cy="321863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25502" y="3192943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25400" y="25400"/>
              <a:ext cx="141567" cy="29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09084" y="5971780"/>
            <a:ext cx="28263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Substance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104900"/>
            <a:ext cx="6747508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Contexte : structure</a:t>
            </a:r>
          </a:p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d’un amendement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00728" y="3990778"/>
            <a:ext cx="32347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Autrices/Auteurs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0994" y="7892655"/>
            <a:ext cx="39244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Exposé sommaire des motifs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10858" y="1552303"/>
            <a:ext cx="2524604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Date, projet de loi, identifiants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recherche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98779"/>
            <a:ext cx="164667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Méthodologiquement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Peut-on identifier les amendements sourcés sur un large corpus, sachant que les termes évoqués varient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66542" y="5405984"/>
            <a:ext cx="12984813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pratique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est-elle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répandue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? (RQ1)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pratique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est-elle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uniforme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entre les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groupes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politiques ? (RQ2)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pratique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évolue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-t-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elle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dans le temps ? (RQ3)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 recherche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598779"/>
            <a:ext cx="164667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Méthodologiquement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Peut-on identifier les amendements sourcés sur un large corpus, sachant que les termes évoqués varient 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465679"/>
            <a:ext cx="130379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Cela nous permettrait de répondre à une série de questions 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4300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282805"/>
            <a:ext cx="16518261" cy="476250"/>
            <a:chOff x="0" y="0"/>
            <a:chExt cx="22024348" cy="635000"/>
          </a:xfrm>
        </p:grpSpPr>
        <p:grpSp>
          <p:nvGrpSpPr>
            <p:cNvPr id="4" name="Group 4"/>
            <p:cNvGrpSpPr/>
            <p:nvPr/>
          </p:nvGrpSpPr>
          <p:grpSpPr>
            <a:xfrm>
              <a:off x="8750300" y="46467"/>
              <a:ext cx="2337003" cy="588533"/>
              <a:chOff x="0" y="0"/>
              <a:chExt cx="461630" cy="11625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61630" cy="116254"/>
              </a:xfrm>
              <a:custGeom>
                <a:avLst/>
                <a:gdLst/>
                <a:ahLst/>
                <a:cxnLst/>
                <a:rect l="l" t="t" r="r" b="b"/>
                <a:pathLst>
                  <a:path w="461630" h="116254">
                    <a:moveTo>
                      <a:pt x="58127" y="0"/>
                    </a:moveTo>
                    <a:lnTo>
                      <a:pt x="403503" y="0"/>
                    </a:lnTo>
                    <a:cubicBezTo>
                      <a:pt x="418920" y="0"/>
                      <a:pt x="433704" y="6124"/>
                      <a:pt x="444605" y="17025"/>
                    </a:cubicBezTo>
                    <a:cubicBezTo>
                      <a:pt x="455506" y="27926"/>
                      <a:pt x="461630" y="42711"/>
                      <a:pt x="461630" y="58127"/>
                    </a:cubicBezTo>
                    <a:lnTo>
                      <a:pt x="461630" y="58127"/>
                    </a:lnTo>
                    <a:cubicBezTo>
                      <a:pt x="461630" y="73543"/>
                      <a:pt x="455506" y="88328"/>
                      <a:pt x="444605" y="99229"/>
                    </a:cubicBezTo>
                    <a:cubicBezTo>
                      <a:pt x="433704" y="110129"/>
                      <a:pt x="418920" y="116254"/>
                      <a:pt x="403503" y="116254"/>
                    </a:cubicBezTo>
                    <a:lnTo>
                      <a:pt x="58127" y="116254"/>
                    </a:lnTo>
                    <a:cubicBezTo>
                      <a:pt x="42711" y="116254"/>
                      <a:pt x="27926" y="110129"/>
                      <a:pt x="17025" y="99229"/>
                    </a:cubicBezTo>
                    <a:cubicBezTo>
                      <a:pt x="6124" y="88328"/>
                      <a:pt x="0" y="73543"/>
                      <a:pt x="0" y="58127"/>
                    </a:cubicBezTo>
                    <a:lnTo>
                      <a:pt x="0" y="58127"/>
                    </a:lnTo>
                    <a:cubicBezTo>
                      <a:pt x="0" y="42711"/>
                      <a:pt x="6124" y="27926"/>
                      <a:pt x="17025" y="17025"/>
                    </a:cubicBezTo>
                    <a:cubicBezTo>
                      <a:pt x="27926" y="6124"/>
                      <a:pt x="42711" y="0"/>
                      <a:pt x="58127" y="0"/>
                    </a:cubicBezTo>
                    <a:close/>
                  </a:path>
                </a:pathLst>
              </a:custGeom>
              <a:solidFill>
                <a:srgbClr val="E98E2D">
                  <a:alpha val="33725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461630" cy="163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6259454" y="33767"/>
              <a:ext cx="2316084" cy="588533"/>
              <a:chOff x="0" y="0"/>
              <a:chExt cx="457498" cy="11625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57498" cy="116254"/>
              </a:xfrm>
              <a:custGeom>
                <a:avLst/>
                <a:gdLst/>
                <a:ahLst/>
                <a:cxnLst/>
                <a:rect l="l" t="t" r="r" b="b"/>
                <a:pathLst>
                  <a:path w="457498" h="116254">
                    <a:moveTo>
                      <a:pt x="58127" y="0"/>
                    </a:moveTo>
                    <a:lnTo>
                      <a:pt x="399371" y="0"/>
                    </a:lnTo>
                    <a:cubicBezTo>
                      <a:pt x="431474" y="0"/>
                      <a:pt x="457498" y="26024"/>
                      <a:pt x="457498" y="58127"/>
                    </a:cubicBezTo>
                    <a:lnTo>
                      <a:pt x="457498" y="58127"/>
                    </a:lnTo>
                    <a:cubicBezTo>
                      <a:pt x="457498" y="73543"/>
                      <a:pt x="451374" y="88328"/>
                      <a:pt x="440473" y="99229"/>
                    </a:cubicBezTo>
                    <a:cubicBezTo>
                      <a:pt x="429572" y="110129"/>
                      <a:pt x="414788" y="116254"/>
                      <a:pt x="399371" y="116254"/>
                    </a:cubicBezTo>
                    <a:lnTo>
                      <a:pt x="58127" y="116254"/>
                    </a:lnTo>
                    <a:cubicBezTo>
                      <a:pt x="42711" y="116254"/>
                      <a:pt x="27926" y="110129"/>
                      <a:pt x="17025" y="99229"/>
                    </a:cubicBezTo>
                    <a:cubicBezTo>
                      <a:pt x="6124" y="88328"/>
                      <a:pt x="0" y="73543"/>
                      <a:pt x="0" y="58127"/>
                    </a:cubicBezTo>
                    <a:lnTo>
                      <a:pt x="0" y="58127"/>
                    </a:lnTo>
                    <a:cubicBezTo>
                      <a:pt x="0" y="42711"/>
                      <a:pt x="6124" y="27926"/>
                      <a:pt x="17025" y="17025"/>
                    </a:cubicBezTo>
                    <a:cubicBezTo>
                      <a:pt x="27926" y="6124"/>
                      <a:pt x="42711" y="0"/>
                      <a:pt x="58127" y="0"/>
                    </a:cubicBezTo>
                    <a:close/>
                  </a:path>
                </a:pathLst>
              </a:custGeom>
              <a:solidFill>
                <a:srgbClr val="E98E2D">
                  <a:alpha val="33725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457498" cy="163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-66675"/>
              <a:ext cx="22024348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 pas hésiter à passer du temps à </a:t>
              </a:r>
              <a:r>
                <a:rPr lang="en-US" sz="3000" b="1" u="sng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réfléchir</a:t>
              </a: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aux données et à les </a:t>
              </a:r>
              <a:r>
                <a:rPr lang="en-US" sz="3000" b="1" u="sng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préparer</a:t>
              </a: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282930"/>
            <a:ext cx="1648968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 de départ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123 224 amendements x 25 col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 : tous les amendements de la XVIIème législature de l’Assemblée Nationale jusqu’au 21-07-2026 (XML puis CSV).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4300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282805"/>
            <a:ext cx="16518261" cy="476250"/>
            <a:chOff x="0" y="0"/>
            <a:chExt cx="22024348" cy="635000"/>
          </a:xfrm>
        </p:grpSpPr>
        <p:grpSp>
          <p:nvGrpSpPr>
            <p:cNvPr id="5" name="Group 5"/>
            <p:cNvGrpSpPr/>
            <p:nvPr/>
          </p:nvGrpSpPr>
          <p:grpSpPr>
            <a:xfrm>
              <a:off x="8750300" y="46467"/>
              <a:ext cx="2337003" cy="588533"/>
              <a:chOff x="0" y="0"/>
              <a:chExt cx="461630" cy="11625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61630" cy="116254"/>
              </a:xfrm>
              <a:custGeom>
                <a:avLst/>
                <a:gdLst/>
                <a:ahLst/>
                <a:cxnLst/>
                <a:rect l="l" t="t" r="r" b="b"/>
                <a:pathLst>
                  <a:path w="461630" h="116254">
                    <a:moveTo>
                      <a:pt x="58127" y="0"/>
                    </a:moveTo>
                    <a:lnTo>
                      <a:pt x="403503" y="0"/>
                    </a:lnTo>
                    <a:cubicBezTo>
                      <a:pt x="418920" y="0"/>
                      <a:pt x="433704" y="6124"/>
                      <a:pt x="444605" y="17025"/>
                    </a:cubicBezTo>
                    <a:cubicBezTo>
                      <a:pt x="455506" y="27926"/>
                      <a:pt x="461630" y="42711"/>
                      <a:pt x="461630" y="58127"/>
                    </a:cubicBezTo>
                    <a:lnTo>
                      <a:pt x="461630" y="58127"/>
                    </a:lnTo>
                    <a:cubicBezTo>
                      <a:pt x="461630" y="73543"/>
                      <a:pt x="455506" y="88328"/>
                      <a:pt x="444605" y="99229"/>
                    </a:cubicBezTo>
                    <a:cubicBezTo>
                      <a:pt x="433704" y="110129"/>
                      <a:pt x="418920" y="116254"/>
                      <a:pt x="403503" y="116254"/>
                    </a:cubicBezTo>
                    <a:lnTo>
                      <a:pt x="58127" y="116254"/>
                    </a:lnTo>
                    <a:cubicBezTo>
                      <a:pt x="42711" y="116254"/>
                      <a:pt x="27926" y="110129"/>
                      <a:pt x="17025" y="99229"/>
                    </a:cubicBezTo>
                    <a:cubicBezTo>
                      <a:pt x="6124" y="88328"/>
                      <a:pt x="0" y="73543"/>
                      <a:pt x="0" y="58127"/>
                    </a:cubicBezTo>
                    <a:lnTo>
                      <a:pt x="0" y="58127"/>
                    </a:lnTo>
                    <a:cubicBezTo>
                      <a:pt x="0" y="42711"/>
                      <a:pt x="6124" y="27926"/>
                      <a:pt x="17025" y="17025"/>
                    </a:cubicBezTo>
                    <a:cubicBezTo>
                      <a:pt x="27926" y="6124"/>
                      <a:pt x="42711" y="0"/>
                      <a:pt x="58127" y="0"/>
                    </a:cubicBezTo>
                    <a:close/>
                  </a:path>
                </a:pathLst>
              </a:custGeom>
              <a:solidFill>
                <a:srgbClr val="E98E2D">
                  <a:alpha val="33725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461630" cy="163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6259454" y="33767"/>
              <a:ext cx="2316084" cy="588533"/>
              <a:chOff x="0" y="0"/>
              <a:chExt cx="457498" cy="11625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57498" cy="116254"/>
              </a:xfrm>
              <a:custGeom>
                <a:avLst/>
                <a:gdLst/>
                <a:ahLst/>
                <a:cxnLst/>
                <a:rect l="l" t="t" r="r" b="b"/>
                <a:pathLst>
                  <a:path w="457498" h="116254">
                    <a:moveTo>
                      <a:pt x="58127" y="0"/>
                    </a:moveTo>
                    <a:lnTo>
                      <a:pt x="399371" y="0"/>
                    </a:lnTo>
                    <a:cubicBezTo>
                      <a:pt x="431474" y="0"/>
                      <a:pt x="457498" y="26024"/>
                      <a:pt x="457498" y="58127"/>
                    </a:cubicBezTo>
                    <a:lnTo>
                      <a:pt x="457498" y="58127"/>
                    </a:lnTo>
                    <a:cubicBezTo>
                      <a:pt x="457498" y="73543"/>
                      <a:pt x="451374" y="88328"/>
                      <a:pt x="440473" y="99229"/>
                    </a:cubicBezTo>
                    <a:cubicBezTo>
                      <a:pt x="429572" y="110129"/>
                      <a:pt x="414788" y="116254"/>
                      <a:pt x="399371" y="116254"/>
                    </a:cubicBezTo>
                    <a:lnTo>
                      <a:pt x="58127" y="116254"/>
                    </a:lnTo>
                    <a:cubicBezTo>
                      <a:pt x="42711" y="116254"/>
                      <a:pt x="27926" y="110129"/>
                      <a:pt x="17025" y="99229"/>
                    </a:cubicBezTo>
                    <a:cubicBezTo>
                      <a:pt x="6124" y="88328"/>
                      <a:pt x="0" y="73543"/>
                      <a:pt x="0" y="58127"/>
                    </a:cubicBezTo>
                    <a:lnTo>
                      <a:pt x="0" y="58127"/>
                    </a:lnTo>
                    <a:cubicBezTo>
                      <a:pt x="0" y="42711"/>
                      <a:pt x="6124" y="27926"/>
                      <a:pt x="17025" y="17025"/>
                    </a:cubicBezTo>
                    <a:cubicBezTo>
                      <a:pt x="27926" y="6124"/>
                      <a:pt x="42711" y="0"/>
                      <a:pt x="58127" y="0"/>
                    </a:cubicBezTo>
                    <a:close/>
                  </a:path>
                </a:pathLst>
              </a:custGeom>
              <a:solidFill>
                <a:srgbClr val="E98E2D">
                  <a:alpha val="33725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457498" cy="163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-66675"/>
              <a:ext cx="22024348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 pas hésiter à passer du temps à </a:t>
              </a:r>
              <a:r>
                <a:rPr lang="en-US" sz="3000" b="1" u="sng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réfléchir</a:t>
              </a: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aux données et à les </a:t>
              </a:r>
              <a:r>
                <a:rPr lang="en-US" sz="3000" b="1" u="sng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préparer</a:t>
              </a: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4873701" y="7020439"/>
            <a:ext cx="11440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11114584" y="8512013"/>
            <a:ext cx="34763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flipV="1">
            <a:off x="11133634" y="8173621"/>
            <a:ext cx="462" cy="3383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028700" y="3282930"/>
            <a:ext cx="1648968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 de départ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123 224 amendements x 25 col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 : tous les amendements de la XVIIème législature de l’Assemblée Nationale jusqu’au 21-07-2026 (XML puis CSV).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23925"/>
            <a:ext cx="4300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6087" y="5080611"/>
            <a:ext cx="11250874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Retirer les variables inutiles,</a:t>
            </a:r>
          </a:p>
          <a:p>
            <a:pPr algn="l">
              <a:lnSpc>
                <a:spcPts val="2100"/>
              </a:lnSpc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 amendements dont l’exposé sommaire est vide, </a:t>
            </a:r>
          </a:p>
          <a:p>
            <a:pPr algn="l">
              <a:lnSpc>
                <a:spcPts val="2100"/>
              </a:lnSpc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 amendements dont l’exposé sommaire est </a:t>
            </a:r>
            <a:r>
              <a:rPr lang="en-US" sz="30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dupliqué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</a:p>
          <a:p>
            <a:pPr algn="l">
              <a:lnSpc>
                <a:spcPts val="2100"/>
              </a:lnSpc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 </a:t>
            </a:r>
            <a:r>
              <a:rPr lang="en-US" sz="30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amendements de +1024 tokens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32158" y="6706211"/>
            <a:ext cx="2452027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éviter les annotations contradictoires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81721" y="8249821"/>
            <a:ext cx="555729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fenêtre de contexte maximale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pour le modèle utilisé ici (n=1024)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94729" y="4835505"/>
            <a:ext cx="1273126" cy="849016"/>
          </a:xfrm>
          <a:custGeom>
            <a:avLst/>
            <a:gdLst/>
            <a:ahLst/>
            <a:cxnLst/>
            <a:rect l="l" t="t" r="r" b="b"/>
            <a:pathLst>
              <a:path w="1273126" h="849016">
                <a:moveTo>
                  <a:pt x="0" y="0"/>
                </a:moveTo>
                <a:lnTo>
                  <a:pt x="1273125" y="0"/>
                </a:lnTo>
                <a:lnTo>
                  <a:pt x="1273125" y="849016"/>
                </a:lnTo>
                <a:lnTo>
                  <a:pt x="0" y="849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2997249" y="4992326"/>
            <a:ext cx="1074130" cy="604198"/>
          </a:xfrm>
          <a:custGeom>
            <a:avLst/>
            <a:gdLst/>
            <a:ahLst/>
            <a:cxnLst/>
            <a:rect l="l" t="t" r="r" b="b"/>
            <a:pathLst>
              <a:path w="1074130" h="604198">
                <a:moveTo>
                  <a:pt x="0" y="0"/>
                </a:moveTo>
                <a:lnTo>
                  <a:pt x="1074130" y="0"/>
                </a:lnTo>
                <a:lnTo>
                  <a:pt x="1074130" y="604198"/>
                </a:lnTo>
                <a:lnTo>
                  <a:pt x="0" y="60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4174771" y="4992326"/>
            <a:ext cx="570362" cy="648196"/>
          </a:xfrm>
          <a:custGeom>
            <a:avLst/>
            <a:gdLst/>
            <a:ahLst/>
            <a:cxnLst/>
            <a:rect l="l" t="t" r="r" b="b"/>
            <a:pathLst>
              <a:path w="570362" h="648196">
                <a:moveTo>
                  <a:pt x="0" y="0"/>
                </a:moveTo>
                <a:lnTo>
                  <a:pt x="570362" y="0"/>
                </a:lnTo>
                <a:lnTo>
                  <a:pt x="570362" y="648197"/>
                </a:lnTo>
                <a:lnTo>
                  <a:pt x="0" y="648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75071" y="5180358"/>
            <a:ext cx="897559" cy="50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4"/>
              </a:lnSpc>
              <a:spcBef>
                <a:spcPct val="0"/>
              </a:spcBef>
            </a:pPr>
            <a:r>
              <a:rPr lang="en-US" sz="29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...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2282805"/>
            <a:ext cx="16518261" cy="476250"/>
            <a:chOff x="0" y="0"/>
            <a:chExt cx="22024348" cy="635000"/>
          </a:xfrm>
        </p:grpSpPr>
        <p:grpSp>
          <p:nvGrpSpPr>
            <p:cNvPr id="15" name="Group 15"/>
            <p:cNvGrpSpPr/>
            <p:nvPr/>
          </p:nvGrpSpPr>
          <p:grpSpPr>
            <a:xfrm>
              <a:off x="8750300" y="46467"/>
              <a:ext cx="2337003" cy="588533"/>
              <a:chOff x="0" y="0"/>
              <a:chExt cx="461630" cy="11625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61630" cy="116254"/>
              </a:xfrm>
              <a:custGeom>
                <a:avLst/>
                <a:gdLst/>
                <a:ahLst/>
                <a:cxnLst/>
                <a:rect l="l" t="t" r="r" b="b"/>
                <a:pathLst>
                  <a:path w="461630" h="116254">
                    <a:moveTo>
                      <a:pt x="58127" y="0"/>
                    </a:moveTo>
                    <a:lnTo>
                      <a:pt x="403503" y="0"/>
                    </a:lnTo>
                    <a:cubicBezTo>
                      <a:pt x="418920" y="0"/>
                      <a:pt x="433704" y="6124"/>
                      <a:pt x="444605" y="17025"/>
                    </a:cubicBezTo>
                    <a:cubicBezTo>
                      <a:pt x="455506" y="27926"/>
                      <a:pt x="461630" y="42711"/>
                      <a:pt x="461630" y="58127"/>
                    </a:cubicBezTo>
                    <a:lnTo>
                      <a:pt x="461630" y="58127"/>
                    </a:lnTo>
                    <a:cubicBezTo>
                      <a:pt x="461630" y="73543"/>
                      <a:pt x="455506" y="88328"/>
                      <a:pt x="444605" y="99229"/>
                    </a:cubicBezTo>
                    <a:cubicBezTo>
                      <a:pt x="433704" y="110129"/>
                      <a:pt x="418920" y="116254"/>
                      <a:pt x="403503" y="116254"/>
                    </a:cubicBezTo>
                    <a:lnTo>
                      <a:pt x="58127" y="116254"/>
                    </a:lnTo>
                    <a:cubicBezTo>
                      <a:pt x="42711" y="116254"/>
                      <a:pt x="27926" y="110129"/>
                      <a:pt x="17025" y="99229"/>
                    </a:cubicBezTo>
                    <a:cubicBezTo>
                      <a:pt x="6124" y="88328"/>
                      <a:pt x="0" y="73543"/>
                      <a:pt x="0" y="58127"/>
                    </a:cubicBezTo>
                    <a:lnTo>
                      <a:pt x="0" y="58127"/>
                    </a:lnTo>
                    <a:cubicBezTo>
                      <a:pt x="0" y="42711"/>
                      <a:pt x="6124" y="27926"/>
                      <a:pt x="17025" y="17025"/>
                    </a:cubicBezTo>
                    <a:cubicBezTo>
                      <a:pt x="27926" y="6124"/>
                      <a:pt x="42711" y="0"/>
                      <a:pt x="58127" y="0"/>
                    </a:cubicBezTo>
                    <a:close/>
                  </a:path>
                </a:pathLst>
              </a:custGeom>
              <a:solidFill>
                <a:srgbClr val="E98E2D">
                  <a:alpha val="33725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461630" cy="163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6259454" y="33767"/>
              <a:ext cx="2316084" cy="588533"/>
              <a:chOff x="0" y="0"/>
              <a:chExt cx="457498" cy="11625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57498" cy="116254"/>
              </a:xfrm>
              <a:custGeom>
                <a:avLst/>
                <a:gdLst/>
                <a:ahLst/>
                <a:cxnLst/>
                <a:rect l="l" t="t" r="r" b="b"/>
                <a:pathLst>
                  <a:path w="457498" h="116254">
                    <a:moveTo>
                      <a:pt x="58127" y="0"/>
                    </a:moveTo>
                    <a:lnTo>
                      <a:pt x="399371" y="0"/>
                    </a:lnTo>
                    <a:cubicBezTo>
                      <a:pt x="431474" y="0"/>
                      <a:pt x="457498" y="26024"/>
                      <a:pt x="457498" y="58127"/>
                    </a:cubicBezTo>
                    <a:lnTo>
                      <a:pt x="457498" y="58127"/>
                    </a:lnTo>
                    <a:cubicBezTo>
                      <a:pt x="457498" y="73543"/>
                      <a:pt x="451374" y="88328"/>
                      <a:pt x="440473" y="99229"/>
                    </a:cubicBezTo>
                    <a:cubicBezTo>
                      <a:pt x="429572" y="110129"/>
                      <a:pt x="414788" y="116254"/>
                      <a:pt x="399371" y="116254"/>
                    </a:cubicBezTo>
                    <a:lnTo>
                      <a:pt x="58127" y="116254"/>
                    </a:lnTo>
                    <a:cubicBezTo>
                      <a:pt x="42711" y="116254"/>
                      <a:pt x="27926" y="110129"/>
                      <a:pt x="17025" y="99229"/>
                    </a:cubicBezTo>
                    <a:cubicBezTo>
                      <a:pt x="6124" y="88328"/>
                      <a:pt x="0" y="73543"/>
                      <a:pt x="0" y="58127"/>
                    </a:cubicBezTo>
                    <a:lnTo>
                      <a:pt x="0" y="58127"/>
                    </a:lnTo>
                    <a:cubicBezTo>
                      <a:pt x="0" y="42711"/>
                      <a:pt x="6124" y="27926"/>
                      <a:pt x="17025" y="17025"/>
                    </a:cubicBezTo>
                    <a:cubicBezTo>
                      <a:pt x="27926" y="6124"/>
                      <a:pt x="42711" y="0"/>
                      <a:pt x="58127" y="0"/>
                    </a:cubicBezTo>
                    <a:close/>
                  </a:path>
                </a:pathLst>
              </a:custGeom>
              <a:solidFill>
                <a:srgbClr val="E98E2D">
                  <a:alpha val="33725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457498" cy="1638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-66675"/>
              <a:ext cx="22024348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 pas hésiter à passer du temps à </a:t>
              </a:r>
              <a:r>
                <a:rPr lang="en-US" sz="3000" b="1" u="sng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réfléchir</a:t>
              </a: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aux données et à les </a:t>
              </a:r>
              <a:r>
                <a:rPr lang="en-US" sz="3000" b="1" u="sng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préparer</a:t>
              </a: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5007070"/>
            <a:ext cx="94062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avec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19917"/>
            <a:ext cx="1692220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les phrases ou les amendements ? Cinq questions pour nous aider (cf. FAQ)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1585263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quelle échelle choisir pour ses données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09665" y="3278402"/>
            <a:ext cx="12786796" cy="445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</a:t>
            </a:r>
            <a:r>
              <a:rPr lang="en-US" sz="27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Objet de la recherche ?</a:t>
            </a:r>
            <a:r>
              <a:rPr lang="en-US" sz="2799">
                <a:solidFill>
                  <a:srgbClr val="E98E2D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E98E2D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</a:t>
            </a:r>
            <a:r>
              <a:rPr lang="en-US" sz="27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Homogénéité thématique ?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</a:t>
            </a:r>
            <a:r>
              <a:rPr lang="en-US" sz="27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Distribution des labels ? 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E98E2D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</a:t>
            </a:r>
            <a:r>
              <a:rPr lang="en-US" sz="27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Modèle adapté aux données avec fenêtre de contexte appropriée ?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</a:t>
            </a:r>
            <a:r>
              <a:rPr lang="en-US" sz="2799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Puissance de calcul suffisante ?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513588"/>
            <a:ext cx="162306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 point 3 nous amène à choisir le niveau des </a:t>
            </a:r>
            <a:r>
              <a:rPr lang="en-US" sz="2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amendements</a:t>
            </a:r>
            <a:r>
              <a:rPr lang="en-US" sz="2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79493" y="4507465"/>
            <a:ext cx="6301966" cy="3917722"/>
          </a:xfrm>
          <a:custGeom>
            <a:avLst/>
            <a:gdLst/>
            <a:ahLst/>
            <a:cxnLst/>
            <a:rect l="l" t="t" r="r" b="b"/>
            <a:pathLst>
              <a:path w="6301966" h="3917722">
                <a:moveTo>
                  <a:pt x="0" y="0"/>
                </a:moveTo>
                <a:lnTo>
                  <a:pt x="6301966" y="0"/>
                </a:lnTo>
                <a:lnTo>
                  <a:pt x="6301966" y="3917723"/>
                </a:lnTo>
                <a:lnTo>
                  <a:pt x="0" y="3917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2214441"/>
            <a:ext cx="1651826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 préparées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65 388 amendements x 2 col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 : amendements de la XVIIème législature de l’Assemblée Nationale dont l’exposé sommaire est unique, non vide et d’une longueur inférieure à 1024 tokens.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4300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Données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8342" y="8544098"/>
            <a:ext cx="317803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identifiant unique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30476" y="8544098"/>
            <a:ext cx="317803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texte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3853235"/>
            <a:ext cx="10295361" cy="5405065"/>
          </a:xfrm>
          <a:custGeom>
            <a:avLst/>
            <a:gdLst/>
            <a:ahLst/>
            <a:cxnLst/>
            <a:rect l="l" t="t" r="r" b="b"/>
            <a:pathLst>
              <a:path w="10295361" h="5405065">
                <a:moveTo>
                  <a:pt x="0" y="0"/>
                </a:moveTo>
                <a:lnTo>
                  <a:pt x="10295361" y="0"/>
                </a:lnTo>
                <a:lnTo>
                  <a:pt x="10295361" y="5405065"/>
                </a:lnTo>
                <a:lnTo>
                  <a:pt x="0" y="5405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8151522" y="2274206"/>
            <a:ext cx="9320328" cy="4893172"/>
          </a:xfrm>
          <a:custGeom>
            <a:avLst/>
            <a:gdLst/>
            <a:ahLst/>
            <a:cxnLst/>
            <a:rect l="l" t="t" r="r" b="b"/>
            <a:pathLst>
              <a:path w="9320328" h="4893172">
                <a:moveTo>
                  <a:pt x="0" y="0"/>
                </a:moveTo>
                <a:lnTo>
                  <a:pt x="9320328" y="0"/>
                </a:lnTo>
                <a:lnTo>
                  <a:pt x="9320328" y="4893173"/>
                </a:lnTo>
                <a:lnTo>
                  <a:pt x="0" y="4893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7133455" y="5967738"/>
            <a:ext cx="513207" cy="637524"/>
          </a:xfrm>
          <a:custGeom>
            <a:avLst/>
            <a:gdLst/>
            <a:ahLst/>
            <a:cxnLst/>
            <a:rect l="l" t="t" r="r" b="b"/>
            <a:pathLst>
              <a:path w="513207" h="637524">
                <a:moveTo>
                  <a:pt x="0" y="0"/>
                </a:moveTo>
                <a:lnTo>
                  <a:pt x="513207" y="0"/>
                </a:lnTo>
                <a:lnTo>
                  <a:pt x="513207" y="637524"/>
                </a:lnTo>
                <a:lnTo>
                  <a:pt x="0" y="6375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29998" y="923925"/>
            <a:ext cx="1373146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0 : se connecter à ActiveTigger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1815" y="2217056"/>
            <a:ext cx="16518261" cy="50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Adresse : app.activetigger.com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1815" y="2793979"/>
            <a:ext cx="6484847" cy="50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Identifiants : voir lien</a:t>
            </a:r>
          </a:p>
        </p:txBody>
      </p:sp>
      <p:sp>
        <p:nvSpPr>
          <p:cNvPr id="9" name="Freeform 9"/>
          <p:cNvSpPr/>
          <p:nvPr/>
        </p:nvSpPr>
        <p:spPr>
          <a:xfrm>
            <a:off x="13453639" y="3868117"/>
            <a:ext cx="513207" cy="637524"/>
          </a:xfrm>
          <a:custGeom>
            <a:avLst/>
            <a:gdLst/>
            <a:ahLst/>
            <a:cxnLst/>
            <a:rect l="l" t="t" r="r" b="b"/>
            <a:pathLst>
              <a:path w="513207" h="637524">
                <a:moveTo>
                  <a:pt x="0" y="0"/>
                </a:moveTo>
                <a:lnTo>
                  <a:pt x="513207" y="0"/>
                </a:lnTo>
                <a:lnTo>
                  <a:pt x="513207" y="637525"/>
                </a:lnTo>
                <a:lnTo>
                  <a:pt x="0" y="637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3815423" y="2477128"/>
            <a:ext cx="4631018" cy="445663"/>
          </a:xfrm>
          <a:custGeom>
            <a:avLst/>
            <a:gdLst/>
            <a:ahLst/>
            <a:cxnLst/>
            <a:rect l="l" t="t" r="r" b="b"/>
            <a:pathLst>
              <a:path w="4631018" h="445663">
                <a:moveTo>
                  <a:pt x="0" y="0"/>
                </a:moveTo>
                <a:lnTo>
                  <a:pt x="4631018" y="0"/>
                </a:lnTo>
                <a:lnTo>
                  <a:pt x="4631018" y="445662"/>
                </a:lnTo>
                <a:lnTo>
                  <a:pt x="0" y="445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3416" t="-179549" r="-83973" b="-60784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6547530" y="3466838"/>
            <a:ext cx="10437006" cy="5479428"/>
          </a:xfrm>
          <a:custGeom>
            <a:avLst/>
            <a:gdLst/>
            <a:ahLst/>
            <a:cxnLst/>
            <a:rect l="l" t="t" r="r" b="b"/>
            <a:pathLst>
              <a:path w="10437006" h="5479428">
                <a:moveTo>
                  <a:pt x="0" y="0"/>
                </a:moveTo>
                <a:lnTo>
                  <a:pt x="10437006" y="0"/>
                </a:lnTo>
                <a:lnTo>
                  <a:pt x="10437006" y="5479429"/>
                </a:lnTo>
                <a:lnTo>
                  <a:pt x="0" y="5479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75990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créer un projet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245" y="2398915"/>
            <a:ext cx="256117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Cliquer sur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4245" y="3400163"/>
            <a:ext cx="5118895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Choisir le nom du projet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sélectionner le dataset depuis votre disque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261786" y="3904144"/>
            <a:ext cx="9764428" cy="3332111"/>
          </a:xfrm>
          <a:custGeom>
            <a:avLst/>
            <a:gdLst/>
            <a:ahLst/>
            <a:cxnLst/>
            <a:rect l="l" t="t" r="r" b="b"/>
            <a:pathLst>
              <a:path w="9764428" h="3332111">
                <a:moveTo>
                  <a:pt x="0" y="0"/>
                </a:moveTo>
                <a:lnTo>
                  <a:pt x="9764428" y="0"/>
                </a:lnTo>
                <a:lnTo>
                  <a:pt x="9764428" y="3332111"/>
                </a:lnTo>
                <a:lnTo>
                  <a:pt x="0" y="3332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75990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créer un projet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2439" y="2551594"/>
            <a:ext cx="1110915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Remplir les informations demandées sur notre dataset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75990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créer un projet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2439" y="2531581"/>
            <a:ext cx="126798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Sélectionner la taille des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validation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 sets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028700" y="5693110"/>
            <a:ext cx="2294202" cy="594810"/>
            <a:chOff x="0" y="0"/>
            <a:chExt cx="604234" cy="1566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4234" cy="156658"/>
            </a:xfrm>
            <a:custGeom>
              <a:avLst/>
              <a:gdLst/>
              <a:ahLst/>
              <a:cxnLst/>
              <a:rect l="l" t="t" r="r" b="b"/>
              <a:pathLst>
                <a:path w="604234" h="156658">
                  <a:moveTo>
                    <a:pt x="0" y="0"/>
                  </a:moveTo>
                  <a:lnTo>
                    <a:pt x="604234" y="0"/>
                  </a:lnTo>
                  <a:lnTo>
                    <a:pt x="604234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04234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0052" y="5693110"/>
            <a:ext cx="345229" cy="594810"/>
            <a:chOff x="0" y="0"/>
            <a:chExt cx="90925" cy="1566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0925" cy="156658"/>
            </a:xfrm>
            <a:custGeom>
              <a:avLst/>
              <a:gdLst/>
              <a:ahLst/>
              <a:cxnLst/>
              <a:rect l="l" t="t" r="r" b="b"/>
              <a:pathLst>
                <a:path w="90925" h="156658">
                  <a:moveTo>
                    <a:pt x="0" y="0"/>
                  </a:moveTo>
                  <a:lnTo>
                    <a:pt x="90925" y="0"/>
                  </a:lnTo>
                  <a:lnTo>
                    <a:pt x="90925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0925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782431" y="5693110"/>
            <a:ext cx="345229" cy="594810"/>
            <a:chOff x="0" y="0"/>
            <a:chExt cx="90925" cy="1566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925" cy="156658"/>
            </a:xfrm>
            <a:custGeom>
              <a:avLst/>
              <a:gdLst/>
              <a:ahLst/>
              <a:cxnLst/>
              <a:rect l="l" t="t" r="r" b="b"/>
              <a:pathLst>
                <a:path w="90925" h="156658">
                  <a:moveTo>
                    <a:pt x="0" y="0"/>
                  </a:moveTo>
                  <a:lnTo>
                    <a:pt x="90925" y="0"/>
                  </a:lnTo>
                  <a:lnTo>
                    <a:pt x="90925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7FA26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0925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693110"/>
            <a:ext cx="16230600" cy="594810"/>
            <a:chOff x="0" y="0"/>
            <a:chExt cx="4274726" cy="1566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74726" cy="156658"/>
            </a:xfrm>
            <a:custGeom>
              <a:avLst/>
              <a:gdLst/>
              <a:ahLst/>
              <a:cxnLst/>
              <a:rect l="l" t="t" r="r" b="b"/>
              <a:pathLst>
                <a:path w="4274726" h="156658">
                  <a:moveTo>
                    <a:pt x="0" y="0"/>
                  </a:moveTo>
                  <a:lnTo>
                    <a:pt x="4274726" y="0"/>
                  </a:lnTo>
                  <a:lnTo>
                    <a:pt x="4274726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6982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274726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train, validation et test sets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91835" y="3352954"/>
            <a:ext cx="5104330" cy="37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Jeu de données importé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28700" y="4070531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train, validation et test sets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13047" y="2645019"/>
            <a:ext cx="2925753" cy="779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pour </a:t>
            </a:r>
            <a:r>
              <a:rPr lang="en-US" sz="23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entraîner</a:t>
            </a: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le </a:t>
            </a:r>
            <a:r>
              <a:rPr lang="en-US" sz="23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modèle</a:t>
            </a:r>
            <a:r>
              <a:rPr lang="en-US" sz="23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5" name="Freeform 5"/>
          <p:cNvSpPr/>
          <p:nvPr/>
        </p:nvSpPr>
        <p:spPr>
          <a:xfrm>
            <a:off x="1822696" y="2730826"/>
            <a:ext cx="687195" cy="681826"/>
          </a:xfrm>
          <a:custGeom>
            <a:avLst/>
            <a:gdLst/>
            <a:ahLst/>
            <a:cxnLst/>
            <a:rect l="l" t="t" r="r" b="b"/>
            <a:pathLst>
              <a:path w="687195" h="681826">
                <a:moveTo>
                  <a:pt x="0" y="0"/>
                </a:moveTo>
                <a:lnTo>
                  <a:pt x="687195" y="0"/>
                </a:lnTo>
                <a:lnTo>
                  <a:pt x="687195" y="681826"/>
                </a:lnTo>
                <a:lnTo>
                  <a:pt x="0" y="681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1629943" y="2693487"/>
            <a:ext cx="1079699" cy="2202441"/>
            <a:chOff x="-151" y="-19182"/>
            <a:chExt cx="23254" cy="474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151" y="-19182"/>
              <a:ext cx="23103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41961" y="7526170"/>
            <a:ext cx="5104330" cy="117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pour comparer les performances de plusieurs modèles ou sets de paramètres.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018649" y="8375616"/>
            <a:ext cx="1068036" cy="431588"/>
            <a:chOff x="0" y="0"/>
            <a:chExt cx="23103" cy="93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3103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 Set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37846" y="3854781"/>
            <a:ext cx="4708444" cy="117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pour évaluer la pertinence du modèle sélectionné en dernière étape.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3492999" y="4700601"/>
            <a:ext cx="967821" cy="433468"/>
            <a:chOff x="0" y="0"/>
            <a:chExt cx="19772" cy="88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772" cy="8855"/>
            </a:xfrm>
            <a:custGeom>
              <a:avLst/>
              <a:gdLst/>
              <a:ahLst/>
              <a:cxnLst/>
              <a:rect l="l" t="t" r="r" b="b"/>
              <a:pathLst>
                <a:path w="19772" h="8855">
                  <a:moveTo>
                    <a:pt x="0" y="0"/>
                  </a:moveTo>
                  <a:lnTo>
                    <a:pt x="19772" y="0"/>
                  </a:lnTo>
                  <a:lnTo>
                    <a:pt x="19772" y="8855"/>
                  </a:lnTo>
                  <a:lnTo>
                    <a:pt x="0" y="8855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772" cy="46955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3627092" y="3897755"/>
            <a:ext cx="699635" cy="681826"/>
          </a:xfrm>
          <a:custGeom>
            <a:avLst/>
            <a:gdLst/>
            <a:ahLst/>
            <a:cxnLst/>
            <a:rect l="l" t="t" r="r" b="b"/>
            <a:pathLst>
              <a:path w="699635" h="681826">
                <a:moveTo>
                  <a:pt x="0" y="0"/>
                </a:moveTo>
                <a:lnTo>
                  <a:pt x="699635" y="0"/>
                </a:lnTo>
                <a:lnTo>
                  <a:pt x="699635" y="681826"/>
                </a:lnTo>
                <a:lnTo>
                  <a:pt x="0" y="68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8" name="Group 18"/>
          <p:cNvGrpSpPr/>
          <p:nvPr/>
        </p:nvGrpSpPr>
        <p:grpSpPr>
          <a:xfrm>
            <a:off x="1028700" y="5693110"/>
            <a:ext cx="2294202" cy="594810"/>
            <a:chOff x="0" y="0"/>
            <a:chExt cx="604234" cy="15665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4234" cy="156658"/>
            </a:xfrm>
            <a:custGeom>
              <a:avLst/>
              <a:gdLst/>
              <a:ahLst/>
              <a:cxnLst/>
              <a:rect l="l" t="t" r="r" b="b"/>
              <a:pathLst>
                <a:path w="604234" h="156658">
                  <a:moveTo>
                    <a:pt x="0" y="0"/>
                  </a:moveTo>
                  <a:lnTo>
                    <a:pt x="604234" y="0"/>
                  </a:lnTo>
                  <a:lnTo>
                    <a:pt x="604234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04234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80052" y="5693110"/>
            <a:ext cx="345229" cy="594810"/>
            <a:chOff x="0" y="0"/>
            <a:chExt cx="90925" cy="15665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0925" cy="156658"/>
            </a:xfrm>
            <a:custGeom>
              <a:avLst/>
              <a:gdLst/>
              <a:ahLst/>
              <a:cxnLst/>
              <a:rect l="l" t="t" r="r" b="b"/>
              <a:pathLst>
                <a:path w="90925" h="156658">
                  <a:moveTo>
                    <a:pt x="0" y="0"/>
                  </a:moveTo>
                  <a:lnTo>
                    <a:pt x="90925" y="0"/>
                  </a:lnTo>
                  <a:lnTo>
                    <a:pt x="90925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0925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782431" y="5693110"/>
            <a:ext cx="345229" cy="594810"/>
            <a:chOff x="0" y="0"/>
            <a:chExt cx="90925" cy="15665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0925" cy="156658"/>
            </a:xfrm>
            <a:custGeom>
              <a:avLst/>
              <a:gdLst/>
              <a:ahLst/>
              <a:cxnLst/>
              <a:rect l="l" t="t" r="r" b="b"/>
              <a:pathLst>
                <a:path w="90925" h="156658">
                  <a:moveTo>
                    <a:pt x="0" y="0"/>
                  </a:moveTo>
                  <a:lnTo>
                    <a:pt x="90925" y="0"/>
                  </a:lnTo>
                  <a:lnTo>
                    <a:pt x="90925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7FA26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0925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84811" y="5693110"/>
            <a:ext cx="13074489" cy="594810"/>
            <a:chOff x="0" y="0"/>
            <a:chExt cx="3443487" cy="1566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43487" cy="156658"/>
            </a:xfrm>
            <a:custGeom>
              <a:avLst/>
              <a:gdLst/>
              <a:ahLst/>
              <a:cxnLst/>
              <a:rect l="l" t="t" r="r" b="b"/>
              <a:pathLst>
                <a:path w="3443487" h="156658">
                  <a:moveTo>
                    <a:pt x="0" y="0"/>
                  </a:moveTo>
                  <a:lnTo>
                    <a:pt x="3443487" y="0"/>
                  </a:lnTo>
                  <a:lnTo>
                    <a:pt x="3443487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6982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443487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 flipV="1">
            <a:off x="2196296" y="4221943"/>
            <a:ext cx="12954" cy="17220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1" name="AutoShape 31"/>
          <p:cNvSpPr/>
          <p:nvPr/>
        </p:nvSpPr>
        <p:spPr>
          <a:xfrm flipH="1" flipV="1">
            <a:off x="3531292" y="6078749"/>
            <a:ext cx="2325" cy="13578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2" name="AutoShape 32"/>
          <p:cNvSpPr/>
          <p:nvPr/>
        </p:nvSpPr>
        <p:spPr>
          <a:xfrm flipV="1">
            <a:off x="3957371" y="5255103"/>
            <a:ext cx="489" cy="68884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3" name="Freeform 33"/>
          <p:cNvSpPr/>
          <p:nvPr/>
        </p:nvSpPr>
        <p:spPr>
          <a:xfrm>
            <a:off x="3181474" y="7560440"/>
            <a:ext cx="699635" cy="681826"/>
          </a:xfrm>
          <a:custGeom>
            <a:avLst/>
            <a:gdLst/>
            <a:ahLst/>
            <a:cxnLst/>
            <a:rect l="l" t="t" r="r" b="b"/>
            <a:pathLst>
              <a:path w="699635" h="681826">
                <a:moveTo>
                  <a:pt x="0" y="0"/>
                </a:moveTo>
                <a:lnTo>
                  <a:pt x="699635" y="0"/>
                </a:lnTo>
                <a:lnTo>
                  <a:pt x="699635" y="681826"/>
                </a:lnTo>
                <a:lnTo>
                  <a:pt x="0" y="68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4" name="Group 34"/>
          <p:cNvGrpSpPr/>
          <p:nvPr/>
        </p:nvGrpSpPr>
        <p:grpSpPr>
          <a:xfrm>
            <a:off x="11814557" y="8375616"/>
            <a:ext cx="2001133" cy="431588"/>
            <a:chOff x="0" y="0"/>
            <a:chExt cx="43287" cy="93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287" cy="9336"/>
            </a:xfrm>
            <a:custGeom>
              <a:avLst/>
              <a:gdLst/>
              <a:ahLst/>
              <a:cxnLst/>
              <a:rect l="l" t="t" r="r" b="b"/>
              <a:pathLst>
                <a:path w="43287" h="9336">
                  <a:moveTo>
                    <a:pt x="0" y="0"/>
                  </a:moveTo>
                  <a:lnTo>
                    <a:pt x="43287" y="0"/>
                  </a:lnTo>
                  <a:lnTo>
                    <a:pt x="43287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6982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3287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Données restantes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 flipH="1" flipV="1">
            <a:off x="12812799" y="6082853"/>
            <a:ext cx="2325" cy="13578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8" name="Freeform 38"/>
          <p:cNvSpPr/>
          <p:nvPr/>
        </p:nvSpPr>
        <p:spPr>
          <a:xfrm>
            <a:off x="12422438" y="7564512"/>
            <a:ext cx="785372" cy="677997"/>
          </a:xfrm>
          <a:custGeom>
            <a:avLst/>
            <a:gdLst/>
            <a:ahLst/>
            <a:cxnLst/>
            <a:rect l="l" t="t" r="r" b="b"/>
            <a:pathLst>
              <a:path w="785372" h="677997">
                <a:moveTo>
                  <a:pt x="0" y="0"/>
                </a:moveTo>
                <a:lnTo>
                  <a:pt x="785371" y="0"/>
                </a:lnTo>
                <a:lnTo>
                  <a:pt x="785371" y="677997"/>
                </a:lnTo>
                <a:lnTo>
                  <a:pt x="0" y="677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47B0B501-A22D-991F-8E89-A0C87FC93408}"/>
              </a:ext>
            </a:extLst>
          </p:cNvPr>
          <p:cNvSpPr txBox="1"/>
          <p:nvPr/>
        </p:nvSpPr>
        <p:spPr>
          <a:xfrm>
            <a:off x="3443625" y="3828104"/>
            <a:ext cx="1072688" cy="2202441"/>
          </a:xfrm>
          <a:prstGeom prst="rect">
            <a:avLst/>
          </a:prstGeom>
        </p:spPr>
        <p:txBody>
          <a:bodyPr lIns="89619" tIns="89619" rIns="89619" bIns="89619" rtlCol="0" anchor="ctr"/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Test Set</a:t>
            </a: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FEB75074-BC72-CEB2-38E0-1081F7D52E2A}"/>
              </a:ext>
            </a:extLst>
          </p:cNvPr>
          <p:cNvSpPr txBox="1"/>
          <p:nvPr/>
        </p:nvSpPr>
        <p:spPr>
          <a:xfrm>
            <a:off x="3018649" y="7490189"/>
            <a:ext cx="1072688" cy="2202441"/>
          </a:xfrm>
          <a:prstGeom prst="rect">
            <a:avLst/>
          </a:prstGeom>
        </p:spPr>
        <p:txBody>
          <a:bodyPr lIns="89619" tIns="89619" rIns="89619" bIns="89619" rtlCol="0" anchor="ctr"/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Valid Set</a:t>
            </a: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B11144D1-27AA-92D5-D4A2-F6939E3D86D4}"/>
              </a:ext>
            </a:extLst>
          </p:cNvPr>
          <p:cNvSpPr txBox="1"/>
          <p:nvPr/>
        </p:nvSpPr>
        <p:spPr>
          <a:xfrm>
            <a:off x="11819209" y="7490189"/>
            <a:ext cx="1998807" cy="2202441"/>
          </a:xfrm>
          <a:prstGeom prst="rect">
            <a:avLst/>
          </a:prstGeom>
        </p:spPr>
        <p:txBody>
          <a:bodyPr lIns="89619" tIns="89619" rIns="89619" bIns="89619" rtlCol="0" anchor="ctr"/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Données </a:t>
            </a:r>
            <a:r>
              <a:rPr lang="en-US" sz="1500" b="1" dirty="0" err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restantes</a:t>
            </a:r>
            <a:endParaRPr lang="en-US" sz="1500" b="1" dirty="0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342211" y="3827278"/>
            <a:ext cx="9603577" cy="2983111"/>
          </a:xfrm>
          <a:custGeom>
            <a:avLst/>
            <a:gdLst/>
            <a:ahLst/>
            <a:cxnLst/>
            <a:rect l="l" t="t" r="r" b="b"/>
            <a:pathLst>
              <a:path w="9603577" h="2983111">
                <a:moveTo>
                  <a:pt x="0" y="0"/>
                </a:moveTo>
                <a:lnTo>
                  <a:pt x="9603578" y="0"/>
                </a:lnTo>
                <a:lnTo>
                  <a:pt x="9603578" y="2983111"/>
                </a:lnTo>
                <a:lnTo>
                  <a:pt x="0" y="2983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75990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créer un projet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2439" y="2531581"/>
            <a:ext cx="126798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Sélectionner la taille des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validation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 sets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00551" y="7534586"/>
            <a:ext cx="9700974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: défaut 10 000 (tout ne sera pas annoté)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Valid, Test : commençons par 300.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20060" y="8438298"/>
            <a:ext cx="1035295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i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Le label “source” a une prévalence de 8-9%, on aura ≈26 items par set.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8029403" y="2341428"/>
            <a:ext cx="8751026" cy="3722030"/>
          </a:xfrm>
          <a:custGeom>
            <a:avLst/>
            <a:gdLst/>
            <a:ahLst/>
            <a:cxnLst/>
            <a:rect l="l" t="t" r="r" b="b"/>
            <a:pathLst>
              <a:path w="8751026" h="3722030">
                <a:moveTo>
                  <a:pt x="0" y="0"/>
                </a:moveTo>
                <a:lnTo>
                  <a:pt x="8751026" y="0"/>
                </a:lnTo>
                <a:lnTo>
                  <a:pt x="8751026" y="3722030"/>
                </a:lnTo>
                <a:lnTo>
                  <a:pt x="0" y="3722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09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759903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créer un projet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4245" y="2274753"/>
            <a:ext cx="621680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(5-Optionnel.) Possibilité de sélectionner des options avancées, cf. documentation.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245" y="6895268"/>
            <a:ext cx="632634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6. Cliquer sur </a:t>
            </a:r>
          </a:p>
        </p:txBody>
      </p:sp>
      <p:sp>
        <p:nvSpPr>
          <p:cNvPr id="7" name="Freeform 7"/>
          <p:cNvSpPr/>
          <p:nvPr/>
        </p:nvSpPr>
        <p:spPr>
          <a:xfrm>
            <a:off x="3990449" y="7001940"/>
            <a:ext cx="8751026" cy="417203"/>
          </a:xfrm>
          <a:custGeom>
            <a:avLst/>
            <a:gdLst/>
            <a:ahLst/>
            <a:cxnLst/>
            <a:rect l="l" t="t" r="r" b="b"/>
            <a:pathLst>
              <a:path w="8751026" h="417203">
                <a:moveTo>
                  <a:pt x="0" y="0"/>
                </a:moveTo>
                <a:lnTo>
                  <a:pt x="8751026" y="0"/>
                </a:lnTo>
                <a:lnTo>
                  <a:pt x="8751026" y="417203"/>
                </a:lnTo>
                <a:lnTo>
                  <a:pt x="0" y="4172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9108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254245" y="8298243"/>
            <a:ext cx="632634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Votre projet est créé 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6009" y="4141342"/>
            <a:ext cx="7238420" cy="5116957"/>
            <a:chOff x="0" y="0"/>
            <a:chExt cx="9651226" cy="6822609"/>
          </a:xfrm>
        </p:grpSpPr>
        <p:sp>
          <p:nvSpPr>
            <p:cNvPr id="3" name="AutoShape 3"/>
            <p:cNvSpPr/>
            <p:nvPr/>
          </p:nvSpPr>
          <p:spPr>
            <a:xfrm flipV="1">
              <a:off x="7026344" y="24307"/>
              <a:ext cx="21465" cy="6797960"/>
            </a:xfrm>
            <a:prstGeom prst="line">
              <a:avLst/>
            </a:prstGeom>
            <a:ln w="215900" cap="flat">
              <a:solidFill>
                <a:srgbClr val="2A306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4663157" y="0"/>
              <a:ext cx="4988069" cy="1022464"/>
              <a:chOff x="0" y="0"/>
              <a:chExt cx="1029588" cy="21104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29588" cy="211047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11047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148964"/>
                    </a:lnTo>
                    <a:cubicBezTo>
                      <a:pt x="1029588" y="165429"/>
                      <a:pt x="1023047" y="181220"/>
                      <a:pt x="1011404" y="192863"/>
                    </a:cubicBezTo>
                    <a:cubicBezTo>
                      <a:pt x="999761" y="204506"/>
                      <a:pt x="983970" y="211047"/>
                      <a:pt x="967505" y="211047"/>
                    </a:cubicBezTo>
                    <a:lnTo>
                      <a:pt x="62083" y="211047"/>
                    </a:lnTo>
                    <a:cubicBezTo>
                      <a:pt x="27796" y="211047"/>
                      <a:pt x="0" y="183251"/>
                      <a:pt x="0" y="148964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1029588" cy="239622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Annoter les données aléatoirement</a:t>
                </a:r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724952" y="2343480"/>
              <a:ext cx="3633337" cy="3633337"/>
            </a:xfrm>
            <a:custGeom>
              <a:avLst/>
              <a:gdLst/>
              <a:ahLst/>
              <a:cxnLst/>
              <a:rect l="l" t="t" r="r" b="b"/>
              <a:pathLst>
                <a:path w="3633337" h="3633337">
                  <a:moveTo>
                    <a:pt x="0" y="0"/>
                  </a:moveTo>
                  <a:lnTo>
                    <a:pt x="3633337" y="0"/>
                  </a:lnTo>
                  <a:lnTo>
                    <a:pt x="3633337" y="3633338"/>
                  </a:lnTo>
                  <a:lnTo>
                    <a:pt x="0" y="3633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4663157" y="5374425"/>
              <a:ext cx="4988069" cy="1447843"/>
              <a:chOff x="0" y="0"/>
              <a:chExt cx="1029588" cy="29884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236766"/>
                    </a:lnTo>
                    <a:cubicBezTo>
                      <a:pt x="1029588" y="253232"/>
                      <a:pt x="1023047" y="269023"/>
                      <a:pt x="1011404" y="280666"/>
                    </a:cubicBezTo>
                    <a:cubicBezTo>
                      <a:pt x="999761" y="292309"/>
                      <a:pt x="983970" y="298849"/>
                      <a:pt x="967505" y="298849"/>
                    </a:cubicBezTo>
                    <a:lnTo>
                      <a:pt x="62083" y="298849"/>
                    </a:lnTo>
                    <a:cubicBezTo>
                      <a:pt x="27796" y="298849"/>
                      <a:pt x="0" y="271054"/>
                      <a:pt x="0" y="236766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Active learning : entraîner un modèle pour annoter les cas </a:t>
                </a:r>
              </a:p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les plus ambigus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663157" y="1957397"/>
              <a:ext cx="4988069" cy="1447843"/>
              <a:chOff x="0" y="0"/>
              <a:chExt cx="1029588" cy="29884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236766"/>
                    </a:lnTo>
                    <a:cubicBezTo>
                      <a:pt x="1029588" y="253232"/>
                      <a:pt x="1023047" y="269023"/>
                      <a:pt x="1011404" y="280666"/>
                    </a:cubicBezTo>
                    <a:cubicBezTo>
                      <a:pt x="999761" y="292309"/>
                      <a:pt x="983970" y="298849"/>
                      <a:pt x="967505" y="298849"/>
                    </a:cubicBezTo>
                    <a:lnTo>
                      <a:pt x="62083" y="298849"/>
                    </a:lnTo>
                    <a:cubicBezTo>
                      <a:pt x="27796" y="298849"/>
                      <a:pt x="0" y="271054"/>
                      <a:pt x="0" y="236766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Search : annoter des données choisies par des RegEx, des mots-clés ou du génératif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3753308"/>
              <a:ext cx="4014875" cy="1129790"/>
              <a:chOff x="0" y="0"/>
              <a:chExt cx="828711" cy="2332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28711" cy="233200"/>
              </a:xfrm>
              <a:custGeom>
                <a:avLst/>
                <a:gdLst/>
                <a:ahLst/>
                <a:cxnLst/>
                <a:rect l="l" t="t" r="r" b="b"/>
                <a:pathLst>
                  <a:path w="828711" h="233200">
                    <a:moveTo>
                      <a:pt x="77132" y="0"/>
                    </a:moveTo>
                    <a:lnTo>
                      <a:pt x="751578" y="0"/>
                    </a:lnTo>
                    <a:cubicBezTo>
                      <a:pt x="772035" y="0"/>
                      <a:pt x="791654" y="8126"/>
                      <a:pt x="806119" y="22592"/>
                    </a:cubicBezTo>
                    <a:cubicBezTo>
                      <a:pt x="820584" y="37057"/>
                      <a:pt x="828711" y="56676"/>
                      <a:pt x="828711" y="77132"/>
                    </a:cubicBezTo>
                    <a:lnTo>
                      <a:pt x="828711" y="156068"/>
                    </a:lnTo>
                    <a:cubicBezTo>
                      <a:pt x="828711" y="198667"/>
                      <a:pt x="794177" y="233200"/>
                      <a:pt x="751578" y="233200"/>
                    </a:cubicBezTo>
                    <a:lnTo>
                      <a:pt x="77132" y="233200"/>
                    </a:lnTo>
                    <a:cubicBezTo>
                      <a:pt x="56676" y="233200"/>
                      <a:pt x="37057" y="225074"/>
                      <a:pt x="22592" y="210609"/>
                    </a:cubicBezTo>
                    <a:cubicBezTo>
                      <a:pt x="8126" y="196143"/>
                      <a:pt x="0" y="176524"/>
                      <a:pt x="0" y="156068"/>
                    </a:cubicBezTo>
                    <a:lnTo>
                      <a:pt x="0" y="77132"/>
                    </a:lnTo>
                    <a:cubicBezTo>
                      <a:pt x="0" y="56676"/>
                      <a:pt x="8126" y="37057"/>
                      <a:pt x="22592" y="22592"/>
                    </a:cubicBezTo>
                    <a:cubicBezTo>
                      <a:pt x="37057" y="8126"/>
                      <a:pt x="56676" y="0"/>
                      <a:pt x="77132" y="0"/>
                    </a:cubicBezTo>
                    <a:close/>
                  </a:path>
                </a:pathLst>
              </a:custGeom>
              <a:solidFill>
                <a:srgbClr val="2A3067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828711" cy="261775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Modifier le codebook par itérations successives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074686" y="1114425"/>
            <a:ext cx="15685922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Rappel : le workflow d’un projet ActiveTigger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009" y="3167592"/>
            <a:ext cx="59456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6009" y="2370048"/>
            <a:ext cx="59456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Création du projet</a:t>
            </a:r>
          </a:p>
        </p:txBody>
      </p:sp>
      <p:sp>
        <p:nvSpPr>
          <p:cNvPr id="20" name="AutoShape 20"/>
          <p:cNvSpPr/>
          <p:nvPr/>
        </p:nvSpPr>
        <p:spPr>
          <a:xfrm flipH="1" flipV="1">
            <a:off x="9107863" y="2357914"/>
            <a:ext cx="45662" cy="7222837"/>
          </a:xfrm>
          <a:prstGeom prst="line">
            <a:avLst/>
          </a:prstGeom>
          <a:ln w="19050" cap="flat">
            <a:solidFill>
              <a:srgbClr val="2A30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9583668" y="2370048"/>
            <a:ext cx="753747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3 :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Annoter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les jeux de données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83668" y="3567053"/>
            <a:ext cx="410462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Entraîner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des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modèles</a:t>
            </a:r>
            <a:endParaRPr lang="en-US" sz="20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583668" y="4850043"/>
            <a:ext cx="423373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5 : Sélectionner un modèle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61177" y="6148196"/>
            <a:ext cx="520959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6 : Évaluer le modèle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83668" y="7485410"/>
            <a:ext cx="6210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7 :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Prédire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sur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l’ensemble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des données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291305" y="5958833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7" name="Group 27"/>
          <p:cNvGrpSpPr/>
          <p:nvPr/>
        </p:nvGrpSpPr>
        <p:grpSpPr>
          <a:xfrm>
            <a:off x="13200121" y="6135349"/>
            <a:ext cx="685971" cy="1126111"/>
            <a:chOff x="0" y="-14228"/>
            <a:chExt cx="22819" cy="374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2819" cy="8886"/>
            </a:xfrm>
            <a:custGeom>
              <a:avLst/>
              <a:gdLst/>
              <a:ahLst/>
              <a:cxnLst/>
              <a:rect l="l" t="t" r="r" b="b"/>
              <a:pathLst>
                <a:path w="22819" h="8886">
                  <a:moveTo>
                    <a:pt x="0" y="0"/>
                  </a:moveTo>
                  <a:lnTo>
                    <a:pt x="22819" y="0"/>
                  </a:lnTo>
                  <a:lnTo>
                    <a:pt x="22819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4228"/>
              <a:ext cx="22819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4294256" y="4604613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1" name="Group 31"/>
          <p:cNvGrpSpPr/>
          <p:nvPr/>
        </p:nvGrpSpPr>
        <p:grpSpPr>
          <a:xfrm>
            <a:off x="14022151" y="4762715"/>
            <a:ext cx="1054307" cy="1143855"/>
            <a:chOff x="0" y="-14523"/>
            <a:chExt cx="35073" cy="3805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4857" cy="9476"/>
            </a:xfrm>
            <a:custGeom>
              <a:avLst/>
              <a:gdLst/>
              <a:ahLst/>
              <a:cxnLst/>
              <a:rect l="l" t="t" r="r" b="b"/>
              <a:pathLst>
                <a:path w="34857" h="9476">
                  <a:moveTo>
                    <a:pt x="0" y="0"/>
                  </a:moveTo>
                  <a:lnTo>
                    <a:pt x="34857" y="0"/>
                  </a:lnTo>
                  <a:lnTo>
                    <a:pt x="34857" y="9476"/>
                  </a:lnTo>
                  <a:lnTo>
                    <a:pt x="0" y="9476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" y="-14523"/>
              <a:ext cx="34857" cy="3805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Validation Set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5694166" y="7306426"/>
            <a:ext cx="633958" cy="547284"/>
          </a:xfrm>
          <a:custGeom>
            <a:avLst/>
            <a:gdLst/>
            <a:ahLst/>
            <a:cxnLst/>
            <a:rect l="l" t="t" r="r" b="b"/>
            <a:pathLst>
              <a:path w="633958" h="547284">
                <a:moveTo>
                  <a:pt x="0" y="0"/>
                </a:moveTo>
                <a:lnTo>
                  <a:pt x="633958" y="0"/>
                </a:lnTo>
                <a:lnTo>
                  <a:pt x="633958" y="547284"/>
                </a:lnTo>
                <a:lnTo>
                  <a:pt x="0" y="547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5" name="Group 35"/>
          <p:cNvGrpSpPr/>
          <p:nvPr/>
        </p:nvGrpSpPr>
        <p:grpSpPr>
          <a:xfrm>
            <a:off x="15343399" y="7524356"/>
            <a:ext cx="1377186" cy="1126111"/>
            <a:chOff x="0" y="-14719"/>
            <a:chExt cx="45813" cy="3746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813" cy="8886"/>
            </a:xfrm>
            <a:custGeom>
              <a:avLst/>
              <a:gdLst/>
              <a:ahLst/>
              <a:cxnLst/>
              <a:rect l="l" t="t" r="r" b="b"/>
              <a:pathLst>
                <a:path w="45813" h="8886">
                  <a:moveTo>
                    <a:pt x="0" y="0"/>
                  </a:moveTo>
                  <a:lnTo>
                    <a:pt x="45813" y="0"/>
                  </a:lnTo>
                  <a:lnTo>
                    <a:pt x="45813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6982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4719"/>
              <a:ext cx="45813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Données </a:t>
              </a:r>
              <a:r>
                <a:rPr lang="en-US" sz="1000" b="1" dirty="0" err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restantes</a:t>
              </a:r>
              <a:endParaRPr lang="en-US" sz="1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</p:txBody>
        </p:sp>
      </p:grpSp>
      <p:sp>
        <p:nvSpPr>
          <p:cNvPr id="38" name="Freeform 38"/>
          <p:cNvSpPr/>
          <p:nvPr/>
        </p:nvSpPr>
        <p:spPr>
          <a:xfrm>
            <a:off x="13817400" y="3398747"/>
            <a:ext cx="521631" cy="517555"/>
          </a:xfrm>
          <a:custGeom>
            <a:avLst/>
            <a:gdLst/>
            <a:ahLst/>
            <a:cxnLst/>
            <a:rect l="l" t="t" r="r" b="b"/>
            <a:pathLst>
              <a:path w="521631" h="517555">
                <a:moveTo>
                  <a:pt x="0" y="0"/>
                </a:moveTo>
                <a:lnTo>
                  <a:pt x="521630" y="0"/>
                </a:lnTo>
                <a:lnTo>
                  <a:pt x="521630" y="517556"/>
                </a:lnTo>
                <a:lnTo>
                  <a:pt x="0" y="517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9" name="Group 39"/>
          <p:cNvGrpSpPr/>
          <p:nvPr/>
        </p:nvGrpSpPr>
        <p:grpSpPr>
          <a:xfrm>
            <a:off x="13675794" y="3593308"/>
            <a:ext cx="804843" cy="1084707"/>
            <a:chOff x="-2513" y="-14499"/>
            <a:chExt cx="28129" cy="379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-2513" y="-14499"/>
              <a:ext cx="28129" cy="3791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9523077" y="8862593"/>
            <a:ext cx="7925843" cy="460025"/>
          </a:xfrm>
          <a:custGeom>
            <a:avLst/>
            <a:gdLst/>
            <a:ahLst/>
            <a:cxnLst/>
            <a:rect l="l" t="t" r="r" b="b"/>
            <a:pathLst>
              <a:path w="7925843" h="460025">
                <a:moveTo>
                  <a:pt x="0" y="0"/>
                </a:moveTo>
                <a:lnTo>
                  <a:pt x="7925843" y="0"/>
                </a:lnTo>
                <a:lnTo>
                  <a:pt x="7925843" y="460025"/>
                </a:lnTo>
                <a:lnTo>
                  <a:pt x="0" y="460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3" name="Freeform 43"/>
          <p:cNvSpPr/>
          <p:nvPr/>
        </p:nvSpPr>
        <p:spPr>
          <a:xfrm>
            <a:off x="14622250" y="2131728"/>
            <a:ext cx="521631" cy="517555"/>
          </a:xfrm>
          <a:custGeom>
            <a:avLst/>
            <a:gdLst/>
            <a:ahLst/>
            <a:cxnLst/>
            <a:rect l="l" t="t" r="r" b="b"/>
            <a:pathLst>
              <a:path w="521631" h="517555">
                <a:moveTo>
                  <a:pt x="0" y="0"/>
                </a:moveTo>
                <a:lnTo>
                  <a:pt x="521630" y="0"/>
                </a:lnTo>
                <a:lnTo>
                  <a:pt x="521630" y="517556"/>
                </a:lnTo>
                <a:lnTo>
                  <a:pt x="0" y="517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4" name="Group 44"/>
          <p:cNvGrpSpPr/>
          <p:nvPr/>
        </p:nvGrpSpPr>
        <p:grpSpPr>
          <a:xfrm>
            <a:off x="14487282" y="2339050"/>
            <a:ext cx="797346" cy="1084707"/>
            <a:chOff x="-2281" y="-14053"/>
            <a:chExt cx="27867" cy="3791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-2281" y="-14053"/>
              <a:ext cx="27867" cy="3791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47" name="Freeform 47"/>
          <p:cNvSpPr/>
          <p:nvPr/>
        </p:nvSpPr>
        <p:spPr>
          <a:xfrm>
            <a:off x="15536756" y="2128716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8" name="Group 48"/>
          <p:cNvGrpSpPr/>
          <p:nvPr/>
        </p:nvGrpSpPr>
        <p:grpSpPr>
          <a:xfrm>
            <a:off x="15264651" y="2293882"/>
            <a:ext cx="1047814" cy="1143855"/>
            <a:chOff x="0" y="-14288"/>
            <a:chExt cx="34857" cy="3805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4857" cy="9476"/>
            </a:xfrm>
            <a:custGeom>
              <a:avLst/>
              <a:gdLst/>
              <a:ahLst/>
              <a:cxnLst/>
              <a:rect l="l" t="t" r="r" b="b"/>
              <a:pathLst>
                <a:path w="34857" h="9476">
                  <a:moveTo>
                    <a:pt x="0" y="0"/>
                  </a:moveTo>
                  <a:lnTo>
                    <a:pt x="34857" y="0"/>
                  </a:lnTo>
                  <a:lnTo>
                    <a:pt x="34857" y="9476"/>
                  </a:lnTo>
                  <a:lnTo>
                    <a:pt x="0" y="9476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4288"/>
              <a:ext cx="34857" cy="3805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Validation Set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16441926" y="2128716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2" name="Group 52"/>
          <p:cNvGrpSpPr/>
          <p:nvPr/>
        </p:nvGrpSpPr>
        <p:grpSpPr>
          <a:xfrm>
            <a:off x="16350743" y="2297656"/>
            <a:ext cx="690781" cy="1126111"/>
            <a:chOff x="0" y="-14480"/>
            <a:chExt cx="22979" cy="374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2819" cy="8886"/>
            </a:xfrm>
            <a:custGeom>
              <a:avLst/>
              <a:gdLst/>
              <a:ahLst/>
              <a:cxnLst/>
              <a:rect l="l" t="t" r="r" b="b"/>
              <a:pathLst>
                <a:path w="22819" h="8886">
                  <a:moveTo>
                    <a:pt x="0" y="0"/>
                  </a:moveTo>
                  <a:lnTo>
                    <a:pt x="22819" y="0"/>
                  </a:lnTo>
                  <a:lnTo>
                    <a:pt x="22819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0" y="-14480"/>
              <a:ext cx="22819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2693956" y="4557636"/>
            <a:ext cx="12900088" cy="1823215"/>
            <a:chOff x="0" y="0"/>
            <a:chExt cx="3397554" cy="4801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7554" cy="480188"/>
            </a:xfrm>
            <a:custGeom>
              <a:avLst/>
              <a:gdLst/>
              <a:ahLst/>
              <a:cxnLst/>
              <a:rect l="l" t="t" r="r" b="b"/>
              <a:pathLst>
                <a:path w="3397554" h="480188">
                  <a:moveTo>
                    <a:pt x="30607" y="0"/>
                  </a:moveTo>
                  <a:lnTo>
                    <a:pt x="3366947" y="0"/>
                  </a:lnTo>
                  <a:cubicBezTo>
                    <a:pt x="3383851" y="0"/>
                    <a:pt x="3397554" y="13703"/>
                    <a:pt x="3397554" y="30607"/>
                  </a:cubicBezTo>
                  <a:lnTo>
                    <a:pt x="3397554" y="449581"/>
                  </a:lnTo>
                  <a:cubicBezTo>
                    <a:pt x="3397554" y="466485"/>
                    <a:pt x="3383851" y="480188"/>
                    <a:pt x="3366947" y="480188"/>
                  </a:cubicBezTo>
                  <a:lnTo>
                    <a:pt x="30607" y="480188"/>
                  </a:lnTo>
                  <a:cubicBezTo>
                    <a:pt x="13703" y="480188"/>
                    <a:pt x="0" y="466485"/>
                    <a:pt x="0" y="449581"/>
                  </a:cubicBezTo>
                  <a:lnTo>
                    <a:pt x="0" y="30607"/>
                  </a:lnTo>
                  <a:cubicBezTo>
                    <a:pt x="0" y="13703"/>
                    <a:pt x="13703" y="0"/>
                    <a:pt x="3060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97554" cy="527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29688" y="3102047"/>
            <a:ext cx="1316046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Pour pouvoir annoter, il nous faut créer un premier codebook.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42013" y="4907268"/>
            <a:ext cx="1220397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➔ Quelles catégories (=labels, étiquettes) pourrions-nous créer ?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➔ Avec quelles définitions 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9688" y="7424126"/>
            <a:ext cx="1314590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Chaque amendement doit entrer dans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une et une seule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catégorie.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91906" y="3420520"/>
            <a:ext cx="790418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Deux catégories : “source” / “non-source”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9879" y="5081139"/>
            <a:ext cx="1242318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Partons d’une définition simple (et un peu naïve)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12149" y="5830291"/>
            <a:ext cx="141359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quand il a été travaillé avec un représentant d’intérêt et que son origine est exprimée explicitement comme telle. </a:t>
            </a:r>
          </a:p>
        </p:txBody>
      </p:sp>
      <p:sp>
        <p:nvSpPr>
          <p:cNvPr id="5" name="AutoShape 5"/>
          <p:cNvSpPr/>
          <p:nvPr/>
        </p:nvSpPr>
        <p:spPr>
          <a:xfrm flipH="1" flipV="1">
            <a:off x="2225062" y="5897033"/>
            <a:ext cx="12921" cy="1722826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512149" y="7116166"/>
            <a:ext cx="141359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dans tous les autres cas.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9879" y="5727950"/>
            <a:ext cx="16275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60969" y="4060419"/>
            <a:ext cx="10966061" cy="5448762"/>
          </a:xfrm>
          <a:custGeom>
            <a:avLst/>
            <a:gdLst/>
            <a:ahLst/>
            <a:cxnLst/>
            <a:rect l="l" t="t" r="r" b="b"/>
            <a:pathLst>
              <a:path w="10966061" h="5448762">
                <a:moveTo>
                  <a:pt x="0" y="0"/>
                </a:moveTo>
                <a:lnTo>
                  <a:pt x="10966062" y="0"/>
                </a:lnTo>
                <a:lnTo>
                  <a:pt x="10966062" y="5448761"/>
                </a:lnTo>
                <a:lnTo>
                  <a:pt x="0" y="5448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8444467" y="8108558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6" y="0"/>
                </a:lnTo>
                <a:lnTo>
                  <a:pt x="430126" y="534318"/>
                </a:lnTo>
                <a:lnTo>
                  <a:pt x="0" y="534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215905" y="2361997"/>
            <a:ext cx="148872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Créer les deux labels (source et non-source) : les écrire puis cliquer sur Add.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Rédiger le codebook : cliquer sur l’icône stylo et ajouter le texte.</a:t>
            </a:r>
          </a:p>
        </p:txBody>
      </p:sp>
      <p:sp>
        <p:nvSpPr>
          <p:cNvPr id="5" name="Freeform 5"/>
          <p:cNvSpPr/>
          <p:nvPr/>
        </p:nvSpPr>
        <p:spPr>
          <a:xfrm>
            <a:off x="14043962" y="5537411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5" y="0"/>
                </a:lnTo>
                <a:lnTo>
                  <a:pt x="430125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33273" y="4570021"/>
            <a:ext cx="2617476" cy="5095024"/>
          </a:xfrm>
          <a:custGeom>
            <a:avLst/>
            <a:gdLst/>
            <a:ahLst/>
            <a:cxnLst/>
            <a:rect l="l" t="t" r="r" b="b"/>
            <a:pathLst>
              <a:path w="2617476" h="5095024">
                <a:moveTo>
                  <a:pt x="0" y="0"/>
                </a:moveTo>
                <a:lnTo>
                  <a:pt x="2617476" y="0"/>
                </a:lnTo>
                <a:lnTo>
                  <a:pt x="2617476" y="5095024"/>
                </a:lnTo>
                <a:lnTo>
                  <a:pt x="0" y="509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92439" y="2287468"/>
            <a:ext cx="13084230" cy="6501227"/>
          </a:xfrm>
          <a:custGeom>
            <a:avLst/>
            <a:gdLst/>
            <a:ahLst/>
            <a:cxnLst/>
            <a:rect l="l" t="t" r="r" b="b"/>
            <a:pathLst>
              <a:path w="13084230" h="6501227">
                <a:moveTo>
                  <a:pt x="0" y="0"/>
                </a:moveTo>
                <a:lnTo>
                  <a:pt x="13084230" y="0"/>
                </a:lnTo>
                <a:lnTo>
                  <a:pt x="13084230" y="6501227"/>
                </a:lnTo>
                <a:lnTo>
                  <a:pt x="0" y="6501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392439" y="8767592"/>
            <a:ext cx="123720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3. Pour plus de confort, changer les paramètres de configuration.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14220066" y="3932497"/>
            <a:ext cx="513207" cy="637524"/>
          </a:xfrm>
          <a:custGeom>
            <a:avLst/>
            <a:gdLst/>
            <a:ahLst/>
            <a:cxnLst/>
            <a:rect l="l" t="t" r="r" b="b"/>
            <a:pathLst>
              <a:path w="513207" h="637524">
                <a:moveTo>
                  <a:pt x="0" y="0"/>
                </a:moveTo>
                <a:lnTo>
                  <a:pt x="513207" y="0"/>
                </a:lnTo>
                <a:lnTo>
                  <a:pt x="513207" y="637524"/>
                </a:lnTo>
                <a:lnTo>
                  <a:pt x="0" y="6375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6178" y="4581525"/>
            <a:ext cx="1422438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C’est parti : annotons une dizaine d’amendements de façon aléatoire.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apprend à connaître nos données.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96166" y="3766636"/>
            <a:ext cx="549566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de façon augmentée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966244" y="4968427"/>
            <a:ext cx="3810937" cy="1823215"/>
            <a:chOff x="0" y="0"/>
            <a:chExt cx="1003704" cy="4801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3703" cy="480188"/>
            </a:xfrm>
            <a:custGeom>
              <a:avLst/>
              <a:gdLst/>
              <a:ahLst/>
              <a:cxnLst/>
              <a:rect l="l" t="t" r="r" b="b"/>
              <a:pathLst>
                <a:path w="1003703" h="480188">
                  <a:moveTo>
                    <a:pt x="103607" y="0"/>
                  </a:moveTo>
                  <a:lnTo>
                    <a:pt x="900097" y="0"/>
                  </a:lnTo>
                  <a:cubicBezTo>
                    <a:pt x="927575" y="0"/>
                    <a:pt x="953928" y="10916"/>
                    <a:pt x="973358" y="30346"/>
                  </a:cubicBezTo>
                  <a:cubicBezTo>
                    <a:pt x="992788" y="49776"/>
                    <a:pt x="1003703" y="76128"/>
                    <a:pt x="1003703" y="103607"/>
                  </a:cubicBezTo>
                  <a:lnTo>
                    <a:pt x="1003703" y="376582"/>
                  </a:lnTo>
                  <a:cubicBezTo>
                    <a:pt x="1003703" y="404060"/>
                    <a:pt x="992788" y="430413"/>
                    <a:pt x="973358" y="449843"/>
                  </a:cubicBezTo>
                  <a:cubicBezTo>
                    <a:pt x="953928" y="469273"/>
                    <a:pt x="927575" y="480188"/>
                    <a:pt x="900097" y="480188"/>
                  </a:cubicBezTo>
                  <a:lnTo>
                    <a:pt x="103607" y="480188"/>
                  </a:lnTo>
                  <a:cubicBezTo>
                    <a:pt x="76128" y="480188"/>
                    <a:pt x="49776" y="469273"/>
                    <a:pt x="30346" y="449843"/>
                  </a:cubicBezTo>
                  <a:cubicBezTo>
                    <a:pt x="10916" y="430413"/>
                    <a:pt x="0" y="404060"/>
                    <a:pt x="0" y="376582"/>
                  </a:cubicBezTo>
                  <a:lnTo>
                    <a:pt x="0" y="103607"/>
                  </a:lnTo>
                  <a:cubicBezTo>
                    <a:pt x="0" y="76128"/>
                    <a:pt x="10916" y="49776"/>
                    <a:pt x="30346" y="30346"/>
                  </a:cubicBezTo>
                  <a:cubicBezTo>
                    <a:pt x="49776" y="10916"/>
                    <a:pt x="76128" y="0"/>
                    <a:pt x="103607" y="0"/>
                  </a:cubicBezTo>
                  <a:close/>
                </a:path>
              </a:pathLst>
            </a:custGeom>
            <a:solidFill>
              <a:srgbClr val="EA6F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003704" cy="546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Search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0820" y="4968427"/>
            <a:ext cx="3810937" cy="1823215"/>
            <a:chOff x="0" y="0"/>
            <a:chExt cx="1003704" cy="4801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3703" cy="480188"/>
            </a:xfrm>
            <a:custGeom>
              <a:avLst/>
              <a:gdLst/>
              <a:ahLst/>
              <a:cxnLst/>
              <a:rect l="l" t="t" r="r" b="b"/>
              <a:pathLst>
                <a:path w="1003703" h="480188">
                  <a:moveTo>
                    <a:pt x="103607" y="0"/>
                  </a:moveTo>
                  <a:lnTo>
                    <a:pt x="900097" y="0"/>
                  </a:lnTo>
                  <a:cubicBezTo>
                    <a:pt x="927575" y="0"/>
                    <a:pt x="953928" y="10916"/>
                    <a:pt x="973358" y="30346"/>
                  </a:cubicBezTo>
                  <a:cubicBezTo>
                    <a:pt x="992788" y="49776"/>
                    <a:pt x="1003703" y="76128"/>
                    <a:pt x="1003703" y="103607"/>
                  </a:cubicBezTo>
                  <a:lnTo>
                    <a:pt x="1003703" y="376582"/>
                  </a:lnTo>
                  <a:cubicBezTo>
                    <a:pt x="1003703" y="404060"/>
                    <a:pt x="992788" y="430413"/>
                    <a:pt x="973358" y="449843"/>
                  </a:cubicBezTo>
                  <a:cubicBezTo>
                    <a:pt x="953928" y="469273"/>
                    <a:pt x="927575" y="480188"/>
                    <a:pt x="900097" y="480188"/>
                  </a:cubicBezTo>
                  <a:lnTo>
                    <a:pt x="103607" y="480188"/>
                  </a:lnTo>
                  <a:cubicBezTo>
                    <a:pt x="76128" y="480188"/>
                    <a:pt x="49776" y="469273"/>
                    <a:pt x="30346" y="449843"/>
                  </a:cubicBezTo>
                  <a:cubicBezTo>
                    <a:pt x="10916" y="430413"/>
                    <a:pt x="0" y="404060"/>
                    <a:pt x="0" y="376582"/>
                  </a:cubicBezTo>
                  <a:lnTo>
                    <a:pt x="0" y="103607"/>
                  </a:lnTo>
                  <a:cubicBezTo>
                    <a:pt x="0" y="76128"/>
                    <a:pt x="10916" y="49776"/>
                    <a:pt x="30346" y="30346"/>
                  </a:cubicBezTo>
                  <a:cubicBezTo>
                    <a:pt x="49776" y="10916"/>
                    <a:pt x="76128" y="0"/>
                    <a:pt x="103607" y="0"/>
                  </a:cubicBezTo>
                  <a:close/>
                </a:path>
              </a:pathLst>
            </a:custGeom>
            <a:solidFill>
              <a:srgbClr val="EA6F2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003704" cy="546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Active learning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2439" y="3733170"/>
            <a:ext cx="10890990" cy="5411461"/>
          </a:xfrm>
          <a:custGeom>
            <a:avLst/>
            <a:gdLst/>
            <a:ahLst/>
            <a:cxnLst/>
            <a:rect l="l" t="t" r="r" b="b"/>
            <a:pathLst>
              <a:path w="10890990" h="5411461">
                <a:moveTo>
                  <a:pt x="0" y="0"/>
                </a:moveTo>
                <a:lnTo>
                  <a:pt x="10890990" y="0"/>
                </a:lnTo>
                <a:lnTo>
                  <a:pt x="10890990" y="5411460"/>
                </a:lnTo>
                <a:lnTo>
                  <a:pt x="0" y="5411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2909083" y="5076825"/>
            <a:ext cx="4016748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Search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annotons des amendements qui contiennent “travaillé avec”.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2439" y="2321056"/>
            <a:ext cx="14516497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remarque que le sourcing se matérialise souvent par la présence de la phrase suivante : “Cet amendement a été travaillé avec xx”.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76619"/>
            <a:ext cx="10674758" cy="5304020"/>
          </a:xfrm>
          <a:custGeom>
            <a:avLst/>
            <a:gdLst/>
            <a:ahLst/>
            <a:cxnLst/>
            <a:rect l="l" t="t" r="r" b="b"/>
            <a:pathLst>
              <a:path w="10674758" h="5304020">
                <a:moveTo>
                  <a:pt x="0" y="0"/>
                </a:moveTo>
                <a:lnTo>
                  <a:pt x="10674758" y="0"/>
                </a:lnTo>
                <a:lnTo>
                  <a:pt x="10674758" y="5304020"/>
                </a:lnTo>
                <a:lnTo>
                  <a:pt x="0" y="5304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366079" y="3879459"/>
            <a:ext cx="10573028" cy="5253473"/>
          </a:xfrm>
          <a:custGeom>
            <a:avLst/>
            <a:gdLst/>
            <a:ahLst/>
            <a:cxnLst/>
            <a:rect l="l" t="t" r="r" b="b"/>
            <a:pathLst>
              <a:path w="10573028" h="5253473">
                <a:moveTo>
                  <a:pt x="0" y="0"/>
                </a:moveTo>
                <a:lnTo>
                  <a:pt x="10573028" y="0"/>
                </a:lnTo>
                <a:lnTo>
                  <a:pt x="10573028" y="5253473"/>
                </a:lnTo>
                <a:lnTo>
                  <a:pt x="0" y="5253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2414731"/>
            <a:ext cx="1004057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6.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Active learning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entraînons un premier quick model</a:t>
            </a:r>
          </a:p>
        </p:txBody>
      </p:sp>
      <p:sp>
        <p:nvSpPr>
          <p:cNvPr id="5" name="Freeform 5"/>
          <p:cNvSpPr/>
          <p:nvPr/>
        </p:nvSpPr>
        <p:spPr>
          <a:xfrm>
            <a:off x="4538931" y="5211827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5" y="0"/>
                </a:lnTo>
                <a:lnTo>
                  <a:pt x="430125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2346183" y="7941881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5" y="0"/>
                </a:lnTo>
                <a:lnTo>
                  <a:pt x="430125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321805"/>
            <a:ext cx="11482638" cy="5792536"/>
          </a:xfrm>
          <a:custGeom>
            <a:avLst/>
            <a:gdLst/>
            <a:ahLst/>
            <a:cxnLst/>
            <a:rect l="l" t="t" r="r" b="b"/>
            <a:pathLst>
              <a:path w="11482638" h="5792536">
                <a:moveTo>
                  <a:pt x="0" y="0"/>
                </a:moveTo>
                <a:lnTo>
                  <a:pt x="11482638" y="0"/>
                </a:lnTo>
                <a:lnTo>
                  <a:pt x="11482638" y="5792537"/>
                </a:lnTo>
                <a:lnTo>
                  <a:pt x="0" y="5792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85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2400429"/>
            <a:ext cx="16230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6.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Active learning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 annotons quelques d’amendements.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233088" y="6456867"/>
            <a:ext cx="5292912" cy="2657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Nous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pourrons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ensuite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entraîner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d’autres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modèles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pour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améliorer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les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prédictions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et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donc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sélection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des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difficiles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32233"/>
            <a:ext cx="16230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 fil des annotations, on rencontre des cas difficiles qui font évoluer notre codebook.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783906" y="3702555"/>
            <a:ext cx="7238420" cy="5116957"/>
            <a:chOff x="0" y="0"/>
            <a:chExt cx="9651226" cy="6822609"/>
          </a:xfrm>
        </p:grpSpPr>
        <p:sp>
          <p:nvSpPr>
            <p:cNvPr id="6" name="AutoShape 6"/>
            <p:cNvSpPr/>
            <p:nvPr/>
          </p:nvSpPr>
          <p:spPr>
            <a:xfrm flipV="1">
              <a:off x="7026344" y="24307"/>
              <a:ext cx="21465" cy="6797960"/>
            </a:xfrm>
            <a:prstGeom prst="line">
              <a:avLst/>
            </a:prstGeom>
            <a:ln w="215900" cap="flat">
              <a:solidFill>
                <a:srgbClr val="2A306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4663157" y="0"/>
              <a:ext cx="4988069" cy="1022464"/>
              <a:chOff x="0" y="0"/>
              <a:chExt cx="1029588" cy="21104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29588" cy="211047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11047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148964"/>
                    </a:lnTo>
                    <a:cubicBezTo>
                      <a:pt x="1029588" y="165429"/>
                      <a:pt x="1023047" y="181220"/>
                      <a:pt x="1011404" y="192863"/>
                    </a:cubicBezTo>
                    <a:cubicBezTo>
                      <a:pt x="999761" y="204506"/>
                      <a:pt x="983970" y="211047"/>
                      <a:pt x="967505" y="211047"/>
                    </a:cubicBezTo>
                    <a:lnTo>
                      <a:pt x="62083" y="211047"/>
                    </a:lnTo>
                    <a:cubicBezTo>
                      <a:pt x="27796" y="211047"/>
                      <a:pt x="0" y="183251"/>
                      <a:pt x="0" y="148964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1029588" cy="239622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Annoter les données aléatoirement</a:t>
                </a:r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724952" y="2343480"/>
              <a:ext cx="3633337" cy="3633337"/>
            </a:xfrm>
            <a:custGeom>
              <a:avLst/>
              <a:gdLst/>
              <a:ahLst/>
              <a:cxnLst/>
              <a:rect l="l" t="t" r="r" b="b"/>
              <a:pathLst>
                <a:path w="3633337" h="3633337">
                  <a:moveTo>
                    <a:pt x="0" y="0"/>
                  </a:moveTo>
                  <a:lnTo>
                    <a:pt x="3633337" y="0"/>
                  </a:lnTo>
                  <a:lnTo>
                    <a:pt x="3633337" y="3633338"/>
                  </a:lnTo>
                  <a:lnTo>
                    <a:pt x="0" y="3633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4663157" y="5374425"/>
              <a:ext cx="4988069" cy="1447843"/>
              <a:chOff x="0" y="0"/>
              <a:chExt cx="1029588" cy="29884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236766"/>
                    </a:lnTo>
                    <a:cubicBezTo>
                      <a:pt x="1029588" y="253232"/>
                      <a:pt x="1023047" y="269023"/>
                      <a:pt x="1011404" y="280666"/>
                    </a:cubicBezTo>
                    <a:cubicBezTo>
                      <a:pt x="999761" y="292309"/>
                      <a:pt x="983970" y="298849"/>
                      <a:pt x="967505" y="298849"/>
                    </a:cubicBezTo>
                    <a:lnTo>
                      <a:pt x="62083" y="298849"/>
                    </a:lnTo>
                    <a:cubicBezTo>
                      <a:pt x="27796" y="298849"/>
                      <a:pt x="0" y="271054"/>
                      <a:pt x="0" y="236766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Active learning : entraîner un modèle pour annoter les cas </a:t>
                </a:r>
              </a:p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les plus ambigus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663157" y="1957397"/>
              <a:ext cx="4988069" cy="1447843"/>
              <a:chOff x="0" y="0"/>
              <a:chExt cx="1029588" cy="29884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236766"/>
                    </a:lnTo>
                    <a:cubicBezTo>
                      <a:pt x="1029588" y="253232"/>
                      <a:pt x="1023047" y="269023"/>
                      <a:pt x="1011404" y="280666"/>
                    </a:cubicBezTo>
                    <a:cubicBezTo>
                      <a:pt x="999761" y="292309"/>
                      <a:pt x="983970" y="298849"/>
                      <a:pt x="967505" y="298849"/>
                    </a:cubicBezTo>
                    <a:lnTo>
                      <a:pt x="62083" y="298849"/>
                    </a:lnTo>
                    <a:cubicBezTo>
                      <a:pt x="27796" y="298849"/>
                      <a:pt x="0" y="271054"/>
                      <a:pt x="0" y="236766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Search : annoter des données choisies par des RegEx, des mots-clés ou du génératif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3753308"/>
              <a:ext cx="4014875" cy="1129790"/>
              <a:chOff x="0" y="0"/>
              <a:chExt cx="828711" cy="2332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28711" cy="233200"/>
              </a:xfrm>
              <a:custGeom>
                <a:avLst/>
                <a:gdLst/>
                <a:ahLst/>
                <a:cxnLst/>
                <a:rect l="l" t="t" r="r" b="b"/>
                <a:pathLst>
                  <a:path w="828711" h="233200">
                    <a:moveTo>
                      <a:pt x="77132" y="0"/>
                    </a:moveTo>
                    <a:lnTo>
                      <a:pt x="751578" y="0"/>
                    </a:lnTo>
                    <a:cubicBezTo>
                      <a:pt x="772035" y="0"/>
                      <a:pt x="791654" y="8126"/>
                      <a:pt x="806119" y="22592"/>
                    </a:cubicBezTo>
                    <a:cubicBezTo>
                      <a:pt x="820584" y="37057"/>
                      <a:pt x="828711" y="56676"/>
                      <a:pt x="828711" y="77132"/>
                    </a:cubicBezTo>
                    <a:lnTo>
                      <a:pt x="828711" y="156068"/>
                    </a:lnTo>
                    <a:cubicBezTo>
                      <a:pt x="828711" y="198667"/>
                      <a:pt x="794177" y="233200"/>
                      <a:pt x="751578" y="233200"/>
                    </a:cubicBezTo>
                    <a:lnTo>
                      <a:pt x="77132" y="233200"/>
                    </a:lnTo>
                    <a:cubicBezTo>
                      <a:pt x="56676" y="233200"/>
                      <a:pt x="37057" y="225074"/>
                      <a:pt x="22592" y="210609"/>
                    </a:cubicBezTo>
                    <a:cubicBezTo>
                      <a:pt x="8126" y="196143"/>
                      <a:pt x="0" y="176524"/>
                      <a:pt x="0" y="156068"/>
                    </a:cubicBezTo>
                    <a:lnTo>
                      <a:pt x="0" y="77132"/>
                    </a:lnTo>
                    <a:cubicBezTo>
                      <a:pt x="0" y="56676"/>
                      <a:pt x="8126" y="37057"/>
                      <a:pt x="22592" y="22592"/>
                    </a:cubicBezTo>
                    <a:cubicBezTo>
                      <a:pt x="37057" y="8126"/>
                      <a:pt x="56676" y="0"/>
                      <a:pt x="77132" y="0"/>
                    </a:cubicBezTo>
                    <a:close/>
                  </a:path>
                </a:pathLst>
              </a:custGeom>
              <a:solidFill>
                <a:srgbClr val="2A3067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828711" cy="261775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Modifier le codebook par itérations successives</a:t>
                </a: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2437622" y="3096050"/>
            <a:ext cx="12921" cy="1722826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622003" y="2838808"/>
            <a:ext cx="15238678" cy="2304692"/>
            <a:chOff x="0" y="0"/>
            <a:chExt cx="4013479" cy="606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13479" cy="606997"/>
            </a:xfrm>
            <a:custGeom>
              <a:avLst/>
              <a:gdLst/>
              <a:ahLst/>
              <a:cxnLst/>
              <a:rect l="l" t="t" r="r" b="b"/>
              <a:pathLst>
                <a:path w="4013479" h="606997">
                  <a:moveTo>
                    <a:pt x="7113" y="0"/>
                  </a:moveTo>
                  <a:lnTo>
                    <a:pt x="4006366" y="0"/>
                  </a:lnTo>
                  <a:cubicBezTo>
                    <a:pt x="4008253" y="0"/>
                    <a:pt x="4010062" y="749"/>
                    <a:pt x="4011396" y="2083"/>
                  </a:cubicBezTo>
                  <a:cubicBezTo>
                    <a:pt x="4012730" y="3417"/>
                    <a:pt x="4013479" y="5226"/>
                    <a:pt x="4013479" y="7113"/>
                  </a:cubicBezTo>
                  <a:lnTo>
                    <a:pt x="4013479" y="599885"/>
                  </a:lnTo>
                  <a:cubicBezTo>
                    <a:pt x="4013479" y="601771"/>
                    <a:pt x="4012730" y="603580"/>
                    <a:pt x="4011396" y="604914"/>
                  </a:cubicBezTo>
                  <a:cubicBezTo>
                    <a:pt x="4010062" y="606248"/>
                    <a:pt x="4008253" y="606997"/>
                    <a:pt x="4006366" y="606997"/>
                  </a:cubicBezTo>
                  <a:lnTo>
                    <a:pt x="7113" y="606997"/>
                  </a:lnTo>
                  <a:cubicBezTo>
                    <a:pt x="5226" y="606997"/>
                    <a:pt x="3417" y="606248"/>
                    <a:pt x="2083" y="604914"/>
                  </a:cubicBezTo>
                  <a:cubicBezTo>
                    <a:pt x="749" y="603580"/>
                    <a:pt x="0" y="601771"/>
                    <a:pt x="0" y="599885"/>
                  </a:cubicBezTo>
                  <a:lnTo>
                    <a:pt x="0" y="7113"/>
                  </a:lnTo>
                  <a:cubicBezTo>
                    <a:pt x="0" y="5226"/>
                    <a:pt x="749" y="3417"/>
                    <a:pt x="2083" y="2083"/>
                  </a:cubicBezTo>
                  <a:cubicBezTo>
                    <a:pt x="3417" y="749"/>
                    <a:pt x="5226" y="0"/>
                    <a:pt x="711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013479" cy="64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24708" y="3029308"/>
            <a:ext cx="141359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quand il a été travaillé avec un représentant d’intérêt et que son origine est exprimée explicitement comme telle.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24708" y="4315183"/>
            <a:ext cx="141359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dans tous les autres cas.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2314" y="2908806"/>
            <a:ext cx="16275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87750" y="3713082"/>
            <a:ext cx="227242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DÉPART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5819" y="6172200"/>
            <a:ext cx="7127593" cy="1239469"/>
            <a:chOff x="0" y="0"/>
            <a:chExt cx="1877226" cy="32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226" cy="326445"/>
            </a:xfrm>
            <a:custGeom>
              <a:avLst/>
              <a:gdLst/>
              <a:ahLst/>
              <a:cxnLst/>
              <a:rect l="l" t="t" r="r" b="b"/>
              <a:pathLst>
                <a:path w="1877226" h="326445">
                  <a:moveTo>
                    <a:pt x="55396" y="0"/>
                  </a:moveTo>
                  <a:lnTo>
                    <a:pt x="1821830" y="0"/>
                  </a:lnTo>
                  <a:cubicBezTo>
                    <a:pt x="1852425" y="0"/>
                    <a:pt x="1877226" y="24801"/>
                    <a:pt x="1877226" y="55396"/>
                  </a:cubicBezTo>
                  <a:lnTo>
                    <a:pt x="1877226" y="271049"/>
                  </a:lnTo>
                  <a:cubicBezTo>
                    <a:pt x="1877226" y="301643"/>
                    <a:pt x="1852425" y="326445"/>
                    <a:pt x="1821830" y="326445"/>
                  </a:cubicBezTo>
                  <a:lnTo>
                    <a:pt x="55396" y="326445"/>
                  </a:lnTo>
                  <a:cubicBezTo>
                    <a:pt x="24801" y="326445"/>
                    <a:pt x="0" y="301643"/>
                    <a:pt x="0" y="271049"/>
                  </a:cubicBezTo>
                  <a:lnTo>
                    <a:pt x="0" y="55396"/>
                  </a:lnTo>
                  <a:cubicBezTo>
                    <a:pt x="0" y="24801"/>
                    <a:pt x="24801" y="0"/>
                    <a:pt x="55396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7226" cy="364545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(...)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Cet amendement a été suggéré par la Fondation pour la Nature et l’Homme.</a:t>
              </a:r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2437622" y="3096050"/>
            <a:ext cx="12921" cy="1722826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1622003" y="2838808"/>
            <a:ext cx="15238678" cy="2304692"/>
            <a:chOff x="0" y="0"/>
            <a:chExt cx="4013479" cy="606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13479" cy="606997"/>
            </a:xfrm>
            <a:custGeom>
              <a:avLst/>
              <a:gdLst/>
              <a:ahLst/>
              <a:cxnLst/>
              <a:rect l="l" t="t" r="r" b="b"/>
              <a:pathLst>
                <a:path w="4013479" h="606997">
                  <a:moveTo>
                    <a:pt x="7113" y="0"/>
                  </a:moveTo>
                  <a:lnTo>
                    <a:pt x="4006366" y="0"/>
                  </a:lnTo>
                  <a:cubicBezTo>
                    <a:pt x="4008253" y="0"/>
                    <a:pt x="4010062" y="749"/>
                    <a:pt x="4011396" y="2083"/>
                  </a:cubicBezTo>
                  <a:cubicBezTo>
                    <a:pt x="4012730" y="3417"/>
                    <a:pt x="4013479" y="5226"/>
                    <a:pt x="4013479" y="7113"/>
                  </a:cubicBezTo>
                  <a:lnTo>
                    <a:pt x="4013479" y="599885"/>
                  </a:lnTo>
                  <a:cubicBezTo>
                    <a:pt x="4013479" y="601771"/>
                    <a:pt x="4012730" y="603580"/>
                    <a:pt x="4011396" y="604914"/>
                  </a:cubicBezTo>
                  <a:cubicBezTo>
                    <a:pt x="4010062" y="606248"/>
                    <a:pt x="4008253" y="606997"/>
                    <a:pt x="4006366" y="606997"/>
                  </a:cubicBezTo>
                  <a:lnTo>
                    <a:pt x="7113" y="606997"/>
                  </a:lnTo>
                  <a:cubicBezTo>
                    <a:pt x="5226" y="606997"/>
                    <a:pt x="3417" y="606248"/>
                    <a:pt x="2083" y="604914"/>
                  </a:cubicBezTo>
                  <a:cubicBezTo>
                    <a:pt x="749" y="603580"/>
                    <a:pt x="0" y="601771"/>
                    <a:pt x="0" y="599885"/>
                  </a:cubicBezTo>
                  <a:lnTo>
                    <a:pt x="0" y="7113"/>
                  </a:lnTo>
                  <a:cubicBezTo>
                    <a:pt x="0" y="5226"/>
                    <a:pt x="749" y="3417"/>
                    <a:pt x="2083" y="2083"/>
                  </a:cubicBezTo>
                  <a:cubicBezTo>
                    <a:pt x="3417" y="749"/>
                    <a:pt x="5226" y="0"/>
                    <a:pt x="711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13479" cy="64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4708" y="3029308"/>
            <a:ext cx="141359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quand il a été travaillé avec un représentant d’intérêt et que son origine est exprimée explicitement comme telle.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4708" y="4315183"/>
            <a:ext cx="141359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dans tous les autres cas.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2314" y="2908806"/>
            <a:ext cx="16275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87750" y="3713082"/>
            <a:ext cx="227242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DÉPART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5819" y="6172200"/>
            <a:ext cx="7127593" cy="1239469"/>
            <a:chOff x="0" y="0"/>
            <a:chExt cx="1877226" cy="3264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7226" cy="326445"/>
            </a:xfrm>
            <a:custGeom>
              <a:avLst/>
              <a:gdLst/>
              <a:ahLst/>
              <a:cxnLst/>
              <a:rect l="l" t="t" r="r" b="b"/>
              <a:pathLst>
                <a:path w="1877226" h="326445">
                  <a:moveTo>
                    <a:pt x="55396" y="0"/>
                  </a:moveTo>
                  <a:lnTo>
                    <a:pt x="1821830" y="0"/>
                  </a:lnTo>
                  <a:cubicBezTo>
                    <a:pt x="1852425" y="0"/>
                    <a:pt x="1877226" y="24801"/>
                    <a:pt x="1877226" y="55396"/>
                  </a:cubicBezTo>
                  <a:lnTo>
                    <a:pt x="1877226" y="271049"/>
                  </a:lnTo>
                  <a:cubicBezTo>
                    <a:pt x="1877226" y="301643"/>
                    <a:pt x="1852425" y="326445"/>
                    <a:pt x="1821830" y="326445"/>
                  </a:cubicBezTo>
                  <a:lnTo>
                    <a:pt x="55396" y="326445"/>
                  </a:lnTo>
                  <a:cubicBezTo>
                    <a:pt x="24801" y="326445"/>
                    <a:pt x="0" y="301643"/>
                    <a:pt x="0" y="271049"/>
                  </a:cubicBezTo>
                  <a:lnTo>
                    <a:pt x="0" y="55396"/>
                  </a:lnTo>
                  <a:cubicBezTo>
                    <a:pt x="0" y="24801"/>
                    <a:pt x="24801" y="0"/>
                    <a:pt x="55396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7226" cy="364545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(...)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Cet amendement a été suggéré par la Fondation pour la Nature et l’Homme.</a:t>
              </a:r>
            </a:p>
          </p:txBody>
        </p:sp>
      </p:grpSp>
      <p:sp>
        <p:nvSpPr>
          <p:cNvPr id="5" name="AutoShape 5"/>
          <p:cNvSpPr/>
          <p:nvPr/>
        </p:nvSpPr>
        <p:spPr>
          <a:xfrm flipH="1" flipV="1">
            <a:off x="2437622" y="3096050"/>
            <a:ext cx="12921" cy="1722826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1622003" y="2838808"/>
            <a:ext cx="15238678" cy="2304692"/>
            <a:chOff x="0" y="0"/>
            <a:chExt cx="4013479" cy="6069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13479" cy="606997"/>
            </a:xfrm>
            <a:custGeom>
              <a:avLst/>
              <a:gdLst/>
              <a:ahLst/>
              <a:cxnLst/>
              <a:rect l="l" t="t" r="r" b="b"/>
              <a:pathLst>
                <a:path w="4013479" h="606997">
                  <a:moveTo>
                    <a:pt x="7113" y="0"/>
                  </a:moveTo>
                  <a:lnTo>
                    <a:pt x="4006366" y="0"/>
                  </a:lnTo>
                  <a:cubicBezTo>
                    <a:pt x="4008253" y="0"/>
                    <a:pt x="4010062" y="749"/>
                    <a:pt x="4011396" y="2083"/>
                  </a:cubicBezTo>
                  <a:cubicBezTo>
                    <a:pt x="4012730" y="3417"/>
                    <a:pt x="4013479" y="5226"/>
                    <a:pt x="4013479" y="7113"/>
                  </a:cubicBezTo>
                  <a:lnTo>
                    <a:pt x="4013479" y="599885"/>
                  </a:lnTo>
                  <a:cubicBezTo>
                    <a:pt x="4013479" y="601771"/>
                    <a:pt x="4012730" y="603580"/>
                    <a:pt x="4011396" y="604914"/>
                  </a:cubicBezTo>
                  <a:cubicBezTo>
                    <a:pt x="4010062" y="606248"/>
                    <a:pt x="4008253" y="606997"/>
                    <a:pt x="4006366" y="606997"/>
                  </a:cubicBezTo>
                  <a:lnTo>
                    <a:pt x="7113" y="606997"/>
                  </a:lnTo>
                  <a:cubicBezTo>
                    <a:pt x="5226" y="606997"/>
                    <a:pt x="3417" y="606248"/>
                    <a:pt x="2083" y="604914"/>
                  </a:cubicBezTo>
                  <a:cubicBezTo>
                    <a:pt x="749" y="603580"/>
                    <a:pt x="0" y="601771"/>
                    <a:pt x="0" y="599885"/>
                  </a:cubicBezTo>
                  <a:lnTo>
                    <a:pt x="0" y="7113"/>
                  </a:lnTo>
                  <a:cubicBezTo>
                    <a:pt x="0" y="5226"/>
                    <a:pt x="749" y="3417"/>
                    <a:pt x="2083" y="2083"/>
                  </a:cubicBezTo>
                  <a:cubicBezTo>
                    <a:pt x="3417" y="749"/>
                    <a:pt x="5226" y="0"/>
                    <a:pt x="711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13479" cy="64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655158" y="6496660"/>
            <a:ext cx="614886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suggérer ≠ travailler avec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24708" y="3029308"/>
            <a:ext cx="141359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quand il a été travaillé avec un représentant d’intérêt et que son origine est exprimée explicitement comme telle.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24708" y="4315183"/>
            <a:ext cx="141359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dans tous les autres cas.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62314" y="2908806"/>
            <a:ext cx="16275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 rot="-5400000">
            <a:off x="87750" y="3713082"/>
            <a:ext cx="227242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DÉPART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846853" y="7861082"/>
            <a:ext cx="4586" cy="1000592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035819" y="6172200"/>
            <a:ext cx="7127593" cy="1239469"/>
            <a:chOff x="0" y="0"/>
            <a:chExt cx="1877226" cy="3264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7226" cy="326445"/>
            </a:xfrm>
            <a:custGeom>
              <a:avLst/>
              <a:gdLst/>
              <a:ahLst/>
              <a:cxnLst/>
              <a:rect l="l" t="t" r="r" b="b"/>
              <a:pathLst>
                <a:path w="1877226" h="326445">
                  <a:moveTo>
                    <a:pt x="55396" y="0"/>
                  </a:moveTo>
                  <a:lnTo>
                    <a:pt x="1821830" y="0"/>
                  </a:lnTo>
                  <a:cubicBezTo>
                    <a:pt x="1852425" y="0"/>
                    <a:pt x="1877226" y="24801"/>
                    <a:pt x="1877226" y="55396"/>
                  </a:cubicBezTo>
                  <a:lnTo>
                    <a:pt x="1877226" y="271049"/>
                  </a:lnTo>
                  <a:cubicBezTo>
                    <a:pt x="1877226" y="301643"/>
                    <a:pt x="1852425" y="326445"/>
                    <a:pt x="1821830" y="326445"/>
                  </a:cubicBezTo>
                  <a:lnTo>
                    <a:pt x="55396" y="326445"/>
                  </a:lnTo>
                  <a:cubicBezTo>
                    <a:pt x="24801" y="326445"/>
                    <a:pt x="0" y="301643"/>
                    <a:pt x="0" y="271049"/>
                  </a:cubicBezTo>
                  <a:lnTo>
                    <a:pt x="0" y="55396"/>
                  </a:lnTo>
                  <a:cubicBezTo>
                    <a:pt x="0" y="24801"/>
                    <a:pt x="24801" y="0"/>
                    <a:pt x="55396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77226" cy="364545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(...)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Cet amendement a été suggéré par la Fondation pour la Nature et l’Homme.</a:t>
              </a:r>
            </a:p>
          </p:txBody>
        </p:sp>
      </p:grpSp>
      <p:sp>
        <p:nvSpPr>
          <p:cNvPr id="6" name="AutoShape 6"/>
          <p:cNvSpPr/>
          <p:nvPr/>
        </p:nvSpPr>
        <p:spPr>
          <a:xfrm flipH="1" flipV="1">
            <a:off x="2437622" y="3096050"/>
            <a:ext cx="12921" cy="1722826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1622003" y="2838808"/>
            <a:ext cx="15238678" cy="2304692"/>
            <a:chOff x="0" y="0"/>
            <a:chExt cx="4013479" cy="606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13479" cy="606997"/>
            </a:xfrm>
            <a:custGeom>
              <a:avLst/>
              <a:gdLst/>
              <a:ahLst/>
              <a:cxnLst/>
              <a:rect l="l" t="t" r="r" b="b"/>
              <a:pathLst>
                <a:path w="4013479" h="606997">
                  <a:moveTo>
                    <a:pt x="7113" y="0"/>
                  </a:moveTo>
                  <a:lnTo>
                    <a:pt x="4006366" y="0"/>
                  </a:lnTo>
                  <a:cubicBezTo>
                    <a:pt x="4008253" y="0"/>
                    <a:pt x="4010062" y="749"/>
                    <a:pt x="4011396" y="2083"/>
                  </a:cubicBezTo>
                  <a:cubicBezTo>
                    <a:pt x="4012730" y="3417"/>
                    <a:pt x="4013479" y="5226"/>
                    <a:pt x="4013479" y="7113"/>
                  </a:cubicBezTo>
                  <a:lnTo>
                    <a:pt x="4013479" y="599885"/>
                  </a:lnTo>
                  <a:cubicBezTo>
                    <a:pt x="4013479" y="601771"/>
                    <a:pt x="4012730" y="603580"/>
                    <a:pt x="4011396" y="604914"/>
                  </a:cubicBezTo>
                  <a:cubicBezTo>
                    <a:pt x="4010062" y="606248"/>
                    <a:pt x="4008253" y="606997"/>
                    <a:pt x="4006366" y="606997"/>
                  </a:cubicBezTo>
                  <a:lnTo>
                    <a:pt x="7113" y="606997"/>
                  </a:lnTo>
                  <a:cubicBezTo>
                    <a:pt x="5226" y="606997"/>
                    <a:pt x="3417" y="606248"/>
                    <a:pt x="2083" y="604914"/>
                  </a:cubicBezTo>
                  <a:cubicBezTo>
                    <a:pt x="749" y="603580"/>
                    <a:pt x="0" y="601771"/>
                    <a:pt x="0" y="599885"/>
                  </a:cubicBezTo>
                  <a:lnTo>
                    <a:pt x="0" y="7113"/>
                  </a:lnTo>
                  <a:cubicBezTo>
                    <a:pt x="0" y="5226"/>
                    <a:pt x="749" y="3417"/>
                    <a:pt x="2083" y="2083"/>
                  </a:cubicBezTo>
                  <a:cubicBezTo>
                    <a:pt x="3417" y="749"/>
                    <a:pt x="5226" y="0"/>
                    <a:pt x="7113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13479" cy="645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38525" y="7794339"/>
            <a:ext cx="15283759" cy="1057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 dirty="0" err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Modif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amendement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source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quand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il a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été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suggéré</a:t>
            </a: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par </a:t>
            </a:r>
            <a:r>
              <a:rPr lang="en-US" sz="3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travaillé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avec un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représentant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d’intérêt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et que son origine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exprimée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explicitement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comme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telle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131" y="7673838"/>
            <a:ext cx="37036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55158" y="6496660"/>
            <a:ext cx="614886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suggérer ≠ travailler avec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24708" y="3029308"/>
            <a:ext cx="1413597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quand il a été travaillé avec un représentant d’intérêt et que son origine est exprimée explicitement comme telle.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4708" y="4315183"/>
            <a:ext cx="141359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 amendement est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non-source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dans tous les autres cas.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62314" y="2908806"/>
            <a:ext cx="16275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87750" y="3713082"/>
            <a:ext cx="227242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DÉPART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2439" y="2946585"/>
            <a:ext cx="4465771" cy="1572844"/>
            <a:chOff x="0" y="0"/>
            <a:chExt cx="1176170" cy="4142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6170" cy="414247"/>
            </a:xfrm>
            <a:custGeom>
              <a:avLst/>
              <a:gdLst/>
              <a:ahLst/>
              <a:cxnLst/>
              <a:rect l="l" t="t" r="r" b="b"/>
              <a:pathLst>
                <a:path w="1176170" h="414247">
                  <a:moveTo>
                    <a:pt x="88414" y="0"/>
                  </a:moveTo>
                  <a:lnTo>
                    <a:pt x="1087756" y="0"/>
                  </a:lnTo>
                  <a:cubicBezTo>
                    <a:pt x="1111205" y="0"/>
                    <a:pt x="1133693" y="9315"/>
                    <a:pt x="1150274" y="25896"/>
                  </a:cubicBezTo>
                  <a:cubicBezTo>
                    <a:pt x="1166855" y="42477"/>
                    <a:pt x="1176170" y="64965"/>
                    <a:pt x="1176170" y="88414"/>
                  </a:cubicBezTo>
                  <a:lnTo>
                    <a:pt x="1176170" y="325833"/>
                  </a:lnTo>
                  <a:cubicBezTo>
                    <a:pt x="1176170" y="349282"/>
                    <a:pt x="1166855" y="371770"/>
                    <a:pt x="1150274" y="388351"/>
                  </a:cubicBezTo>
                  <a:cubicBezTo>
                    <a:pt x="1133693" y="404932"/>
                    <a:pt x="1111205" y="414247"/>
                    <a:pt x="1087756" y="414247"/>
                  </a:cubicBezTo>
                  <a:lnTo>
                    <a:pt x="88414" y="414247"/>
                  </a:lnTo>
                  <a:cubicBezTo>
                    <a:pt x="64965" y="414247"/>
                    <a:pt x="42477" y="404932"/>
                    <a:pt x="25896" y="388351"/>
                  </a:cubicBezTo>
                  <a:cubicBezTo>
                    <a:pt x="9315" y="371770"/>
                    <a:pt x="0" y="349282"/>
                    <a:pt x="0" y="325833"/>
                  </a:cubicBezTo>
                  <a:lnTo>
                    <a:pt x="0" y="88414"/>
                  </a:lnTo>
                  <a:cubicBezTo>
                    <a:pt x="0" y="64965"/>
                    <a:pt x="9315" y="42477"/>
                    <a:pt x="25896" y="25896"/>
                  </a:cubicBezTo>
                  <a:cubicBezTo>
                    <a:pt x="42477" y="9315"/>
                    <a:pt x="64965" y="0"/>
                    <a:pt x="8841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6170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Cet amendement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adopté en commission du développement durable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propose (...)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2439" y="2946585"/>
            <a:ext cx="4465771" cy="1572844"/>
            <a:chOff x="0" y="0"/>
            <a:chExt cx="1176170" cy="4142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6170" cy="414247"/>
            </a:xfrm>
            <a:custGeom>
              <a:avLst/>
              <a:gdLst/>
              <a:ahLst/>
              <a:cxnLst/>
              <a:rect l="l" t="t" r="r" b="b"/>
              <a:pathLst>
                <a:path w="1176170" h="414247">
                  <a:moveTo>
                    <a:pt x="88414" y="0"/>
                  </a:moveTo>
                  <a:lnTo>
                    <a:pt x="1087756" y="0"/>
                  </a:lnTo>
                  <a:cubicBezTo>
                    <a:pt x="1111205" y="0"/>
                    <a:pt x="1133693" y="9315"/>
                    <a:pt x="1150274" y="25896"/>
                  </a:cubicBezTo>
                  <a:cubicBezTo>
                    <a:pt x="1166855" y="42477"/>
                    <a:pt x="1176170" y="64965"/>
                    <a:pt x="1176170" y="88414"/>
                  </a:cubicBezTo>
                  <a:lnTo>
                    <a:pt x="1176170" y="325833"/>
                  </a:lnTo>
                  <a:cubicBezTo>
                    <a:pt x="1176170" y="349282"/>
                    <a:pt x="1166855" y="371770"/>
                    <a:pt x="1150274" y="388351"/>
                  </a:cubicBezTo>
                  <a:cubicBezTo>
                    <a:pt x="1133693" y="404932"/>
                    <a:pt x="1111205" y="414247"/>
                    <a:pt x="1087756" y="414247"/>
                  </a:cubicBezTo>
                  <a:lnTo>
                    <a:pt x="88414" y="414247"/>
                  </a:lnTo>
                  <a:cubicBezTo>
                    <a:pt x="64965" y="414247"/>
                    <a:pt x="42477" y="404932"/>
                    <a:pt x="25896" y="388351"/>
                  </a:cubicBezTo>
                  <a:cubicBezTo>
                    <a:pt x="9315" y="371770"/>
                    <a:pt x="0" y="349282"/>
                    <a:pt x="0" y="325833"/>
                  </a:cubicBezTo>
                  <a:lnTo>
                    <a:pt x="0" y="88414"/>
                  </a:lnTo>
                  <a:cubicBezTo>
                    <a:pt x="0" y="64965"/>
                    <a:pt x="9315" y="42477"/>
                    <a:pt x="25896" y="25896"/>
                  </a:cubicBezTo>
                  <a:cubicBezTo>
                    <a:pt x="42477" y="9315"/>
                    <a:pt x="64965" y="0"/>
                    <a:pt x="8841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6170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Cet amendement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adopté en commission du développement durable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propose (...)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422347" y="3005297"/>
            <a:ext cx="11008391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source explicite mais pas un représentant d’intérêt.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=&gt; Redéfinir la RQ vers l’identification de l’origine des     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amendements, quelle qu’elle soit ? Choix : non.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2439" y="2946585"/>
            <a:ext cx="4465771" cy="1572844"/>
            <a:chOff x="0" y="0"/>
            <a:chExt cx="1176170" cy="4142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6170" cy="414247"/>
            </a:xfrm>
            <a:custGeom>
              <a:avLst/>
              <a:gdLst/>
              <a:ahLst/>
              <a:cxnLst/>
              <a:rect l="l" t="t" r="r" b="b"/>
              <a:pathLst>
                <a:path w="1176170" h="414247">
                  <a:moveTo>
                    <a:pt x="88414" y="0"/>
                  </a:moveTo>
                  <a:lnTo>
                    <a:pt x="1087756" y="0"/>
                  </a:lnTo>
                  <a:cubicBezTo>
                    <a:pt x="1111205" y="0"/>
                    <a:pt x="1133693" y="9315"/>
                    <a:pt x="1150274" y="25896"/>
                  </a:cubicBezTo>
                  <a:cubicBezTo>
                    <a:pt x="1166855" y="42477"/>
                    <a:pt x="1176170" y="64965"/>
                    <a:pt x="1176170" y="88414"/>
                  </a:cubicBezTo>
                  <a:lnTo>
                    <a:pt x="1176170" y="325833"/>
                  </a:lnTo>
                  <a:cubicBezTo>
                    <a:pt x="1176170" y="349282"/>
                    <a:pt x="1166855" y="371770"/>
                    <a:pt x="1150274" y="388351"/>
                  </a:cubicBezTo>
                  <a:cubicBezTo>
                    <a:pt x="1133693" y="404932"/>
                    <a:pt x="1111205" y="414247"/>
                    <a:pt x="1087756" y="414247"/>
                  </a:cubicBezTo>
                  <a:lnTo>
                    <a:pt x="88414" y="414247"/>
                  </a:lnTo>
                  <a:cubicBezTo>
                    <a:pt x="64965" y="414247"/>
                    <a:pt x="42477" y="404932"/>
                    <a:pt x="25896" y="388351"/>
                  </a:cubicBezTo>
                  <a:cubicBezTo>
                    <a:pt x="9315" y="371770"/>
                    <a:pt x="0" y="349282"/>
                    <a:pt x="0" y="325833"/>
                  </a:cubicBezTo>
                  <a:lnTo>
                    <a:pt x="0" y="88414"/>
                  </a:lnTo>
                  <a:cubicBezTo>
                    <a:pt x="0" y="64965"/>
                    <a:pt x="9315" y="42477"/>
                    <a:pt x="25896" y="25896"/>
                  </a:cubicBezTo>
                  <a:cubicBezTo>
                    <a:pt x="42477" y="9315"/>
                    <a:pt x="64965" y="0"/>
                    <a:pt x="8841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6170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Cet amendement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adopté en commission du développement durable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propose (...)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2439" y="4978555"/>
            <a:ext cx="5383355" cy="1572844"/>
            <a:chOff x="0" y="0"/>
            <a:chExt cx="1417838" cy="4142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7838" cy="414247"/>
            </a:xfrm>
            <a:custGeom>
              <a:avLst/>
              <a:gdLst/>
              <a:ahLst/>
              <a:cxnLst/>
              <a:rect l="l" t="t" r="r" b="b"/>
              <a:pathLst>
                <a:path w="1417838" h="414247">
                  <a:moveTo>
                    <a:pt x="73344" y="0"/>
                  </a:moveTo>
                  <a:lnTo>
                    <a:pt x="1344494" y="0"/>
                  </a:lnTo>
                  <a:cubicBezTo>
                    <a:pt x="1385001" y="0"/>
                    <a:pt x="1417838" y="32837"/>
                    <a:pt x="1417838" y="73344"/>
                  </a:cubicBezTo>
                  <a:lnTo>
                    <a:pt x="1417838" y="340903"/>
                  </a:lnTo>
                  <a:cubicBezTo>
                    <a:pt x="1417838" y="360355"/>
                    <a:pt x="1410111" y="379010"/>
                    <a:pt x="1396356" y="392765"/>
                  </a:cubicBezTo>
                  <a:cubicBezTo>
                    <a:pt x="1382602" y="406520"/>
                    <a:pt x="1363946" y="414247"/>
                    <a:pt x="1344494" y="414247"/>
                  </a:cubicBezTo>
                  <a:lnTo>
                    <a:pt x="73344" y="414247"/>
                  </a:lnTo>
                  <a:cubicBezTo>
                    <a:pt x="32837" y="414247"/>
                    <a:pt x="0" y="381410"/>
                    <a:pt x="0" y="340903"/>
                  </a:cubicBezTo>
                  <a:lnTo>
                    <a:pt x="0" y="73344"/>
                  </a:lnTo>
                  <a:cubicBezTo>
                    <a:pt x="0" y="32837"/>
                    <a:pt x="32837" y="0"/>
                    <a:pt x="7334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17838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 présent amendement,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soutenu par l’Association des maires de France (AMF)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, vise à supprimer (...)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22347" y="3005297"/>
            <a:ext cx="11008391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source explicite mais pas un représentant d’intérêt.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=&gt; Redéfinir la RQ vers l’identification de l’origine des     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amendements, quelle qu’elle soit ? Choix : non.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2439" y="2946585"/>
            <a:ext cx="4465771" cy="1572844"/>
            <a:chOff x="0" y="0"/>
            <a:chExt cx="1176170" cy="4142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6170" cy="414247"/>
            </a:xfrm>
            <a:custGeom>
              <a:avLst/>
              <a:gdLst/>
              <a:ahLst/>
              <a:cxnLst/>
              <a:rect l="l" t="t" r="r" b="b"/>
              <a:pathLst>
                <a:path w="1176170" h="414247">
                  <a:moveTo>
                    <a:pt x="88414" y="0"/>
                  </a:moveTo>
                  <a:lnTo>
                    <a:pt x="1087756" y="0"/>
                  </a:lnTo>
                  <a:cubicBezTo>
                    <a:pt x="1111205" y="0"/>
                    <a:pt x="1133693" y="9315"/>
                    <a:pt x="1150274" y="25896"/>
                  </a:cubicBezTo>
                  <a:cubicBezTo>
                    <a:pt x="1166855" y="42477"/>
                    <a:pt x="1176170" y="64965"/>
                    <a:pt x="1176170" y="88414"/>
                  </a:cubicBezTo>
                  <a:lnTo>
                    <a:pt x="1176170" y="325833"/>
                  </a:lnTo>
                  <a:cubicBezTo>
                    <a:pt x="1176170" y="349282"/>
                    <a:pt x="1166855" y="371770"/>
                    <a:pt x="1150274" y="388351"/>
                  </a:cubicBezTo>
                  <a:cubicBezTo>
                    <a:pt x="1133693" y="404932"/>
                    <a:pt x="1111205" y="414247"/>
                    <a:pt x="1087756" y="414247"/>
                  </a:cubicBezTo>
                  <a:lnTo>
                    <a:pt x="88414" y="414247"/>
                  </a:lnTo>
                  <a:cubicBezTo>
                    <a:pt x="64965" y="414247"/>
                    <a:pt x="42477" y="404932"/>
                    <a:pt x="25896" y="388351"/>
                  </a:cubicBezTo>
                  <a:cubicBezTo>
                    <a:pt x="9315" y="371770"/>
                    <a:pt x="0" y="349282"/>
                    <a:pt x="0" y="325833"/>
                  </a:cubicBezTo>
                  <a:lnTo>
                    <a:pt x="0" y="88414"/>
                  </a:lnTo>
                  <a:cubicBezTo>
                    <a:pt x="0" y="64965"/>
                    <a:pt x="9315" y="42477"/>
                    <a:pt x="25896" y="25896"/>
                  </a:cubicBezTo>
                  <a:cubicBezTo>
                    <a:pt x="42477" y="9315"/>
                    <a:pt x="64965" y="0"/>
                    <a:pt x="8841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76170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Cet amendement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adopté en commission du développement durable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propose (...)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2439" y="4978555"/>
            <a:ext cx="5383355" cy="1572844"/>
            <a:chOff x="0" y="0"/>
            <a:chExt cx="1417838" cy="4142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7838" cy="414247"/>
            </a:xfrm>
            <a:custGeom>
              <a:avLst/>
              <a:gdLst/>
              <a:ahLst/>
              <a:cxnLst/>
              <a:rect l="l" t="t" r="r" b="b"/>
              <a:pathLst>
                <a:path w="1417838" h="414247">
                  <a:moveTo>
                    <a:pt x="73344" y="0"/>
                  </a:moveTo>
                  <a:lnTo>
                    <a:pt x="1344494" y="0"/>
                  </a:lnTo>
                  <a:cubicBezTo>
                    <a:pt x="1385001" y="0"/>
                    <a:pt x="1417838" y="32837"/>
                    <a:pt x="1417838" y="73344"/>
                  </a:cubicBezTo>
                  <a:lnTo>
                    <a:pt x="1417838" y="340903"/>
                  </a:lnTo>
                  <a:cubicBezTo>
                    <a:pt x="1417838" y="360355"/>
                    <a:pt x="1410111" y="379010"/>
                    <a:pt x="1396356" y="392765"/>
                  </a:cubicBezTo>
                  <a:cubicBezTo>
                    <a:pt x="1382602" y="406520"/>
                    <a:pt x="1363946" y="414247"/>
                    <a:pt x="1344494" y="414247"/>
                  </a:cubicBezTo>
                  <a:lnTo>
                    <a:pt x="73344" y="414247"/>
                  </a:lnTo>
                  <a:cubicBezTo>
                    <a:pt x="32837" y="414247"/>
                    <a:pt x="0" y="381410"/>
                    <a:pt x="0" y="340903"/>
                  </a:cubicBezTo>
                  <a:lnTo>
                    <a:pt x="0" y="73344"/>
                  </a:lnTo>
                  <a:cubicBezTo>
                    <a:pt x="0" y="32837"/>
                    <a:pt x="32837" y="0"/>
                    <a:pt x="7334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17838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 présent amendement,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soutenu par l’Association des maires de France (AMF)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, vise à supprimer (...)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422347" y="3005297"/>
            <a:ext cx="11008391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source explicite mais pas un représentant d’intérêt.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=&gt; Redéfinir la RQ vers l’identification de l’origine des     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amendements, quelle qu’elle soit ? Choix : non.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33020" y="5222052"/>
            <a:ext cx="8913003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associations d’élus et élues sont-elles des “lobbies” ? Choix : non (appui sur HATVP).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1967747" y="7198115"/>
            <a:ext cx="1431" cy="1486031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392439" y="2946585"/>
            <a:ext cx="4465771" cy="1572844"/>
            <a:chOff x="0" y="0"/>
            <a:chExt cx="1176170" cy="4142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76170" cy="414247"/>
            </a:xfrm>
            <a:custGeom>
              <a:avLst/>
              <a:gdLst/>
              <a:ahLst/>
              <a:cxnLst/>
              <a:rect l="l" t="t" r="r" b="b"/>
              <a:pathLst>
                <a:path w="1176170" h="414247">
                  <a:moveTo>
                    <a:pt x="88414" y="0"/>
                  </a:moveTo>
                  <a:lnTo>
                    <a:pt x="1087756" y="0"/>
                  </a:lnTo>
                  <a:cubicBezTo>
                    <a:pt x="1111205" y="0"/>
                    <a:pt x="1133693" y="9315"/>
                    <a:pt x="1150274" y="25896"/>
                  </a:cubicBezTo>
                  <a:cubicBezTo>
                    <a:pt x="1166855" y="42477"/>
                    <a:pt x="1176170" y="64965"/>
                    <a:pt x="1176170" y="88414"/>
                  </a:cubicBezTo>
                  <a:lnTo>
                    <a:pt x="1176170" y="325833"/>
                  </a:lnTo>
                  <a:cubicBezTo>
                    <a:pt x="1176170" y="349282"/>
                    <a:pt x="1166855" y="371770"/>
                    <a:pt x="1150274" y="388351"/>
                  </a:cubicBezTo>
                  <a:cubicBezTo>
                    <a:pt x="1133693" y="404932"/>
                    <a:pt x="1111205" y="414247"/>
                    <a:pt x="1087756" y="414247"/>
                  </a:cubicBezTo>
                  <a:lnTo>
                    <a:pt x="88414" y="414247"/>
                  </a:lnTo>
                  <a:cubicBezTo>
                    <a:pt x="64965" y="414247"/>
                    <a:pt x="42477" y="404932"/>
                    <a:pt x="25896" y="388351"/>
                  </a:cubicBezTo>
                  <a:cubicBezTo>
                    <a:pt x="9315" y="371770"/>
                    <a:pt x="0" y="349282"/>
                    <a:pt x="0" y="325833"/>
                  </a:cubicBezTo>
                  <a:lnTo>
                    <a:pt x="0" y="88414"/>
                  </a:lnTo>
                  <a:cubicBezTo>
                    <a:pt x="0" y="64965"/>
                    <a:pt x="9315" y="42477"/>
                    <a:pt x="25896" y="25896"/>
                  </a:cubicBezTo>
                  <a:cubicBezTo>
                    <a:pt x="42477" y="9315"/>
                    <a:pt x="64965" y="0"/>
                    <a:pt x="8841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76170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Cet amendement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adopté en commission du développement durable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propose (...)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2439" y="4978555"/>
            <a:ext cx="5383355" cy="1572844"/>
            <a:chOff x="0" y="0"/>
            <a:chExt cx="1417838" cy="4142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7838" cy="414247"/>
            </a:xfrm>
            <a:custGeom>
              <a:avLst/>
              <a:gdLst/>
              <a:ahLst/>
              <a:cxnLst/>
              <a:rect l="l" t="t" r="r" b="b"/>
              <a:pathLst>
                <a:path w="1417838" h="414247">
                  <a:moveTo>
                    <a:pt x="73344" y="0"/>
                  </a:moveTo>
                  <a:lnTo>
                    <a:pt x="1344494" y="0"/>
                  </a:lnTo>
                  <a:cubicBezTo>
                    <a:pt x="1385001" y="0"/>
                    <a:pt x="1417838" y="32837"/>
                    <a:pt x="1417838" y="73344"/>
                  </a:cubicBezTo>
                  <a:lnTo>
                    <a:pt x="1417838" y="340903"/>
                  </a:lnTo>
                  <a:cubicBezTo>
                    <a:pt x="1417838" y="360355"/>
                    <a:pt x="1410111" y="379010"/>
                    <a:pt x="1396356" y="392765"/>
                  </a:cubicBezTo>
                  <a:cubicBezTo>
                    <a:pt x="1382602" y="406520"/>
                    <a:pt x="1363946" y="414247"/>
                    <a:pt x="1344494" y="414247"/>
                  </a:cubicBezTo>
                  <a:lnTo>
                    <a:pt x="73344" y="414247"/>
                  </a:lnTo>
                  <a:cubicBezTo>
                    <a:pt x="32837" y="414247"/>
                    <a:pt x="0" y="381410"/>
                    <a:pt x="0" y="340903"/>
                  </a:cubicBezTo>
                  <a:lnTo>
                    <a:pt x="0" y="73344"/>
                  </a:lnTo>
                  <a:cubicBezTo>
                    <a:pt x="0" y="32837"/>
                    <a:pt x="32837" y="0"/>
                    <a:pt x="73344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17838" cy="452347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 présent amendement,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soutenu par l’Association des maires de France (AMF)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, vise à supprimer (...)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54833" y="7131372"/>
            <a:ext cx="15217269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Ajout: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On entend par "représentant d’intérêt" un groupe ou une institution extérieure à la représentation politique, représentant des intérêts privés, conformément à la définition de la HATVP.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2439" y="7010871"/>
            <a:ext cx="37830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22347" y="3005297"/>
            <a:ext cx="11008391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source explicite mais pas un représentant d’intérêt.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 =&gt; Redéfinir la RQ vers l’identification de l’origine des     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 amendements, quelle qu’elle soit ? Choix : non.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33020" y="5222052"/>
            <a:ext cx="8913003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associations d’élus et élues sont-elles des “lobbies” ? Choix : non (appui sur HATVP).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1507" y="2757651"/>
            <a:ext cx="4034633" cy="1596472"/>
            <a:chOff x="0" y="0"/>
            <a:chExt cx="1062619" cy="420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2619" cy="420470"/>
            </a:xfrm>
            <a:custGeom>
              <a:avLst/>
              <a:gdLst/>
              <a:ahLst/>
              <a:cxnLst/>
              <a:rect l="l" t="t" r="r" b="b"/>
              <a:pathLst>
                <a:path w="1062619" h="420470">
                  <a:moveTo>
                    <a:pt x="97862" y="0"/>
                  </a:moveTo>
                  <a:lnTo>
                    <a:pt x="964757" y="0"/>
                  </a:lnTo>
                  <a:cubicBezTo>
                    <a:pt x="1018805" y="0"/>
                    <a:pt x="1062619" y="43814"/>
                    <a:pt x="1062619" y="97862"/>
                  </a:cubicBezTo>
                  <a:lnTo>
                    <a:pt x="1062619" y="322608"/>
                  </a:lnTo>
                  <a:cubicBezTo>
                    <a:pt x="1062619" y="348563"/>
                    <a:pt x="1052309" y="373454"/>
                    <a:pt x="1033956" y="391807"/>
                  </a:cubicBezTo>
                  <a:cubicBezTo>
                    <a:pt x="1015603" y="410160"/>
                    <a:pt x="990712" y="420470"/>
                    <a:pt x="964757" y="420470"/>
                  </a:cubicBezTo>
                  <a:lnTo>
                    <a:pt x="97862" y="420470"/>
                  </a:lnTo>
                  <a:cubicBezTo>
                    <a:pt x="71908" y="420470"/>
                    <a:pt x="47016" y="410160"/>
                    <a:pt x="28663" y="391807"/>
                  </a:cubicBezTo>
                  <a:cubicBezTo>
                    <a:pt x="10310" y="373454"/>
                    <a:pt x="0" y="348563"/>
                    <a:pt x="0" y="322608"/>
                  </a:cubicBezTo>
                  <a:lnTo>
                    <a:pt x="0" y="97862"/>
                  </a:lnTo>
                  <a:cubicBezTo>
                    <a:pt x="0" y="71908"/>
                    <a:pt x="10310" y="47016"/>
                    <a:pt x="28663" y="28663"/>
                  </a:cubicBezTo>
                  <a:cubicBezTo>
                    <a:pt x="47016" y="10310"/>
                    <a:pt x="71908" y="0"/>
                    <a:pt x="97862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62619" cy="458570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(...) Cet amendement a été élaboré en concertation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avec la profession.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1507" y="4575482"/>
            <a:ext cx="4034633" cy="1596472"/>
            <a:chOff x="0" y="0"/>
            <a:chExt cx="1062619" cy="4204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2619" cy="420470"/>
            </a:xfrm>
            <a:custGeom>
              <a:avLst/>
              <a:gdLst/>
              <a:ahLst/>
              <a:cxnLst/>
              <a:rect l="l" t="t" r="r" b="b"/>
              <a:pathLst>
                <a:path w="1062619" h="420470">
                  <a:moveTo>
                    <a:pt x="97862" y="0"/>
                  </a:moveTo>
                  <a:lnTo>
                    <a:pt x="964757" y="0"/>
                  </a:lnTo>
                  <a:cubicBezTo>
                    <a:pt x="1018805" y="0"/>
                    <a:pt x="1062619" y="43814"/>
                    <a:pt x="1062619" y="97862"/>
                  </a:cubicBezTo>
                  <a:lnTo>
                    <a:pt x="1062619" y="322608"/>
                  </a:lnTo>
                  <a:cubicBezTo>
                    <a:pt x="1062619" y="348563"/>
                    <a:pt x="1052309" y="373454"/>
                    <a:pt x="1033956" y="391807"/>
                  </a:cubicBezTo>
                  <a:cubicBezTo>
                    <a:pt x="1015603" y="410160"/>
                    <a:pt x="990712" y="420470"/>
                    <a:pt x="964757" y="420470"/>
                  </a:cubicBezTo>
                  <a:lnTo>
                    <a:pt x="97862" y="420470"/>
                  </a:lnTo>
                  <a:cubicBezTo>
                    <a:pt x="71908" y="420470"/>
                    <a:pt x="47016" y="410160"/>
                    <a:pt x="28663" y="391807"/>
                  </a:cubicBezTo>
                  <a:cubicBezTo>
                    <a:pt x="10310" y="373454"/>
                    <a:pt x="0" y="348563"/>
                    <a:pt x="0" y="322608"/>
                  </a:cubicBezTo>
                  <a:lnTo>
                    <a:pt x="0" y="97862"/>
                  </a:lnTo>
                  <a:cubicBezTo>
                    <a:pt x="0" y="71908"/>
                    <a:pt x="10310" y="47016"/>
                    <a:pt x="28663" y="28663"/>
                  </a:cubicBezTo>
                  <a:cubicBezTo>
                    <a:pt x="47016" y="10310"/>
                    <a:pt x="71908" y="0"/>
                    <a:pt x="97862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62619" cy="458570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(...) Cet amendement a été travaillé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avec le collectif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oui au train de nuit.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07091" y="3528242"/>
            <a:ext cx="10822004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“profession” et “collectif” ne rentrent pas dans la définition de la HATVP.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1507" y="2757651"/>
            <a:ext cx="4034633" cy="1596472"/>
            <a:chOff x="0" y="0"/>
            <a:chExt cx="1062619" cy="4204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619" cy="420470"/>
            </a:xfrm>
            <a:custGeom>
              <a:avLst/>
              <a:gdLst/>
              <a:ahLst/>
              <a:cxnLst/>
              <a:rect l="l" t="t" r="r" b="b"/>
              <a:pathLst>
                <a:path w="1062619" h="420470">
                  <a:moveTo>
                    <a:pt x="97862" y="0"/>
                  </a:moveTo>
                  <a:lnTo>
                    <a:pt x="964757" y="0"/>
                  </a:lnTo>
                  <a:cubicBezTo>
                    <a:pt x="1018805" y="0"/>
                    <a:pt x="1062619" y="43814"/>
                    <a:pt x="1062619" y="97862"/>
                  </a:cubicBezTo>
                  <a:lnTo>
                    <a:pt x="1062619" y="322608"/>
                  </a:lnTo>
                  <a:cubicBezTo>
                    <a:pt x="1062619" y="348563"/>
                    <a:pt x="1052309" y="373454"/>
                    <a:pt x="1033956" y="391807"/>
                  </a:cubicBezTo>
                  <a:cubicBezTo>
                    <a:pt x="1015603" y="410160"/>
                    <a:pt x="990712" y="420470"/>
                    <a:pt x="964757" y="420470"/>
                  </a:cubicBezTo>
                  <a:lnTo>
                    <a:pt x="97862" y="420470"/>
                  </a:lnTo>
                  <a:cubicBezTo>
                    <a:pt x="71908" y="420470"/>
                    <a:pt x="47016" y="410160"/>
                    <a:pt x="28663" y="391807"/>
                  </a:cubicBezTo>
                  <a:cubicBezTo>
                    <a:pt x="10310" y="373454"/>
                    <a:pt x="0" y="348563"/>
                    <a:pt x="0" y="322608"/>
                  </a:cubicBezTo>
                  <a:lnTo>
                    <a:pt x="0" y="97862"/>
                  </a:lnTo>
                  <a:cubicBezTo>
                    <a:pt x="0" y="71908"/>
                    <a:pt x="10310" y="47016"/>
                    <a:pt x="28663" y="28663"/>
                  </a:cubicBezTo>
                  <a:cubicBezTo>
                    <a:pt x="47016" y="10310"/>
                    <a:pt x="71908" y="0"/>
                    <a:pt x="97862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62619" cy="458570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(...) Cet amendement a été élaboré en concertation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avec la profession.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1507" y="4575482"/>
            <a:ext cx="4034633" cy="1596472"/>
            <a:chOff x="0" y="0"/>
            <a:chExt cx="1062619" cy="4204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2619" cy="420470"/>
            </a:xfrm>
            <a:custGeom>
              <a:avLst/>
              <a:gdLst/>
              <a:ahLst/>
              <a:cxnLst/>
              <a:rect l="l" t="t" r="r" b="b"/>
              <a:pathLst>
                <a:path w="1062619" h="420470">
                  <a:moveTo>
                    <a:pt x="97862" y="0"/>
                  </a:moveTo>
                  <a:lnTo>
                    <a:pt x="964757" y="0"/>
                  </a:lnTo>
                  <a:cubicBezTo>
                    <a:pt x="1018805" y="0"/>
                    <a:pt x="1062619" y="43814"/>
                    <a:pt x="1062619" y="97862"/>
                  </a:cubicBezTo>
                  <a:lnTo>
                    <a:pt x="1062619" y="322608"/>
                  </a:lnTo>
                  <a:cubicBezTo>
                    <a:pt x="1062619" y="348563"/>
                    <a:pt x="1052309" y="373454"/>
                    <a:pt x="1033956" y="391807"/>
                  </a:cubicBezTo>
                  <a:cubicBezTo>
                    <a:pt x="1015603" y="410160"/>
                    <a:pt x="990712" y="420470"/>
                    <a:pt x="964757" y="420470"/>
                  </a:cubicBezTo>
                  <a:lnTo>
                    <a:pt x="97862" y="420470"/>
                  </a:lnTo>
                  <a:cubicBezTo>
                    <a:pt x="71908" y="420470"/>
                    <a:pt x="47016" y="410160"/>
                    <a:pt x="28663" y="391807"/>
                  </a:cubicBezTo>
                  <a:cubicBezTo>
                    <a:pt x="10310" y="373454"/>
                    <a:pt x="0" y="348563"/>
                    <a:pt x="0" y="322608"/>
                  </a:cubicBezTo>
                  <a:lnTo>
                    <a:pt x="0" y="97862"/>
                  </a:lnTo>
                  <a:cubicBezTo>
                    <a:pt x="0" y="71908"/>
                    <a:pt x="10310" y="47016"/>
                    <a:pt x="28663" y="28663"/>
                  </a:cubicBezTo>
                  <a:cubicBezTo>
                    <a:pt x="47016" y="10310"/>
                    <a:pt x="71908" y="0"/>
                    <a:pt x="97862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62619" cy="458570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(...) Cet amendement a été travaillé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avec le collectif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oui au train de nuit.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539552" y="4527857"/>
            <a:ext cx="1082200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=&gt; Les inclure ? Choix : oui.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967747" y="6647954"/>
            <a:ext cx="0" cy="2270348"/>
          </a:xfrm>
          <a:prstGeom prst="line">
            <a:avLst/>
          </a:prstGeom>
          <a:ln w="95250" cap="flat">
            <a:solidFill>
              <a:srgbClr val="EA6F2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254833" y="6581212"/>
            <a:ext cx="152172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Modif: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On entend par "représentant d’intérêt" un groupe ou une institution extérieure à la représentation politique, représentant des intérêts privés.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92439" y="6460710"/>
            <a:ext cx="36972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EA6F2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7091" y="3528242"/>
            <a:ext cx="10822004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PB : “profession” et “collectif” ne rentrent pas dans la définition de la HATVP.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51507" y="2757651"/>
            <a:ext cx="4034633" cy="1596472"/>
            <a:chOff x="0" y="0"/>
            <a:chExt cx="1062619" cy="4204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2619" cy="420470"/>
            </a:xfrm>
            <a:custGeom>
              <a:avLst/>
              <a:gdLst/>
              <a:ahLst/>
              <a:cxnLst/>
              <a:rect l="l" t="t" r="r" b="b"/>
              <a:pathLst>
                <a:path w="1062619" h="420470">
                  <a:moveTo>
                    <a:pt x="97862" y="0"/>
                  </a:moveTo>
                  <a:lnTo>
                    <a:pt x="964757" y="0"/>
                  </a:lnTo>
                  <a:cubicBezTo>
                    <a:pt x="1018805" y="0"/>
                    <a:pt x="1062619" y="43814"/>
                    <a:pt x="1062619" y="97862"/>
                  </a:cubicBezTo>
                  <a:lnTo>
                    <a:pt x="1062619" y="322608"/>
                  </a:lnTo>
                  <a:cubicBezTo>
                    <a:pt x="1062619" y="348563"/>
                    <a:pt x="1052309" y="373454"/>
                    <a:pt x="1033956" y="391807"/>
                  </a:cubicBezTo>
                  <a:cubicBezTo>
                    <a:pt x="1015603" y="410160"/>
                    <a:pt x="990712" y="420470"/>
                    <a:pt x="964757" y="420470"/>
                  </a:cubicBezTo>
                  <a:lnTo>
                    <a:pt x="97862" y="420470"/>
                  </a:lnTo>
                  <a:cubicBezTo>
                    <a:pt x="71908" y="420470"/>
                    <a:pt x="47016" y="410160"/>
                    <a:pt x="28663" y="391807"/>
                  </a:cubicBezTo>
                  <a:cubicBezTo>
                    <a:pt x="10310" y="373454"/>
                    <a:pt x="0" y="348563"/>
                    <a:pt x="0" y="322608"/>
                  </a:cubicBezTo>
                  <a:lnTo>
                    <a:pt x="0" y="97862"/>
                  </a:lnTo>
                  <a:cubicBezTo>
                    <a:pt x="0" y="71908"/>
                    <a:pt x="10310" y="47016"/>
                    <a:pt x="28663" y="28663"/>
                  </a:cubicBezTo>
                  <a:cubicBezTo>
                    <a:pt x="47016" y="10310"/>
                    <a:pt x="71908" y="0"/>
                    <a:pt x="97862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62619" cy="458570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(...) Cet amendement a été élaboré en concertation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avec la profession.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54833" y="7861027"/>
            <a:ext cx="152172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1">
                <a:solidFill>
                  <a:srgbClr val="000000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Ajout: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Cette définition reprend celle de la HATVP mais élargit son champ en n'exigeant pas une personnalité morale du représentant d'intérêt.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51507" y="4575482"/>
            <a:ext cx="4034633" cy="1596472"/>
            <a:chOff x="0" y="0"/>
            <a:chExt cx="1062619" cy="4204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2619" cy="420470"/>
            </a:xfrm>
            <a:custGeom>
              <a:avLst/>
              <a:gdLst/>
              <a:ahLst/>
              <a:cxnLst/>
              <a:rect l="l" t="t" r="r" b="b"/>
              <a:pathLst>
                <a:path w="1062619" h="420470">
                  <a:moveTo>
                    <a:pt x="97862" y="0"/>
                  </a:moveTo>
                  <a:lnTo>
                    <a:pt x="964757" y="0"/>
                  </a:lnTo>
                  <a:cubicBezTo>
                    <a:pt x="1018805" y="0"/>
                    <a:pt x="1062619" y="43814"/>
                    <a:pt x="1062619" y="97862"/>
                  </a:cubicBezTo>
                  <a:lnTo>
                    <a:pt x="1062619" y="322608"/>
                  </a:lnTo>
                  <a:cubicBezTo>
                    <a:pt x="1062619" y="348563"/>
                    <a:pt x="1052309" y="373454"/>
                    <a:pt x="1033956" y="391807"/>
                  </a:cubicBezTo>
                  <a:cubicBezTo>
                    <a:pt x="1015603" y="410160"/>
                    <a:pt x="990712" y="420470"/>
                    <a:pt x="964757" y="420470"/>
                  </a:cubicBezTo>
                  <a:lnTo>
                    <a:pt x="97862" y="420470"/>
                  </a:lnTo>
                  <a:cubicBezTo>
                    <a:pt x="71908" y="420470"/>
                    <a:pt x="47016" y="410160"/>
                    <a:pt x="28663" y="391807"/>
                  </a:cubicBezTo>
                  <a:cubicBezTo>
                    <a:pt x="10310" y="373454"/>
                    <a:pt x="0" y="348563"/>
                    <a:pt x="0" y="322608"/>
                  </a:cubicBezTo>
                  <a:lnTo>
                    <a:pt x="0" y="97862"/>
                  </a:lnTo>
                  <a:cubicBezTo>
                    <a:pt x="0" y="71908"/>
                    <a:pt x="10310" y="47016"/>
                    <a:pt x="28663" y="28663"/>
                  </a:cubicBezTo>
                  <a:cubicBezTo>
                    <a:pt x="47016" y="10310"/>
                    <a:pt x="71908" y="0"/>
                    <a:pt x="97862" y="0"/>
                  </a:cubicBezTo>
                  <a:close/>
                </a:path>
              </a:pathLst>
            </a:custGeom>
            <a:ln w="28575" cap="rnd">
              <a:solidFill>
                <a:srgbClr val="EA6F26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62619" cy="458570"/>
            </a:xfrm>
            <a:prstGeom prst="rect">
              <a:avLst/>
            </a:prstGeom>
          </p:spPr>
          <p:txBody>
            <a:bodyPr lIns="304800" tIns="304800" rIns="304800" bIns="304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(...) Cet amendement a été travaillé </a:t>
              </a:r>
              <a:r>
                <a:rPr lang="en-US" sz="18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avec le collectif </a:t>
              </a: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oui au train de nuit.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539552" y="4527857"/>
            <a:ext cx="1082200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=&gt; Les inclure ? Choix : oui.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89242" y="2523717"/>
            <a:ext cx="14326678" cy="6608180"/>
          </a:xfrm>
          <a:custGeom>
            <a:avLst/>
            <a:gdLst/>
            <a:ahLst/>
            <a:cxnLst/>
            <a:rect l="l" t="t" r="r" b="b"/>
            <a:pathLst>
              <a:path w="14326678" h="6608180">
                <a:moveTo>
                  <a:pt x="0" y="0"/>
                </a:moveTo>
                <a:lnTo>
                  <a:pt x="14326678" y="0"/>
                </a:lnTo>
                <a:lnTo>
                  <a:pt x="14326678" y="6608181"/>
                </a:lnTo>
                <a:lnTo>
                  <a:pt x="0" y="6608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2538984"/>
            <a:ext cx="209527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Codebook final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294930" y="3889548"/>
            <a:ext cx="9698140" cy="5061217"/>
          </a:xfrm>
          <a:custGeom>
            <a:avLst/>
            <a:gdLst/>
            <a:ahLst/>
            <a:cxnLst/>
            <a:rect l="l" t="t" r="r" b="b"/>
            <a:pathLst>
              <a:path w="9698140" h="5061217">
                <a:moveTo>
                  <a:pt x="0" y="0"/>
                </a:moveTo>
                <a:lnTo>
                  <a:pt x="9698140" y="0"/>
                </a:lnTo>
                <a:lnTo>
                  <a:pt x="9698140" y="5061217"/>
                </a:lnTo>
                <a:lnTo>
                  <a:pt x="0" y="5061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99110" y="2182920"/>
            <a:ext cx="1573632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Maintenant que notre codebook est fixé, on peut annoter nos trois jeux de données.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Mêmes possibilités : annotation aléatoire, puis augmentée (search, active learning)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3 : annoter les jeux de données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4035355" y="3300161"/>
            <a:ext cx="2849060" cy="757382"/>
          </a:xfrm>
          <a:custGeom>
            <a:avLst/>
            <a:gdLst/>
            <a:ahLst/>
            <a:cxnLst/>
            <a:rect l="l" t="t" r="r" b="b"/>
            <a:pathLst>
              <a:path w="2849060" h="757382">
                <a:moveTo>
                  <a:pt x="0" y="0"/>
                </a:moveTo>
                <a:lnTo>
                  <a:pt x="2849059" y="0"/>
                </a:lnTo>
                <a:lnTo>
                  <a:pt x="2849059" y="757382"/>
                </a:lnTo>
                <a:lnTo>
                  <a:pt x="0" y="757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2847532" y="2942638"/>
            <a:ext cx="1069561" cy="419714"/>
          </a:xfrm>
          <a:custGeom>
            <a:avLst/>
            <a:gdLst/>
            <a:ahLst/>
            <a:cxnLst/>
            <a:rect l="l" t="t" r="r" b="b"/>
            <a:pathLst>
              <a:path w="1069561" h="419714">
                <a:moveTo>
                  <a:pt x="0" y="0"/>
                </a:moveTo>
                <a:quadBezTo>
                  <a:pt x="395968" y="620904"/>
                  <a:pt x="1069561" y="323273"/>
                </a:quadBezTo>
              </a:path>
            </a:pathLst>
          </a:cu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 rot="-3443471">
            <a:off x="12755141" y="2934328"/>
            <a:ext cx="324660" cy="283652"/>
            <a:chOff x="0" y="0"/>
            <a:chExt cx="432881" cy="378203"/>
          </a:xfrm>
        </p:grpSpPr>
        <p:sp>
          <p:nvSpPr>
            <p:cNvPr id="6" name="AutoShape 6"/>
            <p:cNvSpPr/>
            <p:nvPr/>
          </p:nvSpPr>
          <p:spPr>
            <a:xfrm flipV="1">
              <a:off x="8480" y="12417"/>
              <a:ext cx="319420" cy="218148"/>
            </a:xfrm>
            <a:prstGeom prst="line">
              <a:avLst/>
            </a:prstGeom>
            <a:ln w="30073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 flipH="1" flipV="1">
              <a:off x="306196" y="21560"/>
              <a:ext cx="112360" cy="352072"/>
            </a:xfrm>
            <a:prstGeom prst="line">
              <a:avLst/>
            </a:prstGeom>
            <a:ln w="30073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429569"/>
            <a:ext cx="9058526" cy="5661579"/>
          </a:xfrm>
          <a:custGeom>
            <a:avLst/>
            <a:gdLst/>
            <a:ahLst/>
            <a:cxnLst/>
            <a:rect l="l" t="t" r="r" b="b"/>
            <a:pathLst>
              <a:path w="9058526" h="5661579">
                <a:moveTo>
                  <a:pt x="0" y="0"/>
                </a:moveTo>
                <a:lnTo>
                  <a:pt x="9058526" y="0"/>
                </a:lnTo>
                <a:lnTo>
                  <a:pt x="9058526" y="5661578"/>
                </a:lnTo>
                <a:lnTo>
                  <a:pt x="0" y="5661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0521898" y="5238643"/>
            <a:ext cx="7766102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essaie </a:t>
            </a: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CamembertaV2base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</a:t>
            </a:r>
            <a:r>
              <a:rPr lang="en-US" sz="27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ModernCamemBERTbase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Francophones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Fenêtre de contexte de +1024 tokens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d’entraînement conviennent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234617"/>
            <a:ext cx="15539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Choisir un ou des modèles dont les caractéristiques correspondent à nos données.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63586" y="2989011"/>
            <a:ext cx="27684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cf. documentation sur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14480" y="2344285"/>
            <a:ext cx="10690564" cy="6681602"/>
          </a:xfrm>
          <a:custGeom>
            <a:avLst/>
            <a:gdLst/>
            <a:ahLst/>
            <a:cxnLst/>
            <a:rect l="l" t="t" r="r" b="b"/>
            <a:pathLst>
              <a:path w="10690564" h="6681602">
                <a:moveTo>
                  <a:pt x="0" y="0"/>
                </a:moveTo>
                <a:lnTo>
                  <a:pt x="10690564" y="0"/>
                </a:lnTo>
                <a:lnTo>
                  <a:pt x="10690564" y="6681602"/>
                </a:lnTo>
                <a:lnTo>
                  <a:pt x="0" y="668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150821" y="2644429"/>
            <a:ext cx="4948809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Augmenter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Batch Size*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Gradient Accumulation**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car 1024 tokens par texte.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266937"/>
            <a:ext cx="5206745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*Batch Size = nombre d’exemples que le modèle traite à la fois (en mémoire).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**Gradient Accumulation = nombre de batch additionnés pour modifier les poids.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68189" y="2323390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Trois informations utiles sur l’entraînement du modèle.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5120784" y="3839586"/>
            <a:ext cx="10020083" cy="4398281"/>
          </a:xfrm>
          <a:custGeom>
            <a:avLst/>
            <a:gdLst/>
            <a:ahLst/>
            <a:cxnLst/>
            <a:rect l="l" t="t" r="r" b="b"/>
            <a:pathLst>
              <a:path w="10020083" h="4398281">
                <a:moveTo>
                  <a:pt x="0" y="0"/>
                </a:moveTo>
                <a:lnTo>
                  <a:pt x="10020083" y="0"/>
                </a:lnTo>
                <a:lnTo>
                  <a:pt x="10020083" y="4398281"/>
                </a:lnTo>
                <a:lnTo>
                  <a:pt x="0" y="4398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831" r="-5093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7183767"/>
            <a:ext cx="262034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Vérifier que l’erreur ne provient pas d’une erreur d’annotation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4550343" y="7426455"/>
            <a:ext cx="417138" cy="26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8189" y="2323390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Trois informations utiles sur l’entraînement du modèle.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8189" y="2800801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1) La matrice de confusion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4" name="Freeform 4"/>
          <p:cNvSpPr/>
          <p:nvPr/>
        </p:nvSpPr>
        <p:spPr>
          <a:xfrm>
            <a:off x="2358389" y="3939964"/>
            <a:ext cx="13571221" cy="4453057"/>
          </a:xfrm>
          <a:custGeom>
            <a:avLst/>
            <a:gdLst/>
            <a:ahLst/>
            <a:cxnLst/>
            <a:rect l="l" t="t" r="r" b="b"/>
            <a:pathLst>
              <a:path w="13571221" h="4453057">
                <a:moveTo>
                  <a:pt x="0" y="0"/>
                </a:moveTo>
                <a:lnTo>
                  <a:pt x="13571222" y="0"/>
                </a:lnTo>
                <a:lnTo>
                  <a:pt x="13571222" y="4453057"/>
                </a:lnTo>
                <a:lnTo>
                  <a:pt x="0" y="445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568189" y="2323390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Trois informations utiles sur l’entraînement du modèle.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8189" y="2800801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2) Les scores de performance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5753246" y="6812811"/>
            <a:ext cx="4870101" cy="2370220"/>
          </a:xfrm>
          <a:custGeom>
            <a:avLst/>
            <a:gdLst/>
            <a:ahLst/>
            <a:cxnLst/>
            <a:rect l="l" t="t" r="r" b="b"/>
            <a:pathLst>
              <a:path w="4870101" h="2370220">
                <a:moveTo>
                  <a:pt x="0" y="0"/>
                </a:moveTo>
                <a:lnTo>
                  <a:pt x="4870101" y="0"/>
                </a:lnTo>
                <a:lnTo>
                  <a:pt x="4870101" y="2370220"/>
                </a:lnTo>
                <a:lnTo>
                  <a:pt x="0" y="2370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902" t="-61757" r="-25255" b="-9521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8335669" y="3707596"/>
            <a:ext cx="4868343" cy="2094609"/>
          </a:xfrm>
          <a:custGeom>
            <a:avLst/>
            <a:gdLst/>
            <a:ahLst/>
            <a:cxnLst/>
            <a:rect l="l" t="t" r="r" b="b"/>
            <a:pathLst>
              <a:path w="4868343" h="2094609">
                <a:moveTo>
                  <a:pt x="0" y="0"/>
                </a:moveTo>
                <a:lnTo>
                  <a:pt x="4868343" y="0"/>
                </a:lnTo>
                <a:lnTo>
                  <a:pt x="4868343" y="2094609"/>
                </a:lnTo>
                <a:lnTo>
                  <a:pt x="0" y="2094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896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scores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15166" y="2704710"/>
            <a:ext cx="2150640" cy="86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Combien d’éléments sélectionnés sont pertinents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12150" y="2704710"/>
            <a:ext cx="1947809" cy="86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Combien d’éléments pertinents sont sélectionnés ?</a:t>
            </a:r>
          </a:p>
        </p:txBody>
      </p:sp>
      <p:sp>
        <p:nvSpPr>
          <p:cNvPr id="8" name="Freeform 8"/>
          <p:cNvSpPr/>
          <p:nvPr/>
        </p:nvSpPr>
        <p:spPr>
          <a:xfrm>
            <a:off x="4555736" y="2296082"/>
            <a:ext cx="3346830" cy="4329961"/>
          </a:xfrm>
          <a:custGeom>
            <a:avLst/>
            <a:gdLst/>
            <a:ahLst/>
            <a:cxnLst/>
            <a:rect l="l" t="t" r="r" b="b"/>
            <a:pathLst>
              <a:path w="3346830" h="4329961">
                <a:moveTo>
                  <a:pt x="0" y="0"/>
                </a:moveTo>
                <a:lnTo>
                  <a:pt x="3346829" y="0"/>
                </a:lnTo>
                <a:lnTo>
                  <a:pt x="3346829" y="4329960"/>
                </a:lnTo>
                <a:lnTo>
                  <a:pt x="0" y="4329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4402536" y="6519553"/>
            <a:ext cx="2150640" cy="19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sz="1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(= jugés positifs)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05198" y="2163561"/>
            <a:ext cx="2150640" cy="19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sz="1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(= réellement positifs)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87658" y="5578348"/>
            <a:ext cx="2196792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"/>
              </a:lnSpc>
              <a:spcBef>
                <a:spcPct val="0"/>
              </a:spcBef>
            </a:pPr>
            <a:r>
              <a:rPr lang="en-US" sz="1500">
                <a:solidFill>
                  <a:srgbClr val="939596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1 = le modèle sélectionne presque tous les éléments pertinents.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7092" y="5578348"/>
            <a:ext cx="2173403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"/>
              </a:lnSpc>
              <a:spcBef>
                <a:spcPct val="0"/>
              </a:spcBef>
            </a:pPr>
            <a:r>
              <a:rPr lang="en-US" sz="1500">
                <a:solidFill>
                  <a:srgbClr val="939596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1 = le modèle ne sélectionne presque que des éléments pertinents.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5753246" y="6802934"/>
            <a:ext cx="6100055" cy="2380098"/>
          </a:xfrm>
          <a:custGeom>
            <a:avLst/>
            <a:gdLst/>
            <a:ahLst/>
            <a:cxnLst/>
            <a:rect l="l" t="t" r="r" b="b"/>
            <a:pathLst>
              <a:path w="6100055" h="2380098">
                <a:moveTo>
                  <a:pt x="0" y="0"/>
                </a:moveTo>
                <a:lnTo>
                  <a:pt x="6100056" y="0"/>
                </a:lnTo>
                <a:lnTo>
                  <a:pt x="6100056" y="2380097"/>
                </a:lnTo>
                <a:lnTo>
                  <a:pt x="0" y="2380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4304" t="-61085" b="-94824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 rot="6396356">
            <a:off x="11735432" y="6603086"/>
            <a:ext cx="401263" cy="829113"/>
            <a:chOff x="0" y="0"/>
            <a:chExt cx="535018" cy="1105484"/>
          </a:xfrm>
        </p:grpSpPr>
        <p:sp>
          <p:nvSpPr>
            <p:cNvPr id="5" name="Freeform 5"/>
            <p:cNvSpPr/>
            <p:nvPr/>
          </p:nvSpPr>
          <p:spPr>
            <a:xfrm>
              <a:off x="135771" y="11149"/>
              <a:ext cx="387109" cy="1020352"/>
            </a:xfrm>
            <a:custGeom>
              <a:avLst/>
              <a:gdLst/>
              <a:ahLst/>
              <a:cxnLst/>
              <a:rect l="l" t="t" r="r" b="b"/>
              <a:pathLst>
                <a:path w="387109" h="1020352">
                  <a:moveTo>
                    <a:pt x="98543" y="0"/>
                  </a:moveTo>
                  <a:quadBezTo>
                    <a:pt x="-195312" y="634086"/>
                    <a:pt x="387109" y="1020352"/>
                  </a:quadBezTo>
                </a:path>
              </a:pathLst>
            </a:custGeom>
            <a:ln w="2675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15330" y="9586"/>
              <a:ext cx="227349" cy="155269"/>
            </a:xfrm>
            <a:prstGeom prst="line">
              <a:avLst/>
            </a:prstGeom>
            <a:ln w="2140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AutoShape 7"/>
            <p:cNvSpPr/>
            <p:nvPr/>
          </p:nvSpPr>
          <p:spPr>
            <a:xfrm flipH="1" flipV="1">
              <a:off x="227231" y="16094"/>
              <a:ext cx="79973" cy="250589"/>
            </a:xfrm>
            <a:prstGeom prst="line">
              <a:avLst/>
            </a:prstGeom>
            <a:ln w="21404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Freeform 8"/>
          <p:cNvSpPr/>
          <p:nvPr/>
        </p:nvSpPr>
        <p:spPr>
          <a:xfrm>
            <a:off x="12493493" y="9190312"/>
            <a:ext cx="4559594" cy="529239"/>
          </a:xfrm>
          <a:custGeom>
            <a:avLst/>
            <a:gdLst/>
            <a:ahLst/>
            <a:cxnLst/>
            <a:rect l="l" t="t" r="r" b="b"/>
            <a:pathLst>
              <a:path w="4559594" h="529239">
                <a:moveTo>
                  <a:pt x="0" y="0"/>
                </a:moveTo>
                <a:lnTo>
                  <a:pt x="4559594" y="0"/>
                </a:lnTo>
                <a:lnTo>
                  <a:pt x="4559594" y="529239"/>
                </a:lnTo>
                <a:lnTo>
                  <a:pt x="0" y="529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8" b="-478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/>
          <p:cNvGrpSpPr/>
          <p:nvPr/>
        </p:nvGrpSpPr>
        <p:grpSpPr>
          <a:xfrm rot="4158669">
            <a:off x="13255350" y="8785399"/>
            <a:ext cx="271269" cy="560511"/>
            <a:chOff x="0" y="0"/>
            <a:chExt cx="361692" cy="747348"/>
          </a:xfrm>
        </p:grpSpPr>
        <p:sp>
          <p:nvSpPr>
            <p:cNvPr id="10" name="Freeform 10"/>
            <p:cNvSpPr/>
            <p:nvPr/>
          </p:nvSpPr>
          <p:spPr>
            <a:xfrm>
              <a:off x="91786" y="7537"/>
              <a:ext cx="261700" cy="689796"/>
            </a:xfrm>
            <a:custGeom>
              <a:avLst/>
              <a:gdLst/>
              <a:ahLst/>
              <a:cxnLst/>
              <a:rect l="l" t="t" r="r" b="b"/>
              <a:pathLst>
                <a:path w="261700" h="689796">
                  <a:moveTo>
                    <a:pt x="66619" y="0"/>
                  </a:moveTo>
                  <a:quadBezTo>
                    <a:pt x="-132038" y="428666"/>
                    <a:pt x="261700" y="689796"/>
                  </a:quadBezTo>
                </a:path>
              </a:pathLst>
            </a:custGeom>
            <a:ln w="1808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10363" y="6480"/>
              <a:ext cx="153697" cy="104967"/>
            </a:xfrm>
            <a:prstGeom prst="line">
              <a:avLst/>
            </a:prstGeom>
            <a:ln w="1447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AutoShape 12"/>
            <p:cNvSpPr/>
            <p:nvPr/>
          </p:nvSpPr>
          <p:spPr>
            <a:xfrm flipH="1" flipV="1">
              <a:off x="153616" y="10880"/>
              <a:ext cx="54065" cy="169408"/>
            </a:xfrm>
            <a:prstGeom prst="line">
              <a:avLst/>
            </a:prstGeom>
            <a:ln w="1447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Freeform 13"/>
          <p:cNvSpPr/>
          <p:nvPr/>
        </p:nvSpPr>
        <p:spPr>
          <a:xfrm>
            <a:off x="8335669" y="3707596"/>
            <a:ext cx="4868343" cy="2094609"/>
          </a:xfrm>
          <a:custGeom>
            <a:avLst/>
            <a:gdLst/>
            <a:ahLst/>
            <a:cxnLst/>
            <a:rect l="l" t="t" r="r" b="b"/>
            <a:pathLst>
              <a:path w="4868343" h="2094609">
                <a:moveTo>
                  <a:pt x="0" y="0"/>
                </a:moveTo>
                <a:lnTo>
                  <a:pt x="4868343" y="0"/>
                </a:lnTo>
                <a:lnTo>
                  <a:pt x="4868343" y="2094609"/>
                </a:lnTo>
                <a:lnTo>
                  <a:pt x="0" y="2094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896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scores 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58236" y="8758949"/>
            <a:ext cx="493324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moyenne des F1 de chaque label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93493" y="7070468"/>
            <a:ext cx="260584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moyenne harmonique de recall et precision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5166" y="2704710"/>
            <a:ext cx="2150640" cy="86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Combien d’éléments sélectionnés sont pertinents 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12150" y="2704710"/>
            <a:ext cx="1947809" cy="86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1"/>
              </a:lnSpc>
            </a:pPr>
            <a:r>
              <a:rPr lang="en-US" sz="1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Combien d’éléments pertinents sont sélectionnés ?</a:t>
            </a:r>
          </a:p>
        </p:txBody>
      </p:sp>
      <p:sp>
        <p:nvSpPr>
          <p:cNvPr id="19" name="Freeform 19"/>
          <p:cNvSpPr/>
          <p:nvPr/>
        </p:nvSpPr>
        <p:spPr>
          <a:xfrm>
            <a:off x="4555736" y="2296082"/>
            <a:ext cx="3346830" cy="4329961"/>
          </a:xfrm>
          <a:custGeom>
            <a:avLst/>
            <a:gdLst/>
            <a:ahLst/>
            <a:cxnLst/>
            <a:rect l="l" t="t" r="r" b="b"/>
            <a:pathLst>
              <a:path w="3346830" h="4329961">
                <a:moveTo>
                  <a:pt x="0" y="0"/>
                </a:moveTo>
                <a:lnTo>
                  <a:pt x="3346829" y="0"/>
                </a:lnTo>
                <a:lnTo>
                  <a:pt x="3346829" y="4329960"/>
                </a:lnTo>
                <a:lnTo>
                  <a:pt x="0" y="4329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TextBox 20"/>
          <p:cNvSpPr txBox="1"/>
          <p:nvPr/>
        </p:nvSpPr>
        <p:spPr>
          <a:xfrm>
            <a:off x="4402536" y="6519553"/>
            <a:ext cx="2150640" cy="19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sz="1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(= jugés positifs)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05198" y="2163561"/>
            <a:ext cx="2150640" cy="19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7"/>
              </a:lnSpc>
            </a:pPr>
            <a:r>
              <a:rPr lang="en-US" sz="1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(= réellement positifs)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87658" y="5578348"/>
            <a:ext cx="2196792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"/>
              </a:lnSpc>
              <a:spcBef>
                <a:spcPct val="0"/>
              </a:spcBef>
            </a:pPr>
            <a:r>
              <a:rPr lang="en-US" sz="1500">
                <a:solidFill>
                  <a:srgbClr val="939596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1 = le modèle sélectionne presque tous les éléments pertinents.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7092" y="5578348"/>
            <a:ext cx="2173403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"/>
              </a:lnSpc>
              <a:spcBef>
                <a:spcPct val="0"/>
              </a:spcBef>
            </a:pPr>
            <a:r>
              <a:rPr lang="en-US" sz="1500">
                <a:solidFill>
                  <a:srgbClr val="939596"/>
                </a:solidFill>
                <a:latin typeface="Calibri (MS)"/>
                <a:ea typeface="Calibri (MS)"/>
                <a:cs typeface="Calibri (MS)"/>
                <a:sym typeface="Calibri (MS)"/>
              </a:rPr>
              <a:t>proche de 1 = le modèle ne sélectionne presque que des éléments pertinents.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3808599" y="3709226"/>
            <a:ext cx="10317344" cy="5268294"/>
          </a:xfrm>
          <a:custGeom>
            <a:avLst/>
            <a:gdLst/>
            <a:ahLst/>
            <a:cxnLst/>
            <a:rect l="l" t="t" r="r" b="b"/>
            <a:pathLst>
              <a:path w="10317344" h="5268294">
                <a:moveTo>
                  <a:pt x="0" y="0"/>
                </a:moveTo>
                <a:lnTo>
                  <a:pt x="10317343" y="0"/>
                </a:lnTo>
                <a:lnTo>
                  <a:pt x="10317343" y="5268293"/>
                </a:lnTo>
                <a:lnTo>
                  <a:pt x="0" y="5268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8189" y="2323390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Trois informations utiles sur l’entraînement du modèle.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68189" y="2800801"/>
            <a:ext cx="1203112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3) Les courbes de perte (loss curves)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65011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courbes de perte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57406"/>
            <a:ext cx="1596937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Évolution de la </a:t>
            </a:r>
            <a:r>
              <a:rPr lang="en-US" sz="27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fonction de perte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sur les </a:t>
            </a:r>
            <a:r>
              <a:rPr lang="en-US" sz="27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et train-eval sets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 fonction des </a:t>
            </a:r>
            <a:r>
              <a:rPr lang="en-US" sz="2700" u="sng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époques</a:t>
            </a: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5" name="Freeform 5"/>
          <p:cNvSpPr/>
          <p:nvPr/>
        </p:nvSpPr>
        <p:spPr>
          <a:xfrm>
            <a:off x="6688340" y="3593751"/>
            <a:ext cx="10317344" cy="5268294"/>
          </a:xfrm>
          <a:custGeom>
            <a:avLst/>
            <a:gdLst/>
            <a:ahLst/>
            <a:cxnLst/>
            <a:rect l="l" t="t" r="r" b="b"/>
            <a:pathLst>
              <a:path w="10317344" h="5268294">
                <a:moveTo>
                  <a:pt x="0" y="0"/>
                </a:moveTo>
                <a:lnTo>
                  <a:pt x="10317344" y="0"/>
                </a:lnTo>
                <a:lnTo>
                  <a:pt x="10317344" y="5268293"/>
                </a:lnTo>
                <a:lnTo>
                  <a:pt x="0" y="5268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2441735" y="3593751"/>
            <a:ext cx="2294202" cy="594810"/>
            <a:chOff x="0" y="0"/>
            <a:chExt cx="604234" cy="1566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234" cy="156658"/>
            </a:xfrm>
            <a:custGeom>
              <a:avLst/>
              <a:gdLst/>
              <a:ahLst/>
              <a:cxnLst/>
              <a:rect l="l" t="t" r="r" b="b"/>
              <a:pathLst>
                <a:path w="604234" h="156658">
                  <a:moveTo>
                    <a:pt x="0" y="0"/>
                  </a:moveTo>
                  <a:lnTo>
                    <a:pt x="604234" y="0"/>
                  </a:lnTo>
                  <a:lnTo>
                    <a:pt x="604234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4234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441735" y="4323527"/>
            <a:ext cx="1650839" cy="594810"/>
            <a:chOff x="0" y="0"/>
            <a:chExt cx="434789" cy="1566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4789" cy="156658"/>
            </a:xfrm>
            <a:custGeom>
              <a:avLst/>
              <a:gdLst/>
              <a:ahLst/>
              <a:cxnLst/>
              <a:rect l="l" t="t" r="r" b="b"/>
              <a:pathLst>
                <a:path w="434789" h="156658">
                  <a:moveTo>
                    <a:pt x="0" y="0"/>
                  </a:moveTo>
                  <a:lnTo>
                    <a:pt x="434789" y="0"/>
                  </a:lnTo>
                  <a:lnTo>
                    <a:pt x="434789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34789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29479" y="4323527"/>
            <a:ext cx="606458" cy="594810"/>
            <a:chOff x="0" y="0"/>
            <a:chExt cx="159726" cy="1566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726" cy="156658"/>
            </a:xfrm>
            <a:custGeom>
              <a:avLst/>
              <a:gdLst/>
              <a:ahLst/>
              <a:cxnLst/>
              <a:rect l="l" t="t" r="r" b="b"/>
              <a:pathLst>
                <a:path w="159726" h="156658">
                  <a:moveTo>
                    <a:pt x="0" y="0"/>
                  </a:moveTo>
                  <a:lnTo>
                    <a:pt x="159726" y="0"/>
                  </a:lnTo>
                  <a:lnTo>
                    <a:pt x="159726" y="156658"/>
                  </a:lnTo>
                  <a:lnTo>
                    <a:pt x="0" y="156658"/>
                  </a:lnTo>
                  <a:close/>
                </a:path>
              </a:pathLst>
            </a:custGeom>
            <a:solidFill>
              <a:srgbClr val="E1ED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9726" cy="194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066" y="6730745"/>
            <a:ext cx="2353088" cy="117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d’apprentissage du modèle.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2379449" y="5310652"/>
            <a:ext cx="687195" cy="681826"/>
          </a:xfrm>
          <a:custGeom>
            <a:avLst/>
            <a:gdLst/>
            <a:ahLst/>
            <a:cxnLst/>
            <a:rect l="l" t="t" r="r" b="b"/>
            <a:pathLst>
              <a:path w="687195" h="681826">
                <a:moveTo>
                  <a:pt x="0" y="0"/>
                </a:moveTo>
                <a:lnTo>
                  <a:pt x="687195" y="0"/>
                </a:lnTo>
                <a:lnTo>
                  <a:pt x="687195" y="681826"/>
                </a:lnTo>
                <a:lnTo>
                  <a:pt x="0" y="68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7" name="Group 17"/>
          <p:cNvGrpSpPr/>
          <p:nvPr/>
        </p:nvGrpSpPr>
        <p:grpSpPr>
          <a:xfrm>
            <a:off x="2193707" y="5271873"/>
            <a:ext cx="1072688" cy="2202441"/>
            <a:chOff x="0" y="-19213"/>
            <a:chExt cx="23103" cy="474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213"/>
              <a:ext cx="23103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2710511" y="4750557"/>
            <a:ext cx="489" cy="426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21"/>
          <p:cNvSpPr/>
          <p:nvPr/>
        </p:nvSpPr>
        <p:spPr>
          <a:xfrm>
            <a:off x="4134067" y="5310652"/>
            <a:ext cx="635381" cy="619208"/>
          </a:xfrm>
          <a:custGeom>
            <a:avLst/>
            <a:gdLst/>
            <a:ahLst/>
            <a:cxnLst/>
            <a:rect l="l" t="t" r="r" b="b"/>
            <a:pathLst>
              <a:path w="635381" h="619208">
                <a:moveTo>
                  <a:pt x="0" y="0"/>
                </a:moveTo>
                <a:lnTo>
                  <a:pt x="635382" y="0"/>
                </a:lnTo>
                <a:lnTo>
                  <a:pt x="635382" y="619208"/>
                </a:lnTo>
                <a:lnTo>
                  <a:pt x="0" y="619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V="1">
            <a:off x="4413169" y="4750579"/>
            <a:ext cx="489" cy="426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3" name="Group 23"/>
          <p:cNvGrpSpPr/>
          <p:nvPr/>
        </p:nvGrpSpPr>
        <p:grpSpPr>
          <a:xfrm>
            <a:off x="3531456" y="5271873"/>
            <a:ext cx="1840562" cy="2202441"/>
            <a:chOff x="-3620" y="-19213"/>
            <a:chExt cx="39641" cy="4743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423" cy="9336"/>
            </a:xfrm>
            <a:custGeom>
              <a:avLst/>
              <a:gdLst/>
              <a:ahLst/>
              <a:cxnLst/>
              <a:rect l="l" t="t" r="r" b="b"/>
              <a:pathLst>
                <a:path w="32423" h="9336">
                  <a:moveTo>
                    <a:pt x="0" y="0"/>
                  </a:moveTo>
                  <a:lnTo>
                    <a:pt x="32423" y="0"/>
                  </a:lnTo>
                  <a:lnTo>
                    <a:pt x="3242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E1ED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3620" y="-19213"/>
              <a:ext cx="39641" cy="47436"/>
            </a:xfrm>
            <a:prstGeom prst="rect">
              <a:avLst/>
            </a:prstGeom>
          </p:spPr>
          <p:txBody>
            <a:bodyPr lIns="89619" tIns="89619" rIns="89619" bIns="89619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 b="1" dirty="0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Train-Eval Set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699535" y="6730745"/>
            <a:ext cx="2310632" cy="197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Données pour évaluer le modèle à chaque étape d’entraînement.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3419949"/>
            <a:ext cx="7767974" cy="4460402"/>
          </a:xfrm>
          <a:custGeom>
            <a:avLst/>
            <a:gdLst/>
            <a:ahLst/>
            <a:cxnLst/>
            <a:rect l="l" t="t" r="r" b="b"/>
            <a:pathLst>
              <a:path w="7767974" h="4460402">
                <a:moveTo>
                  <a:pt x="0" y="0"/>
                </a:moveTo>
                <a:lnTo>
                  <a:pt x="7767974" y="0"/>
                </a:lnTo>
                <a:lnTo>
                  <a:pt x="7767974" y="4460401"/>
                </a:lnTo>
                <a:lnTo>
                  <a:pt x="0" y="4460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385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255055" y="3419949"/>
            <a:ext cx="7800099" cy="4460402"/>
          </a:xfrm>
          <a:custGeom>
            <a:avLst/>
            <a:gdLst/>
            <a:ahLst/>
            <a:cxnLst/>
            <a:rect l="l" t="t" r="r" b="b"/>
            <a:pathLst>
              <a:path w="7800099" h="4460402">
                <a:moveTo>
                  <a:pt x="0" y="0"/>
                </a:moveTo>
                <a:lnTo>
                  <a:pt x="7800099" y="0"/>
                </a:lnTo>
                <a:lnTo>
                  <a:pt x="7800099" y="4460401"/>
                </a:lnTo>
                <a:lnTo>
                  <a:pt x="0" y="4460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65011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courbes de perte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19400" y="2595908"/>
            <a:ext cx="4586806" cy="45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Apprentissage</a:t>
            </a:r>
            <a:r>
              <a:rPr lang="en-US" sz="27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recherché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37342" y="2595908"/>
            <a:ext cx="458680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Apprentissage trop rapide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472852" y="8394512"/>
            <a:ext cx="1918075" cy="721102"/>
            <a:chOff x="0" y="0"/>
            <a:chExt cx="688528" cy="2588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8528" cy="258852"/>
            </a:xfrm>
            <a:custGeom>
              <a:avLst/>
              <a:gdLst/>
              <a:ahLst/>
              <a:cxnLst/>
              <a:rect l="l" t="t" r="r" b="b"/>
              <a:pathLst>
                <a:path w="688528" h="258852">
                  <a:moveTo>
                    <a:pt x="0" y="0"/>
                  </a:moveTo>
                  <a:lnTo>
                    <a:pt x="688528" y="0"/>
                  </a:lnTo>
                  <a:lnTo>
                    <a:pt x="688528" y="258852"/>
                  </a:lnTo>
                  <a:lnTo>
                    <a:pt x="0" y="258852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88528" cy="306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82786" y="8765873"/>
            <a:ext cx="214444" cy="187639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5C7C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92274" y="8535426"/>
            <a:ext cx="181491" cy="18149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7E7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960014" y="8486550"/>
            <a:ext cx="1361675" cy="5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14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loss</a:t>
            </a:r>
          </a:p>
          <a:p>
            <a:pPr algn="l">
              <a:lnSpc>
                <a:spcPts val="2054"/>
              </a:lnSpc>
              <a:spcBef>
                <a:spcPct val="0"/>
              </a:spcBef>
            </a:pPr>
            <a:r>
              <a:rPr lang="en-US" sz="14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Train-Eval loss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52927" y="8204200"/>
            <a:ext cx="545339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learning rate plus petit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utiliser des batches de plus grande taille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plus de données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226907" y="3563777"/>
            <a:ext cx="7556272" cy="4320972"/>
          </a:xfrm>
          <a:custGeom>
            <a:avLst/>
            <a:gdLst/>
            <a:ahLst/>
            <a:cxnLst/>
            <a:rect l="l" t="t" r="r" b="b"/>
            <a:pathLst>
              <a:path w="7556272" h="4320972">
                <a:moveTo>
                  <a:pt x="0" y="0"/>
                </a:moveTo>
                <a:lnTo>
                  <a:pt x="7556272" y="0"/>
                </a:lnTo>
                <a:lnTo>
                  <a:pt x="7556272" y="4320971"/>
                </a:lnTo>
                <a:lnTo>
                  <a:pt x="0" y="4320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269021" y="3563777"/>
            <a:ext cx="7650685" cy="4374961"/>
          </a:xfrm>
          <a:custGeom>
            <a:avLst/>
            <a:gdLst/>
            <a:ahLst/>
            <a:cxnLst/>
            <a:rect l="l" t="t" r="r" b="b"/>
            <a:pathLst>
              <a:path w="7650685" h="4374961">
                <a:moveTo>
                  <a:pt x="0" y="0"/>
                </a:moveTo>
                <a:lnTo>
                  <a:pt x="7650685" y="0"/>
                </a:lnTo>
                <a:lnTo>
                  <a:pt x="7650685" y="4374961"/>
                </a:lnTo>
                <a:lnTo>
                  <a:pt x="0" y="437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65011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Focus : Que signifient les courbes de perte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6344" y="2439192"/>
            <a:ext cx="4766955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Overfitting 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(mémorisation du train set)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14192" y="2357783"/>
            <a:ext cx="4904868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Underfitting 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(pas assez d’apprentissage)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52927" y="8204200"/>
            <a:ext cx="545339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learning rate plus grand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utiliser des batches de plus petite taille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plus de données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3262" y="8204200"/>
            <a:ext cx="5540038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learning rate plus petit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utiliser des batches de plus grande taille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plus de données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472852" y="8394512"/>
            <a:ext cx="1918075" cy="721102"/>
            <a:chOff x="0" y="0"/>
            <a:chExt cx="688528" cy="2588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8528" cy="258852"/>
            </a:xfrm>
            <a:custGeom>
              <a:avLst/>
              <a:gdLst/>
              <a:ahLst/>
              <a:cxnLst/>
              <a:rect l="l" t="t" r="r" b="b"/>
              <a:pathLst>
                <a:path w="688528" h="258852">
                  <a:moveTo>
                    <a:pt x="0" y="0"/>
                  </a:moveTo>
                  <a:lnTo>
                    <a:pt x="688528" y="0"/>
                  </a:lnTo>
                  <a:lnTo>
                    <a:pt x="688528" y="258852"/>
                  </a:lnTo>
                  <a:lnTo>
                    <a:pt x="0" y="258852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88528" cy="3064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82786" y="8765873"/>
            <a:ext cx="214444" cy="187639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5C7C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92274" y="8535426"/>
            <a:ext cx="181491" cy="18149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7E74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960014" y="8486550"/>
            <a:ext cx="1361675" cy="5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4"/>
              </a:lnSpc>
            </a:pPr>
            <a:r>
              <a:rPr lang="en-US" sz="14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loss</a:t>
            </a:r>
          </a:p>
          <a:p>
            <a:pPr algn="l">
              <a:lnSpc>
                <a:spcPts val="2054"/>
              </a:lnSpc>
              <a:spcBef>
                <a:spcPct val="0"/>
              </a:spcBef>
            </a:pPr>
            <a:r>
              <a:rPr lang="en-US" sz="14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Train-Eval loss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8507738" y="5787157"/>
            <a:ext cx="7172141" cy="3662275"/>
          </a:xfrm>
          <a:custGeom>
            <a:avLst/>
            <a:gdLst/>
            <a:ahLst/>
            <a:cxnLst/>
            <a:rect l="l" t="t" r="r" b="b"/>
            <a:pathLst>
              <a:path w="7172141" h="3662275">
                <a:moveTo>
                  <a:pt x="0" y="0"/>
                </a:moveTo>
                <a:lnTo>
                  <a:pt x="7172141" y="0"/>
                </a:lnTo>
                <a:lnTo>
                  <a:pt x="7172141" y="3662274"/>
                </a:lnTo>
                <a:lnTo>
                  <a:pt x="0" y="36622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4430102" y="2261533"/>
            <a:ext cx="10911842" cy="3580448"/>
          </a:xfrm>
          <a:custGeom>
            <a:avLst/>
            <a:gdLst/>
            <a:ahLst/>
            <a:cxnLst/>
            <a:rect l="l" t="t" r="r" b="b"/>
            <a:pathLst>
              <a:path w="10911842" h="3580448">
                <a:moveTo>
                  <a:pt x="0" y="0"/>
                </a:moveTo>
                <a:lnTo>
                  <a:pt x="10911842" y="0"/>
                </a:lnTo>
                <a:lnTo>
                  <a:pt x="10911842" y="3580449"/>
                </a:lnTo>
                <a:lnTo>
                  <a:pt x="0" y="3580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8257" y="6811635"/>
            <a:ext cx="6406996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Bons choix, mais il semblerait que le modèle pourrait encore apprendre.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8257" y="8315994"/>
            <a:ext cx="640699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=&gt; Augmenter le nombre d’époques.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2350303"/>
            <a:ext cx="1303480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5407" y="2793741"/>
            <a:ext cx="2980334" cy="136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CamembertaV2base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1024 tokens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batch size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 gradient acc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 époques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430102" y="2242483"/>
            <a:ext cx="10911842" cy="3580448"/>
          </a:xfrm>
          <a:custGeom>
            <a:avLst/>
            <a:gdLst/>
            <a:ahLst/>
            <a:cxnLst/>
            <a:rect l="l" t="t" r="r" b="b"/>
            <a:pathLst>
              <a:path w="10911842" h="3580448">
                <a:moveTo>
                  <a:pt x="0" y="0"/>
                </a:moveTo>
                <a:lnTo>
                  <a:pt x="10911842" y="0"/>
                </a:lnTo>
                <a:lnTo>
                  <a:pt x="10911842" y="3580449"/>
                </a:lnTo>
                <a:lnTo>
                  <a:pt x="0" y="3580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8565595" y="5545337"/>
            <a:ext cx="8234151" cy="4204563"/>
          </a:xfrm>
          <a:custGeom>
            <a:avLst/>
            <a:gdLst/>
            <a:ahLst/>
            <a:cxnLst/>
            <a:rect l="l" t="t" r="r" b="b"/>
            <a:pathLst>
              <a:path w="8234151" h="4204563">
                <a:moveTo>
                  <a:pt x="0" y="0"/>
                </a:moveTo>
                <a:lnTo>
                  <a:pt x="8234151" y="0"/>
                </a:lnTo>
                <a:lnTo>
                  <a:pt x="8234151" y="4204563"/>
                </a:lnTo>
                <a:lnTo>
                  <a:pt x="0" y="4204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5400" y="2350303"/>
            <a:ext cx="1303480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5407" y="2793741"/>
            <a:ext cx="3094695" cy="136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CamembertaV2base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1024 tokens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batch size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 gradient acc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 époques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2439" y="7039339"/>
            <a:ext cx="6406996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Il a effectivement davantage appris.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2417825" y="6211555"/>
            <a:ext cx="4842124" cy="2517904"/>
          </a:xfrm>
          <a:custGeom>
            <a:avLst/>
            <a:gdLst/>
            <a:ahLst/>
            <a:cxnLst/>
            <a:rect l="l" t="t" r="r" b="b"/>
            <a:pathLst>
              <a:path w="4842124" h="2517904">
                <a:moveTo>
                  <a:pt x="0" y="0"/>
                </a:moveTo>
                <a:lnTo>
                  <a:pt x="4842124" y="0"/>
                </a:lnTo>
                <a:lnTo>
                  <a:pt x="4842124" y="2517905"/>
                </a:lnTo>
                <a:lnTo>
                  <a:pt x="0" y="2517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6488266" y="6150620"/>
            <a:ext cx="4959308" cy="2578840"/>
          </a:xfrm>
          <a:custGeom>
            <a:avLst/>
            <a:gdLst/>
            <a:ahLst/>
            <a:cxnLst/>
            <a:rect l="l" t="t" r="r" b="b"/>
            <a:pathLst>
              <a:path w="4959308" h="2578840">
                <a:moveTo>
                  <a:pt x="0" y="0"/>
                </a:moveTo>
                <a:lnTo>
                  <a:pt x="4959307" y="0"/>
                </a:lnTo>
                <a:lnTo>
                  <a:pt x="4959307" y="2578840"/>
                </a:lnTo>
                <a:lnTo>
                  <a:pt x="0" y="2578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674592" y="6150620"/>
            <a:ext cx="4842124" cy="2517904"/>
          </a:xfrm>
          <a:custGeom>
            <a:avLst/>
            <a:gdLst/>
            <a:ahLst/>
            <a:cxnLst/>
            <a:rect l="l" t="t" r="r" b="b"/>
            <a:pathLst>
              <a:path w="4842124" h="2517904">
                <a:moveTo>
                  <a:pt x="0" y="0"/>
                </a:moveTo>
                <a:lnTo>
                  <a:pt x="4842124" y="0"/>
                </a:lnTo>
                <a:lnTo>
                  <a:pt x="4842124" y="2517904"/>
                </a:lnTo>
                <a:lnTo>
                  <a:pt x="0" y="2517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entraîner des modèles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2438" y="2331616"/>
            <a:ext cx="8284961" cy="45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</a:t>
            </a:r>
            <a:r>
              <a:rPr lang="en-US" sz="27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peut</a:t>
            </a: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essayer </a:t>
            </a:r>
            <a:r>
              <a:rPr lang="en-US" sz="27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quelques</a:t>
            </a: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autres</a:t>
            </a: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modèles</a:t>
            </a:r>
            <a:r>
              <a:rPr lang="en-US" sz="27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09800" y="3666037"/>
            <a:ext cx="1303480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56835" y="4109475"/>
            <a:ext cx="3256369" cy="136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CamembertaV2base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1024 tokens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batch size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gradient acc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 époques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1000" y="3666037"/>
            <a:ext cx="1303480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01320" y="4109475"/>
            <a:ext cx="2620346" cy="136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ModernCamemBERTbase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1024 tokens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batch size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 gradient acc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époques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68400" y="3666037"/>
            <a:ext cx="1303480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 i="1" dirty="0" err="1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Modèle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27033" y="4109475"/>
            <a:ext cx="2620346" cy="136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ModernCamemBERTbase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1024 tokens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batch size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 gradient acc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 époques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952149" y="3272842"/>
            <a:ext cx="11692702" cy="6145976"/>
          </a:xfrm>
          <a:custGeom>
            <a:avLst/>
            <a:gdLst/>
            <a:ahLst/>
            <a:cxnLst/>
            <a:rect l="l" t="t" r="r" b="b"/>
            <a:pathLst>
              <a:path w="11692702" h="6145976">
                <a:moveTo>
                  <a:pt x="0" y="0"/>
                </a:moveTo>
                <a:lnTo>
                  <a:pt x="11692702" y="0"/>
                </a:lnTo>
                <a:lnTo>
                  <a:pt x="11692702" y="6145977"/>
                </a:lnTo>
                <a:lnTo>
                  <a:pt x="0" y="6145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5 : sélectionner un modèle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34617"/>
            <a:ext cx="155396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Comparer les scores sur le set de validation.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7111773" y="6345831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6" y="0"/>
                </a:lnTo>
                <a:lnTo>
                  <a:pt x="430126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5 : sélectionner un modèle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6503" y="2674537"/>
            <a:ext cx="16452798" cy="5940367"/>
            <a:chOff x="0" y="0"/>
            <a:chExt cx="21937063" cy="7920489"/>
          </a:xfrm>
        </p:grpSpPr>
        <p:sp>
          <p:nvSpPr>
            <p:cNvPr id="5" name="Freeform 5"/>
            <p:cNvSpPr/>
            <p:nvPr/>
          </p:nvSpPr>
          <p:spPr>
            <a:xfrm>
              <a:off x="7537987" y="796608"/>
              <a:ext cx="6686072" cy="2617827"/>
            </a:xfrm>
            <a:custGeom>
              <a:avLst/>
              <a:gdLst/>
              <a:ahLst/>
              <a:cxnLst/>
              <a:rect l="l" t="t" r="r" b="b"/>
              <a:pathLst>
                <a:path w="6686072" h="2617827">
                  <a:moveTo>
                    <a:pt x="0" y="0"/>
                  </a:moveTo>
                  <a:lnTo>
                    <a:pt x="6686072" y="0"/>
                  </a:lnTo>
                  <a:lnTo>
                    <a:pt x="6686072" y="2617827"/>
                  </a:lnTo>
                  <a:lnTo>
                    <a:pt x="0" y="26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9546241" y="0"/>
              <a:ext cx="4677818" cy="570057"/>
            </a:xfrm>
            <a:custGeom>
              <a:avLst/>
              <a:gdLst/>
              <a:ahLst/>
              <a:cxnLst/>
              <a:rect l="l" t="t" r="r" b="b"/>
              <a:pathLst>
                <a:path w="4677818" h="570057">
                  <a:moveTo>
                    <a:pt x="0" y="0"/>
                  </a:moveTo>
                  <a:lnTo>
                    <a:pt x="4677818" y="0"/>
                  </a:lnTo>
                  <a:lnTo>
                    <a:pt x="4677818" y="570057"/>
                  </a:lnTo>
                  <a:lnTo>
                    <a:pt x="0" y="570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626554"/>
              <a:ext cx="6621655" cy="2958996"/>
            </a:xfrm>
            <a:custGeom>
              <a:avLst/>
              <a:gdLst/>
              <a:ahLst/>
              <a:cxnLst/>
              <a:rect l="l" t="t" r="r" b="b"/>
              <a:pathLst>
                <a:path w="6621655" h="2958996">
                  <a:moveTo>
                    <a:pt x="0" y="0"/>
                  </a:moveTo>
                  <a:lnTo>
                    <a:pt x="6621655" y="0"/>
                  </a:lnTo>
                  <a:lnTo>
                    <a:pt x="6621655" y="2958996"/>
                  </a:lnTo>
                  <a:lnTo>
                    <a:pt x="0" y="2958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33465" y="0"/>
              <a:ext cx="5073598" cy="570587"/>
            </a:xfrm>
            <a:custGeom>
              <a:avLst/>
              <a:gdLst/>
              <a:ahLst/>
              <a:cxnLst/>
              <a:rect l="l" t="t" r="r" b="b"/>
              <a:pathLst>
                <a:path w="5073598" h="570587">
                  <a:moveTo>
                    <a:pt x="0" y="0"/>
                  </a:moveTo>
                  <a:lnTo>
                    <a:pt x="5073599" y="0"/>
                  </a:lnTo>
                  <a:lnTo>
                    <a:pt x="5073599" y="570587"/>
                  </a:lnTo>
                  <a:lnTo>
                    <a:pt x="0" y="57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874898" y="414299"/>
              <a:ext cx="7062165" cy="2875034"/>
            </a:xfrm>
            <a:custGeom>
              <a:avLst/>
              <a:gdLst/>
              <a:ahLst/>
              <a:cxnLst/>
              <a:rect l="l" t="t" r="r" b="b"/>
              <a:pathLst>
                <a:path w="7062165" h="2875034">
                  <a:moveTo>
                    <a:pt x="0" y="0"/>
                  </a:moveTo>
                  <a:lnTo>
                    <a:pt x="7062164" y="0"/>
                  </a:lnTo>
                  <a:lnTo>
                    <a:pt x="7062164" y="2875034"/>
                  </a:lnTo>
                  <a:lnTo>
                    <a:pt x="0" y="2875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94363" y="0"/>
              <a:ext cx="5242700" cy="589605"/>
            </a:xfrm>
            <a:custGeom>
              <a:avLst/>
              <a:gdLst/>
              <a:ahLst/>
              <a:cxnLst/>
              <a:rect l="l" t="t" r="r" b="b"/>
              <a:pathLst>
                <a:path w="5242700" h="589605">
                  <a:moveTo>
                    <a:pt x="0" y="0"/>
                  </a:moveTo>
                  <a:lnTo>
                    <a:pt x="5242699" y="0"/>
                  </a:lnTo>
                  <a:lnTo>
                    <a:pt x="5242699" y="589605"/>
                  </a:lnTo>
                  <a:lnTo>
                    <a:pt x="0" y="589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2113295" y="4959286"/>
              <a:ext cx="7032673" cy="2863028"/>
            </a:xfrm>
            <a:custGeom>
              <a:avLst/>
              <a:gdLst/>
              <a:ahLst/>
              <a:cxnLst/>
              <a:rect l="l" t="t" r="r" b="b"/>
              <a:pathLst>
                <a:path w="7032673" h="2863028">
                  <a:moveTo>
                    <a:pt x="0" y="0"/>
                  </a:moveTo>
                  <a:lnTo>
                    <a:pt x="7032672" y="0"/>
                  </a:lnTo>
                  <a:lnTo>
                    <a:pt x="7032672" y="2863028"/>
                  </a:lnTo>
                  <a:lnTo>
                    <a:pt x="0" y="2863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780449" y="4473385"/>
              <a:ext cx="5535264" cy="622507"/>
            </a:xfrm>
            <a:custGeom>
              <a:avLst/>
              <a:gdLst/>
              <a:ahLst/>
              <a:cxnLst/>
              <a:rect l="l" t="t" r="r" b="b"/>
              <a:pathLst>
                <a:path w="5535264" h="622507">
                  <a:moveTo>
                    <a:pt x="0" y="0"/>
                  </a:moveTo>
                  <a:lnTo>
                    <a:pt x="5535263" y="0"/>
                  </a:lnTo>
                  <a:lnTo>
                    <a:pt x="5535263" y="622507"/>
                  </a:lnTo>
                  <a:lnTo>
                    <a:pt x="0" y="622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65116" y="94715"/>
              <a:ext cx="1480243" cy="374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84"/>
                </a:lnSpc>
                <a:spcBef>
                  <a:spcPct val="0"/>
                </a:spcBef>
              </a:pPr>
              <a:r>
                <a:rPr lang="en-US" sz="1703" b="1" i="1" dirty="0" err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</a:t>
              </a:r>
              <a:r>
                <a:rPr lang="en-US" sz="1703" b="1" i="1" dirty="0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76612" y="4536801"/>
              <a:ext cx="1509488" cy="377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31"/>
                </a:lnSpc>
                <a:spcBef>
                  <a:spcPct val="0"/>
                </a:spcBef>
              </a:pPr>
              <a:r>
                <a:rPr lang="en-US" sz="1737" b="1" i="1" dirty="0" err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</a:t>
              </a:r>
              <a:r>
                <a:rPr lang="en-US" sz="1737" b="1" i="1" dirty="0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74910" y="89212"/>
              <a:ext cx="1447625" cy="373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32"/>
                </a:lnSpc>
                <a:spcBef>
                  <a:spcPct val="0"/>
                </a:spcBef>
              </a:pPr>
              <a:r>
                <a:rPr lang="en-US" sz="1665" b="1" i="1" dirty="0" err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</a:t>
              </a:r>
              <a:r>
                <a:rPr lang="en-US" sz="1665" b="1" i="1" dirty="0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1347" y="95245"/>
              <a:ext cx="1480243" cy="374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84"/>
                </a:lnSpc>
                <a:spcBef>
                  <a:spcPct val="0"/>
                </a:spcBef>
              </a:pPr>
              <a:r>
                <a:rPr lang="en-US" sz="1703" b="1" i="1" dirty="0" err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</a:t>
              </a:r>
              <a:r>
                <a:rPr lang="en-US" sz="1703" b="1" i="1" dirty="0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89001" y="4581416"/>
              <a:ext cx="1509488" cy="377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31"/>
                </a:lnSpc>
                <a:spcBef>
                  <a:spcPct val="0"/>
                </a:spcBef>
              </a:pPr>
              <a:r>
                <a:rPr lang="en-US" sz="1737" b="1" i="1" dirty="0" err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</a:t>
              </a:r>
              <a:r>
                <a:rPr lang="en-US" sz="1737" b="1" i="1" dirty="0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E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3776612" y="5057461"/>
              <a:ext cx="7032673" cy="2863028"/>
            </a:xfrm>
            <a:custGeom>
              <a:avLst/>
              <a:gdLst/>
              <a:ahLst/>
              <a:cxnLst/>
              <a:rect l="l" t="t" r="r" b="b"/>
              <a:pathLst>
                <a:path w="7032673" h="2863028">
                  <a:moveTo>
                    <a:pt x="0" y="0"/>
                  </a:moveTo>
                  <a:lnTo>
                    <a:pt x="7032673" y="0"/>
                  </a:lnTo>
                  <a:lnTo>
                    <a:pt x="7032673" y="2863028"/>
                  </a:lnTo>
                  <a:lnTo>
                    <a:pt x="0" y="2863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45759" y="4473385"/>
              <a:ext cx="5535264" cy="622507"/>
            </a:xfrm>
            <a:custGeom>
              <a:avLst/>
              <a:gdLst/>
              <a:ahLst/>
              <a:cxnLst/>
              <a:rect l="l" t="t" r="r" b="b"/>
              <a:pathLst>
                <a:path w="5535264" h="622507">
                  <a:moveTo>
                    <a:pt x="0" y="0"/>
                  </a:moveTo>
                  <a:lnTo>
                    <a:pt x="5535264" y="0"/>
                  </a:lnTo>
                  <a:lnTo>
                    <a:pt x="5535264" y="622507"/>
                  </a:lnTo>
                  <a:lnTo>
                    <a:pt x="0" y="622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5 : sélectionner un modèle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6503" y="2365501"/>
            <a:ext cx="16452798" cy="6249403"/>
            <a:chOff x="0" y="0"/>
            <a:chExt cx="21937063" cy="8332538"/>
          </a:xfrm>
        </p:grpSpPr>
        <p:sp>
          <p:nvSpPr>
            <p:cNvPr id="5" name="Freeform 5"/>
            <p:cNvSpPr/>
            <p:nvPr/>
          </p:nvSpPr>
          <p:spPr>
            <a:xfrm>
              <a:off x="7537987" y="1208656"/>
              <a:ext cx="6686072" cy="2617827"/>
            </a:xfrm>
            <a:custGeom>
              <a:avLst/>
              <a:gdLst/>
              <a:ahLst/>
              <a:cxnLst/>
              <a:rect l="l" t="t" r="r" b="b"/>
              <a:pathLst>
                <a:path w="6686072" h="2617827">
                  <a:moveTo>
                    <a:pt x="0" y="0"/>
                  </a:moveTo>
                  <a:lnTo>
                    <a:pt x="6686072" y="0"/>
                  </a:lnTo>
                  <a:lnTo>
                    <a:pt x="6686072" y="2617827"/>
                  </a:lnTo>
                  <a:lnTo>
                    <a:pt x="0" y="261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9546241" y="412049"/>
              <a:ext cx="4677818" cy="570057"/>
            </a:xfrm>
            <a:custGeom>
              <a:avLst/>
              <a:gdLst/>
              <a:ahLst/>
              <a:cxnLst/>
              <a:rect l="l" t="t" r="r" b="b"/>
              <a:pathLst>
                <a:path w="4677818" h="570057">
                  <a:moveTo>
                    <a:pt x="0" y="0"/>
                  </a:moveTo>
                  <a:lnTo>
                    <a:pt x="4677818" y="0"/>
                  </a:lnTo>
                  <a:lnTo>
                    <a:pt x="4677818" y="570056"/>
                  </a:lnTo>
                  <a:lnTo>
                    <a:pt x="0" y="570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1038602"/>
              <a:ext cx="6621655" cy="2958996"/>
            </a:xfrm>
            <a:custGeom>
              <a:avLst/>
              <a:gdLst/>
              <a:ahLst/>
              <a:cxnLst/>
              <a:rect l="l" t="t" r="r" b="b"/>
              <a:pathLst>
                <a:path w="6621655" h="2958996">
                  <a:moveTo>
                    <a:pt x="0" y="0"/>
                  </a:moveTo>
                  <a:lnTo>
                    <a:pt x="6621655" y="0"/>
                  </a:lnTo>
                  <a:lnTo>
                    <a:pt x="6621655" y="2958996"/>
                  </a:lnTo>
                  <a:lnTo>
                    <a:pt x="0" y="2958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33465" y="412049"/>
              <a:ext cx="5073598" cy="570587"/>
            </a:xfrm>
            <a:custGeom>
              <a:avLst/>
              <a:gdLst/>
              <a:ahLst/>
              <a:cxnLst/>
              <a:rect l="l" t="t" r="r" b="b"/>
              <a:pathLst>
                <a:path w="5073598" h="570587">
                  <a:moveTo>
                    <a:pt x="0" y="0"/>
                  </a:moveTo>
                  <a:lnTo>
                    <a:pt x="5073599" y="0"/>
                  </a:lnTo>
                  <a:lnTo>
                    <a:pt x="5073599" y="570587"/>
                  </a:lnTo>
                  <a:lnTo>
                    <a:pt x="0" y="57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/>
            <p:nvPr/>
          </p:nvSpPr>
          <p:spPr>
            <a:xfrm>
              <a:off x="14874898" y="826348"/>
              <a:ext cx="7062165" cy="2875034"/>
            </a:xfrm>
            <a:custGeom>
              <a:avLst/>
              <a:gdLst/>
              <a:ahLst/>
              <a:cxnLst/>
              <a:rect l="l" t="t" r="r" b="b"/>
              <a:pathLst>
                <a:path w="7062165" h="2875034">
                  <a:moveTo>
                    <a:pt x="0" y="0"/>
                  </a:moveTo>
                  <a:lnTo>
                    <a:pt x="7062164" y="0"/>
                  </a:lnTo>
                  <a:lnTo>
                    <a:pt x="7062164" y="2875034"/>
                  </a:lnTo>
                  <a:lnTo>
                    <a:pt x="0" y="2875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94363" y="412049"/>
              <a:ext cx="5242700" cy="589605"/>
            </a:xfrm>
            <a:custGeom>
              <a:avLst/>
              <a:gdLst/>
              <a:ahLst/>
              <a:cxnLst/>
              <a:rect l="l" t="t" r="r" b="b"/>
              <a:pathLst>
                <a:path w="5242700" h="589605">
                  <a:moveTo>
                    <a:pt x="0" y="0"/>
                  </a:moveTo>
                  <a:lnTo>
                    <a:pt x="5242699" y="0"/>
                  </a:lnTo>
                  <a:lnTo>
                    <a:pt x="5242699" y="589604"/>
                  </a:lnTo>
                  <a:lnTo>
                    <a:pt x="0" y="58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2113295" y="5371335"/>
              <a:ext cx="7032673" cy="2863028"/>
            </a:xfrm>
            <a:custGeom>
              <a:avLst/>
              <a:gdLst/>
              <a:ahLst/>
              <a:cxnLst/>
              <a:rect l="l" t="t" r="r" b="b"/>
              <a:pathLst>
                <a:path w="7032673" h="2863028">
                  <a:moveTo>
                    <a:pt x="0" y="0"/>
                  </a:moveTo>
                  <a:lnTo>
                    <a:pt x="7032672" y="0"/>
                  </a:lnTo>
                  <a:lnTo>
                    <a:pt x="7032672" y="2863028"/>
                  </a:lnTo>
                  <a:lnTo>
                    <a:pt x="0" y="2863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780449" y="4885434"/>
              <a:ext cx="5535264" cy="622507"/>
            </a:xfrm>
            <a:custGeom>
              <a:avLst/>
              <a:gdLst/>
              <a:ahLst/>
              <a:cxnLst/>
              <a:rect l="l" t="t" r="r" b="b"/>
              <a:pathLst>
                <a:path w="5535264" h="622507">
                  <a:moveTo>
                    <a:pt x="0" y="0"/>
                  </a:moveTo>
                  <a:lnTo>
                    <a:pt x="5535263" y="0"/>
                  </a:lnTo>
                  <a:lnTo>
                    <a:pt x="5535263" y="622507"/>
                  </a:lnTo>
                  <a:lnTo>
                    <a:pt x="0" y="622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190577" y="0"/>
              <a:ext cx="7506521" cy="4114800"/>
              <a:chOff x="0" y="0"/>
              <a:chExt cx="148277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8277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482770" h="812800">
                    <a:moveTo>
                      <a:pt x="70132" y="0"/>
                    </a:moveTo>
                    <a:lnTo>
                      <a:pt x="1412637" y="0"/>
                    </a:lnTo>
                    <a:cubicBezTo>
                      <a:pt x="1451370" y="0"/>
                      <a:pt x="1482770" y="31399"/>
                      <a:pt x="1482770" y="70132"/>
                    </a:cubicBezTo>
                    <a:lnTo>
                      <a:pt x="1482770" y="742668"/>
                    </a:lnTo>
                    <a:cubicBezTo>
                      <a:pt x="1482770" y="761268"/>
                      <a:pt x="1475381" y="779106"/>
                      <a:pt x="1462228" y="792259"/>
                    </a:cubicBezTo>
                    <a:cubicBezTo>
                      <a:pt x="1449076" y="805411"/>
                      <a:pt x="1431237" y="812800"/>
                      <a:pt x="1412637" y="812800"/>
                    </a:cubicBezTo>
                    <a:lnTo>
                      <a:pt x="70132" y="812800"/>
                    </a:lnTo>
                    <a:cubicBezTo>
                      <a:pt x="31399" y="812800"/>
                      <a:pt x="0" y="781401"/>
                      <a:pt x="0" y="742668"/>
                    </a:cubicBezTo>
                    <a:lnTo>
                      <a:pt x="0" y="70132"/>
                    </a:lnTo>
                    <a:cubicBezTo>
                      <a:pt x="0" y="31399"/>
                      <a:pt x="31399" y="0"/>
                      <a:pt x="70132" y="0"/>
                    </a:cubicBezTo>
                    <a:close/>
                  </a:path>
                </a:pathLst>
              </a:custGeom>
              <a:ln w="762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1482770" cy="831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4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765116" y="506763"/>
              <a:ext cx="1480243" cy="374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84"/>
                </a:lnSpc>
                <a:spcBef>
                  <a:spcPct val="0"/>
                </a:spcBef>
              </a:pPr>
              <a:r>
                <a:rPr lang="en-US" sz="1703" b="1" i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 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76612" y="4948849"/>
              <a:ext cx="1509488" cy="377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31"/>
                </a:lnSpc>
                <a:spcBef>
                  <a:spcPct val="0"/>
                </a:spcBef>
              </a:pPr>
              <a:r>
                <a:rPr lang="en-US" sz="1737" b="1" i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 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74910" y="501261"/>
              <a:ext cx="1447625" cy="373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32"/>
                </a:lnSpc>
                <a:spcBef>
                  <a:spcPct val="0"/>
                </a:spcBef>
              </a:pPr>
              <a:r>
                <a:rPr lang="en-US" sz="1665" b="1" i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 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1347" y="507293"/>
              <a:ext cx="1480243" cy="374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384"/>
                </a:lnSpc>
                <a:spcBef>
                  <a:spcPct val="0"/>
                </a:spcBef>
              </a:pPr>
              <a:r>
                <a:rPr lang="en-US" sz="1703" b="1" i="1" dirty="0" err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</a:t>
              </a:r>
              <a:r>
                <a:rPr lang="en-US" sz="1703" b="1" i="1" dirty="0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89001" y="4993465"/>
              <a:ext cx="1509488" cy="377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31"/>
                </a:lnSpc>
                <a:spcBef>
                  <a:spcPct val="0"/>
                </a:spcBef>
              </a:pPr>
              <a:r>
                <a:rPr lang="en-US" sz="1737" b="1" i="1">
                  <a:solidFill>
                    <a:schemeClr val="accent6">
                      <a:lumMod val="75000"/>
                    </a:schemeClr>
                  </a:solidFill>
                  <a:latin typeface="Open Sauce Bold Italics"/>
                  <a:ea typeface="Open Sauce Bold Italics"/>
                  <a:cs typeface="Open Sauce Bold Italics"/>
                  <a:sym typeface="Open Sauce Bold Italics"/>
                </a:rPr>
                <a:t>Modèle E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3776612" y="5469510"/>
              <a:ext cx="7032673" cy="2863028"/>
            </a:xfrm>
            <a:custGeom>
              <a:avLst/>
              <a:gdLst/>
              <a:ahLst/>
              <a:cxnLst/>
              <a:rect l="l" t="t" r="r" b="b"/>
              <a:pathLst>
                <a:path w="7032673" h="2863028">
                  <a:moveTo>
                    <a:pt x="0" y="0"/>
                  </a:moveTo>
                  <a:lnTo>
                    <a:pt x="7032673" y="0"/>
                  </a:lnTo>
                  <a:lnTo>
                    <a:pt x="7032673" y="2863028"/>
                  </a:lnTo>
                  <a:lnTo>
                    <a:pt x="0" y="2863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45759" y="4885434"/>
              <a:ext cx="5535264" cy="622507"/>
            </a:xfrm>
            <a:custGeom>
              <a:avLst/>
              <a:gdLst/>
              <a:ahLst/>
              <a:cxnLst/>
              <a:rect l="l" t="t" r="r" b="b"/>
              <a:pathLst>
                <a:path w="5535264" h="622507">
                  <a:moveTo>
                    <a:pt x="0" y="0"/>
                  </a:moveTo>
                  <a:lnTo>
                    <a:pt x="5535264" y="0"/>
                  </a:lnTo>
                  <a:lnTo>
                    <a:pt x="5535264" y="622507"/>
                  </a:lnTo>
                  <a:lnTo>
                    <a:pt x="0" y="622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2425155" y="2204503"/>
            <a:ext cx="13084230" cy="7231067"/>
            <a:chOff x="0" y="0"/>
            <a:chExt cx="17445640" cy="96414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64867" cy="9641422"/>
            </a:xfrm>
            <a:custGeom>
              <a:avLst/>
              <a:gdLst/>
              <a:ahLst/>
              <a:cxnLst/>
              <a:rect l="l" t="t" r="r" b="b"/>
              <a:pathLst>
                <a:path w="9764867" h="9641422">
                  <a:moveTo>
                    <a:pt x="0" y="0"/>
                  </a:moveTo>
                  <a:lnTo>
                    <a:pt x="9764867" y="0"/>
                  </a:lnTo>
                  <a:lnTo>
                    <a:pt x="9764867" y="9641422"/>
                  </a:lnTo>
                  <a:lnTo>
                    <a:pt x="0" y="964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11930" b="-97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Freeform 5"/>
            <p:cNvSpPr/>
            <p:nvPr/>
          </p:nvSpPr>
          <p:spPr>
            <a:xfrm>
              <a:off x="5633618" y="5087218"/>
              <a:ext cx="615666" cy="764803"/>
            </a:xfrm>
            <a:custGeom>
              <a:avLst/>
              <a:gdLst/>
              <a:ahLst/>
              <a:cxnLst/>
              <a:rect l="l" t="t" r="r" b="b"/>
              <a:pathLst>
                <a:path w="615666" h="764803">
                  <a:moveTo>
                    <a:pt x="0" y="0"/>
                  </a:moveTo>
                  <a:lnTo>
                    <a:pt x="615666" y="0"/>
                  </a:lnTo>
                  <a:lnTo>
                    <a:pt x="615666" y="764803"/>
                  </a:lnTo>
                  <a:lnTo>
                    <a:pt x="0" y="764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/>
            <p:nvPr/>
          </p:nvSpPr>
          <p:spPr>
            <a:xfrm>
              <a:off x="7680773" y="0"/>
              <a:ext cx="9764867" cy="9641422"/>
            </a:xfrm>
            <a:custGeom>
              <a:avLst/>
              <a:gdLst/>
              <a:ahLst/>
              <a:cxnLst/>
              <a:rect l="l" t="t" r="r" b="b"/>
              <a:pathLst>
                <a:path w="9764867" h="9641422">
                  <a:moveTo>
                    <a:pt x="0" y="0"/>
                  </a:moveTo>
                  <a:lnTo>
                    <a:pt x="9764867" y="0"/>
                  </a:lnTo>
                  <a:lnTo>
                    <a:pt x="9764867" y="9641422"/>
                  </a:lnTo>
                  <a:lnTo>
                    <a:pt x="0" y="964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1930" b="-97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802133"/>
              <a:ext cx="17445640" cy="8570171"/>
            </a:xfrm>
            <a:custGeom>
              <a:avLst/>
              <a:gdLst/>
              <a:ahLst/>
              <a:cxnLst/>
              <a:rect l="l" t="t" r="r" b="b"/>
              <a:pathLst>
                <a:path w="17445640" h="8570171">
                  <a:moveTo>
                    <a:pt x="0" y="0"/>
                  </a:moveTo>
                  <a:lnTo>
                    <a:pt x="17445640" y="0"/>
                  </a:lnTo>
                  <a:lnTo>
                    <a:pt x="17445640" y="8570170"/>
                  </a:lnTo>
                  <a:lnTo>
                    <a:pt x="0" y="8570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29998" y="923925"/>
            <a:ext cx="1407454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6 : évaluer le modèle</a:t>
            </a:r>
          </a:p>
        </p:txBody>
      </p:sp>
      <p:sp>
        <p:nvSpPr>
          <p:cNvPr id="9" name="Freeform 9"/>
          <p:cNvSpPr/>
          <p:nvPr/>
        </p:nvSpPr>
        <p:spPr>
          <a:xfrm>
            <a:off x="6343424" y="6046664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5" y="0"/>
                </a:lnTo>
                <a:lnTo>
                  <a:pt x="430125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27478" cy="746878"/>
          </a:xfrm>
          <a:custGeom>
            <a:avLst/>
            <a:gdLst/>
            <a:ahLst/>
            <a:cxnLst/>
            <a:rect l="l" t="t" r="r" b="b"/>
            <a:pathLst>
              <a:path w="727478" h="746878">
                <a:moveTo>
                  <a:pt x="0" y="0"/>
                </a:moveTo>
                <a:lnTo>
                  <a:pt x="727478" y="0"/>
                </a:lnTo>
                <a:lnTo>
                  <a:pt x="727478" y="746878"/>
                </a:lnTo>
                <a:lnTo>
                  <a:pt x="0" y="746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929998" y="923925"/>
            <a:ext cx="1514345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7 : prédire sur l’ensemble des données</a:t>
            </a:r>
          </a:p>
        </p:txBody>
      </p:sp>
      <p:sp>
        <p:nvSpPr>
          <p:cNvPr id="4" name="Freeform 4"/>
          <p:cNvSpPr/>
          <p:nvPr/>
        </p:nvSpPr>
        <p:spPr>
          <a:xfrm>
            <a:off x="2425155" y="2204503"/>
            <a:ext cx="13084230" cy="6607536"/>
          </a:xfrm>
          <a:custGeom>
            <a:avLst/>
            <a:gdLst/>
            <a:ahLst/>
            <a:cxnLst/>
            <a:rect l="l" t="t" r="r" b="b"/>
            <a:pathLst>
              <a:path w="13084230" h="6607536">
                <a:moveTo>
                  <a:pt x="0" y="0"/>
                </a:moveTo>
                <a:lnTo>
                  <a:pt x="13084231" y="0"/>
                </a:lnTo>
                <a:lnTo>
                  <a:pt x="13084231" y="6607536"/>
                </a:lnTo>
                <a:lnTo>
                  <a:pt x="0" y="6607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9501727" y="5667206"/>
            <a:ext cx="430125" cy="534317"/>
          </a:xfrm>
          <a:custGeom>
            <a:avLst/>
            <a:gdLst/>
            <a:ahLst/>
            <a:cxnLst/>
            <a:rect l="l" t="t" r="r" b="b"/>
            <a:pathLst>
              <a:path w="430125" h="534317">
                <a:moveTo>
                  <a:pt x="0" y="0"/>
                </a:moveTo>
                <a:lnTo>
                  <a:pt x="430125" y="0"/>
                </a:lnTo>
                <a:lnTo>
                  <a:pt x="430125" y="534317"/>
                </a:lnTo>
                <a:lnTo>
                  <a:pt x="0" y="534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4DF6-CC5A-0C96-0518-FE70EDD2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B6B8B65-7BEF-4EEA-93DB-01695A116E72}"/>
              </a:ext>
            </a:extLst>
          </p:cNvPr>
          <p:cNvGrpSpPr/>
          <p:nvPr/>
        </p:nvGrpSpPr>
        <p:grpSpPr>
          <a:xfrm>
            <a:off x="1166009" y="4141342"/>
            <a:ext cx="7238420" cy="5116957"/>
            <a:chOff x="0" y="0"/>
            <a:chExt cx="9651226" cy="6822609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676B0A8D-20D3-EEB1-145A-60EA3FC50316}"/>
                </a:ext>
              </a:extLst>
            </p:cNvPr>
            <p:cNvSpPr/>
            <p:nvPr/>
          </p:nvSpPr>
          <p:spPr>
            <a:xfrm flipV="1">
              <a:off x="7026344" y="24307"/>
              <a:ext cx="21465" cy="6797960"/>
            </a:xfrm>
            <a:prstGeom prst="line">
              <a:avLst/>
            </a:prstGeom>
            <a:ln w="215900" cap="flat">
              <a:solidFill>
                <a:srgbClr val="2A306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5507A04-4FB7-6DB2-2B02-D3671DC24272}"/>
                </a:ext>
              </a:extLst>
            </p:cNvPr>
            <p:cNvGrpSpPr/>
            <p:nvPr/>
          </p:nvGrpSpPr>
          <p:grpSpPr>
            <a:xfrm>
              <a:off x="4663157" y="0"/>
              <a:ext cx="4988069" cy="1022464"/>
              <a:chOff x="0" y="0"/>
              <a:chExt cx="1029588" cy="211047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18738A3-F71F-D92E-FF9F-DC6A5A5AC0FA}"/>
                  </a:ext>
                </a:extLst>
              </p:cNvPr>
              <p:cNvSpPr/>
              <p:nvPr/>
            </p:nvSpPr>
            <p:spPr>
              <a:xfrm>
                <a:off x="0" y="0"/>
                <a:ext cx="1029588" cy="211047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11047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148964"/>
                    </a:lnTo>
                    <a:cubicBezTo>
                      <a:pt x="1029588" y="165429"/>
                      <a:pt x="1023047" y="181220"/>
                      <a:pt x="1011404" y="192863"/>
                    </a:cubicBezTo>
                    <a:cubicBezTo>
                      <a:pt x="999761" y="204506"/>
                      <a:pt x="983970" y="211047"/>
                      <a:pt x="967505" y="211047"/>
                    </a:cubicBezTo>
                    <a:lnTo>
                      <a:pt x="62083" y="211047"/>
                    </a:lnTo>
                    <a:cubicBezTo>
                      <a:pt x="27796" y="211047"/>
                      <a:pt x="0" y="183251"/>
                      <a:pt x="0" y="148964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02A8242-6A1F-A3A0-8C86-0A63C535C66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29588" cy="239622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Annoter les données aléatoirement</a:t>
                </a:r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747C50B-3B47-C8E6-6236-38B65014AFBB}"/>
                </a:ext>
              </a:extLst>
            </p:cNvPr>
            <p:cNvSpPr/>
            <p:nvPr/>
          </p:nvSpPr>
          <p:spPr>
            <a:xfrm>
              <a:off x="2724952" y="2343480"/>
              <a:ext cx="3633337" cy="3633337"/>
            </a:xfrm>
            <a:custGeom>
              <a:avLst/>
              <a:gdLst/>
              <a:ahLst/>
              <a:cxnLst/>
              <a:rect l="l" t="t" r="r" b="b"/>
              <a:pathLst>
                <a:path w="3633337" h="3633337">
                  <a:moveTo>
                    <a:pt x="0" y="0"/>
                  </a:moveTo>
                  <a:lnTo>
                    <a:pt x="3633337" y="0"/>
                  </a:lnTo>
                  <a:lnTo>
                    <a:pt x="3633337" y="3633338"/>
                  </a:lnTo>
                  <a:lnTo>
                    <a:pt x="0" y="3633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8B43E736-4D10-04E1-E425-9B6B0D6AFFD7}"/>
                </a:ext>
              </a:extLst>
            </p:cNvPr>
            <p:cNvGrpSpPr/>
            <p:nvPr/>
          </p:nvGrpSpPr>
          <p:grpSpPr>
            <a:xfrm>
              <a:off x="4663157" y="5374425"/>
              <a:ext cx="4988069" cy="1447843"/>
              <a:chOff x="0" y="0"/>
              <a:chExt cx="1029588" cy="298849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3D515F34-EAA1-FFE2-01E0-13D262CB6AD2}"/>
                  </a:ext>
                </a:extLst>
              </p:cNvPr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236766"/>
                    </a:lnTo>
                    <a:cubicBezTo>
                      <a:pt x="1029588" y="253232"/>
                      <a:pt x="1023047" y="269023"/>
                      <a:pt x="1011404" y="280666"/>
                    </a:cubicBezTo>
                    <a:cubicBezTo>
                      <a:pt x="999761" y="292309"/>
                      <a:pt x="983970" y="298849"/>
                      <a:pt x="967505" y="298849"/>
                    </a:cubicBezTo>
                    <a:lnTo>
                      <a:pt x="62083" y="298849"/>
                    </a:lnTo>
                    <a:cubicBezTo>
                      <a:pt x="27796" y="298849"/>
                      <a:pt x="0" y="271054"/>
                      <a:pt x="0" y="236766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D26EC97A-31C3-4D9D-6141-2DCA1952907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Active learning : entraîner un modèle pour annoter les cas </a:t>
                </a:r>
              </a:p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les plus ambigus</a:t>
                </a:r>
              </a:p>
            </p:txBody>
          </p:sp>
        </p:grpSp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1CED9248-7ECD-E787-1B6C-24E9005FC50D}"/>
                </a:ext>
              </a:extLst>
            </p:cNvPr>
            <p:cNvGrpSpPr/>
            <p:nvPr/>
          </p:nvGrpSpPr>
          <p:grpSpPr>
            <a:xfrm>
              <a:off x="4663157" y="1957397"/>
              <a:ext cx="4988069" cy="1447843"/>
              <a:chOff x="0" y="0"/>
              <a:chExt cx="1029588" cy="298849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0D127B7-4921-5A91-08F1-0E8E84845B26}"/>
                  </a:ext>
                </a:extLst>
              </p:cNvPr>
              <p:cNvSpPr/>
              <p:nvPr/>
            </p:nvSpPr>
            <p:spPr>
              <a:xfrm>
                <a:off x="0" y="0"/>
                <a:ext cx="1029588" cy="298849"/>
              </a:xfrm>
              <a:custGeom>
                <a:avLst/>
                <a:gdLst/>
                <a:ahLst/>
                <a:cxnLst/>
                <a:rect l="l" t="t" r="r" b="b"/>
                <a:pathLst>
                  <a:path w="1029588" h="298849">
                    <a:moveTo>
                      <a:pt x="62083" y="0"/>
                    </a:moveTo>
                    <a:lnTo>
                      <a:pt x="967505" y="0"/>
                    </a:lnTo>
                    <a:cubicBezTo>
                      <a:pt x="1001792" y="0"/>
                      <a:pt x="1029588" y="27796"/>
                      <a:pt x="1029588" y="62083"/>
                    </a:cubicBezTo>
                    <a:lnTo>
                      <a:pt x="1029588" y="236766"/>
                    </a:lnTo>
                    <a:cubicBezTo>
                      <a:pt x="1029588" y="253232"/>
                      <a:pt x="1023047" y="269023"/>
                      <a:pt x="1011404" y="280666"/>
                    </a:cubicBezTo>
                    <a:cubicBezTo>
                      <a:pt x="999761" y="292309"/>
                      <a:pt x="983970" y="298849"/>
                      <a:pt x="967505" y="298849"/>
                    </a:cubicBezTo>
                    <a:lnTo>
                      <a:pt x="62083" y="298849"/>
                    </a:lnTo>
                    <a:cubicBezTo>
                      <a:pt x="27796" y="298849"/>
                      <a:pt x="0" y="271054"/>
                      <a:pt x="0" y="236766"/>
                    </a:cubicBezTo>
                    <a:lnTo>
                      <a:pt x="0" y="62083"/>
                    </a:lnTo>
                    <a:cubicBezTo>
                      <a:pt x="0" y="27796"/>
                      <a:pt x="27796" y="0"/>
                      <a:pt x="62083" y="0"/>
                    </a:cubicBezTo>
                    <a:close/>
                  </a:path>
                </a:pathLst>
              </a:custGeom>
              <a:solidFill>
                <a:srgbClr val="EA6F26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TextBox 13">
                <a:extLst>
                  <a:ext uri="{FF2B5EF4-FFF2-40B4-BE49-F238E27FC236}">
                    <a16:creationId xmlns:a16="http://schemas.microsoft.com/office/drawing/2014/main" id="{587A3366-6127-DC34-FBE6-C8C9BBBD0AD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029588" cy="327424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Search : annoter des données choisies par des RegEx, des mots-clés ou du génératif</a:t>
                </a:r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82445D2C-0357-865A-F810-D3C6A7175E41}"/>
                </a:ext>
              </a:extLst>
            </p:cNvPr>
            <p:cNvGrpSpPr/>
            <p:nvPr/>
          </p:nvGrpSpPr>
          <p:grpSpPr>
            <a:xfrm>
              <a:off x="0" y="3753308"/>
              <a:ext cx="4014875" cy="1129790"/>
              <a:chOff x="0" y="0"/>
              <a:chExt cx="828711" cy="233200"/>
            </a:xfrm>
          </p:grpSpPr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D89E63EE-5E55-C8AB-009F-0E825C5889F3}"/>
                  </a:ext>
                </a:extLst>
              </p:cNvPr>
              <p:cNvSpPr/>
              <p:nvPr/>
            </p:nvSpPr>
            <p:spPr>
              <a:xfrm>
                <a:off x="0" y="0"/>
                <a:ext cx="828711" cy="233200"/>
              </a:xfrm>
              <a:custGeom>
                <a:avLst/>
                <a:gdLst/>
                <a:ahLst/>
                <a:cxnLst/>
                <a:rect l="l" t="t" r="r" b="b"/>
                <a:pathLst>
                  <a:path w="828711" h="233200">
                    <a:moveTo>
                      <a:pt x="77132" y="0"/>
                    </a:moveTo>
                    <a:lnTo>
                      <a:pt x="751578" y="0"/>
                    </a:lnTo>
                    <a:cubicBezTo>
                      <a:pt x="772035" y="0"/>
                      <a:pt x="791654" y="8126"/>
                      <a:pt x="806119" y="22592"/>
                    </a:cubicBezTo>
                    <a:cubicBezTo>
                      <a:pt x="820584" y="37057"/>
                      <a:pt x="828711" y="56676"/>
                      <a:pt x="828711" y="77132"/>
                    </a:cubicBezTo>
                    <a:lnTo>
                      <a:pt x="828711" y="156068"/>
                    </a:lnTo>
                    <a:cubicBezTo>
                      <a:pt x="828711" y="198667"/>
                      <a:pt x="794177" y="233200"/>
                      <a:pt x="751578" y="233200"/>
                    </a:cubicBezTo>
                    <a:lnTo>
                      <a:pt x="77132" y="233200"/>
                    </a:lnTo>
                    <a:cubicBezTo>
                      <a:pt x="56676" y="233200"/>
                      <a:pt x="37057" y="225074"/>
                      <a:pt x="22592" y="210609"/>
                    </a:cubicBezTo>
                    <a:cubicBezTo>
                      <a:pt x="8126" y="196143"/>
                      <a:pt x="0" y="176524"/>
                      <a:pt x="0" y="156068"/>
                    </a:cubicBezTo>
                    <a:lnTo>
                      <a:pt x="0" y="77132"/>
                    </a:lnTo>
                    <a:cubicBezTo>
                      <a:pt x="0" y="56676"/>
                      <a:pt x="8126" y="37057"/>
                      <a:pt x="22592" y="22592"/>
                    </a:cubicBezTo>
                    <a:cubicBezTo>
                      <a:pt x="37057" y="8126"/>
                      <a:pt x="56676" y="0"/>
                      <a:pt x="77132" y="0"/>
                    </a:cubicBezTo>
                    <a:close/>
                  </a:path>
                </a:pathLst>
              </a:custGeom>
              <a:solidFill>
                <a:srgbClr val="2A3067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TextBox 16">
                <a:extLst>
                  <a:ext uri="{FF2B5EF4-FFF2-40B4-BE49-F238E27FC236}">
                    <a16:creationId xmlns:a16="http://schemas.microsoft.com/office/drawing/2014/main" id="{2188D1F2-CF45-0BBD-BBDD-554389D6972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28711" cy="261775"/>
              </a:xfrm>
              <a:prstGeom prst="rect">
                <a:avLst/>
              </a:prstGeom>
            </p:spPr>
            <p:txBody>
              <a:bodyPr lIns="48320" tIns="48320" rIns="48320" bIns="48320" rtlCol="0" anchor="ctr"/>
              <a:lstStyle/>
              <a:p>
                <a:pPr algn="ctr">
                  <a:lnSpc>
                    <a:spcPts val="2520"/>
                  </a:lnSpc>
                  <a:spcBef>
                    <a:spcPct val="0"/>
                  </a:spcBef>
                </a:pPr>
                <a:r>
                  <a:rPr lang="en-US" sz="1800" b="1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Modifier le codebook par itérations successives</a:t>
                </a:r>
              </a:p>
            </p:txBody>
          </p:sp>
        </p:grp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4ED7430A-A80A-B323-1434-98BE43301D5F}"/>
              </a:ext>
            </a:extLst>
          </p:cNvPr>
          <p:cNvSpPr txBox="1"/>
          <p:nvPr/>
        </p:nvSpPr>
        <p:spPr>
          <a:xfrm>
            <a:off x="1074686" y="1114425"/>
            <a:ext cx="15685922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Rappel : le workflow d’un projet ActiveTigger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9031A45-095C-CC50-8464-A1E2B7E9FD05}"/>
              </a:ext>
            </a:extLst>
          </p:cNvPr>
          <p:cNvSpPr txBox="1"/>
          <p:nvPr/>
        </p:nvSpPr>
        <p:spPr>
          <a:xfrm>
            <a:off x="1166009" y="3167592"/>
            <a:ext cx="59456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2 : Définir son guide d’annotation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F75EA91-A370-8177-9DFD-D72692CEADBD}"/>
              </a:ext>
            </a:extLst>
          </p:cNvPr>
          <p:cNvSpPr txBox="1"/>
          <p:nvPr/>
        </p:nvSpPr>
        <p:spPr>
          <a:xfrm>
            <a:off x="1166009" y="2370048"/>
            <a:ext cx="59456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1 : Création du projet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04D83518-CD42-BF7C-1342-2E4D38DF8034}"/>
              </a:ext>
            </a:extLst>
          </p:cNvPr>
          <p:cNvSpPr/>
          <p:nvPr/>
        </p:nvSpPr>
        <p:spPr>
          <a:xfrm flipH="1" flipV="1">
            <a:off x="9107863" y="2357914"/>
            <a:ext cx="45662" cy="7222837"/>
          </a:xfrm>
          <a:prstGeom prst="line">
            <a:avLst/>
          </a:prstGeom>
          <a:ln w="19050" cap="flat">
            <a:solidFill>
              <a:srgbClr val="2A306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A5D924C-A012-11EA-9E2B-4533837A2934}"/>
              </a:ext>
            </a:extLst>
          </p:cNvPr>
          <p:cNvSpPr txBox="1"/>
          <p:nvPr/>
        </p:nvSpPr>
        <p:spPr>
          <a:xfrm>
            <a:off x="9583668" y="2370048"/>
            <a:ext cx="753747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3 :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Annoter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les jeux de données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D988423-07C5-8CED-B72D-8954DE4C97D0}"/>
              </a:ext>
            </a:extLst>
          </p:cNvPr>
          <p:cNvSpPr txBox="1"/>
          <p:nvPr/>
        </p:nvSpPr>
        <p:spPr>
          <a:xfrm>
            <a:off x="9583668" y="3567053"/>
            <a:ext cx="410462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4 :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Entraîner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des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modèles</a:t>
            </a:r>
            <a:endParaRPr lang="en-US" sz="20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57EC116-6409-102F-1679-07553CF1E274}"/>
              </a:ext>
            </a:extLst>
          </p:cNvPr>
          <p:cNvSpPr txBox="1"/>
          <p:nvPr/>
        </p:nvSpPr>
        <p:spPr>
          <a:xfrm>
            <a:off x="9583668" y="4850043"/>
            <a:ext cx="423373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5 : Sélectionner un modèle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BF9474E-DF56-8E92-1681-9DCF425333FA}"/>
              </a:ext>
            </a:extLst>
          </p:cNvPr>
          <p:cNvSpPr txBox="1"/>
          <p:nvPr/>
        </p:nvSpPr>
        <p:spPr>
          <a:xfrm>
            <a:off x="9561177" y="6148196"/>
            <a:ext cx="520959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6 : Évaluer le modèle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08C5A8B-858D-6CC3-DCDD-0692394DCBEF}"/>
              </a:ext>
            </a:extLst>
          </p:cNvPr>
          <p:cNvSpPr txBox="1"/>
          <p:nvPr/>
        </p:nvSpPr>
        <p:spPr>
          <a:xfrm>
            <a:off x="9583668" y="7485410"/>
            <a:ext cx="621096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Étape 7 :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Prédire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sur </a:t>
            </a:r>
            <a:r>
              <a:rPr lang="en-US" sz="2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l’ensemble</a:t>
            </a:r>
            <a:r>
              <a:rPr lang="en-US" sz="2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des données</a:t>
            </a: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A54AD31A-A3EE-6AEC-24A3-16A2A5374A3D}"/>
              </a:ext>
            </a:extLst>
          </p:cNvPr>
          <p:cNvSpPr/>
          <p:nvPr/>
        </p:nvSpPr>
        <p:spPr>
          <a:xfrm>
            <a:off x="13291305" y="5958833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B0A24B0A-4233-3A65-F8CE-6655202A7F23}"/>
              </a:ext>
            </a:extLst>
          </p:cNvPr>
          <p:cNvGrpSpPr/>
          <p:nvPr/>
        </p:nvGrpSpPr>
        <p:grpSpPr>
          <a:xfrm>
            <a:off x="13200121" y="6135349"/>
            <a:ext cx="685971" cy="1126111"/>
            <a:chOff x="0" y="-14228"/>
            <a:chExt cx="22819" cy="37461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C3D162F-341F-E02E-DB2F-04581AB4F337}"/>
                </a:ext>
              </a:extLst>
            </p:cNvPr>
            <p:cNvSpPr/>
            <p:nvPr/>
          </p:nvSpPr>
          <p:spPr>
            <a:xfrm>
              <a:off x="0" y="0"/>
              <a:ext cx="22819" cy="8886"/>
            </a:xfrm>
            <a:custGeom>
              <a:avLst/>
              <a:gdLst/>
              <a:ahLst/>
              <a:cxnLst/>
              <a:rect l="l" t="t" r="r" b="b"/>
              <a:pathLst>
                <a:path w="22819" h="8886">
                  <a:moveTo>
                    <a:pt x="0" y="0"/>
                  </a:moveTo>
                  <a:lnTo>
                    <a:pt x="22819" y="0"/>
                  </a:lnTo>
                  <a:lnTo>
                    <a:pt x="22819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C2900493-974A-B60A-5A90-9392398298F1}"/>
                </a:ext>
              </a:extLst>
            </p:cNvPr>
            <p:cNvSpPr txBox="1"/>
            <p:nvPr/>
          </p:nvSpPr>
          <p:spPr>
            <a:xfrm>
              <a:off x="0" y="-14228"/>
              <a:ext cx="22819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9E54A73C-FF2A-1A15-50BF-21A1DE36268A}"/>
              </a:ext>
            </a:extLst>
          </p:cNvPr>
          <p:cNvSpPr/>
          <p:nvPr/>
        </p:nvSpPr>
        <p:spPr>
          <a:xfrm>
            <a:off x="14294256" y="4604613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4DBB2CB-4C63-8477-381F-45811DD12E50}"/>
              </a:ext>
            </a:extLst>
          </p:cNvPr>
          <p:cNvGrpSpPr/>
          <p:nvPr/>
        </p:nvGrpSpPr>
        <p:grpSpPr>
          <a:xfrm>
            <a:off x="14022151" y="4762715"/>
            <a:ext cx="1054307" cy="1143855"/>
            <a:chOff x="0" y="-14523"/>
            <a:chExt cx="35073" cy="38051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A1619A0-5C0B-7C02-4EAE-805D3A1CBF0B}"/>
                </a:ext>
              </a:extLst>
            </p:cNvPr>
            <p:cNvSpPr/>
            <p:nvPr/>
          </p:nvSpPr>
          <p:spPr>
            <a:xfrm>
              <a:off x="0" y="0"/>
              <a:ext cx="34857" cy="9476"/>
            </a:xfrm>
            <a:custGeom>
              <a:avLst/>
              <a:gdLst/>
              <a:ahLst/>
              <a:cxnLst/>
              <a:rect l="l" t="t" r="r" b="b"/>
              <a:pathLst>
                <a:path w="34857" h="9476">
                  <a:moveTo>
                    <a:pt x="0" y="0"/>
                  </a:moveTo>
                  <a:lnTo>
                    <a:pt x="34857" y="0"/>
                  </a:lnTo>
                  <a:lnTo>
                    <a:pt x="34857" y="9476"/>
                  </a:lnTo>
                  <a:lnTo>
                    <a:pt x="0" y="9476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EFE5F8E-290F-323C-0DD3-C2A1CFCED22C}"/>
                </a:ext>
              </a:extLst>
            </p:cNvPr>
            <p:cNvSpPr txBox="1"/>
            <p:nvPr/>
          </p:nvSpPr>
          <p:spPr>
            <a:xfrm>
              <a:off x="216" y="-14523"/>
              <a:ext cx="34857" cy="3805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Validation Set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CA26B334-FFCF-C7C9-272E-BC695ECB49AC}"/>
              </a:ext>
            </a:extLst>
          </p:cNvPr>
          <p:cNvSpPr/>
          <p:nvPr/>
        </p:nvSpPr>
        <p:spPr>
          <a:xfrm>
            <a:off x="15694166" y="7306426"/>
            <a:ext cx="633958" cy="547284"/>
          </a:xfrm>
          <a:custGeom>
            <a:avLst/>
            <a:gdLst/>
            <a:ahLst/>
            <a:cxnLst/>
            <a:rect l="l" t="t" r="r" b="b"/>
            <a:pathLst>
              <a:path w="633958" h="547284">
                <a:moveTo>
                  <a:pt x="0" y="0"/>
                </a:moveTo>
                <a:lnTo>
                  <a:pt x="633958" y="0"/>
                </a:lnTo>
                <a:lnTo>
                  <a:pt x="633958" y="547284"/>
                </a:lnTo>
                <a:lnTo>
                  <a:pt x="0" y="547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049EE614-F339-77EF-7A07-72599C760FA0}"/>
              </a:ext>
            </a:extLst>
          </p:cNvPr>
          <p:cNvGrpSpPr/>
          <p:nvPr/>
        </p:nvGrpSpPr>
        <p:grpSpPr>
          <a:xfrm>
            <a:off x="15343399" y="7524356"/>
            <a:ext cx="1377186" cy="1126111"/>
            <a:chOff x="0" y="-14719"/>
            <a:chExt cx="45813" cy="37461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D2D767E-5B37-C9A7-8ECA-807BA2A00B9B}"/>
                </a:ext>
              </a:extLst>
            </p:cNvPr>
            <p:cNvSpPr/>
            <p:nvPr/>
          </p:nvSpPr>
          <p:spPr>
            <a:xfrm>
              <a:off x="0" y="0"/>
              <a:ext cx="45813" cy="8886"/>
            </a:xfrm>
            <a:custGeom>
              <a:avLst/>
              <a:gdLst/>
              <a:ahLst/>
              <a:cxnLst/>
              <a:rect l="l" t="t" r="r" b="b"/>
              <a:pathLst>
                <a:path w="45813" h="8886">
                  <a:moveTo>
                    <a:pt x="0" y="0"/>
                  </a:moveTo>
                  <a:lnTo>
                    <a:pt x="45813" y="0"/>
                  </a:lnTo>
                  <a:lnTo>
                    <a:pt x="45813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6982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5663D8F-CED1-3209-CBB9-DFF411DA16A0}"/>
                </a:ext>
              </a:extLst>
            </p:cNvPr>
            <p:cNvSpPr txBox="1"/>
            <p:nvPr/>
          </p:nvSpPr>
          <p:spPr>
            <a:xfrm>
              <a:off x="0" y="-14719"/>
              <a:ext cx="45813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Données </a:t>
              </a:r>
              <a:r>
                <a:rPr lang="en-US" sz="1000" b="1" dirty="0" err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restantes</a:t>
              </a:r>
              <a:endParaRPr lang="en-US" sz="1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endParaRPr>
            </a:p>
          </p:txBody>
        </p:sp>
      </p:grpSp>
      <p:sp>
        <p:nvSpPr>
          <p:cNvPr id="38" name="Freeform 38">
            <a:extLst>
              <a:ext uri="{FF2B5EF4-FFF2-40B4-BE49-F238E27FC236}">
                <a16:creationId xmlns:a16="http://schemas.microsoft.com/office/drawing/2014/main" id="{9C8275CD-C7B1-D966-5BD7-20497C7660CB}"/>
              </a:ext>
            </a:extLst>
          </p:cNvPr>
          <p:cNvSpPr/>
          <p:nvPr/>
        </p:nvSpPr>
        <p:spPr>
          <a:xfrm>
            <a:off x="13817400" y="3398747"/>
            <a:ext cx="521631" cy="517555"/>
          </a:xfrm>
          <a:custGeom>
            <a:avLst/>
            <a:gdLst/>
            <a:ahLst/>
            <a:cxnLst/>
            <a:rect l="l" t="t" r="r" b="b"/>
            <a:pathLst>
              <a:path w="521631" h="517555">
                <a:moveTo>
                  <a:pt x="0" y="0"/>
                </a:moveTo>
                <a:lnTo>
                  <a:pt x="521630" y="0"/>
                </a:lnTo>
                <a:lnTo>
                  <a:pt x="521630" y="517556"/>
                </a:lnTo>
                <a:lnTo>
                  <a:pt x="0" y="517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36515CD7-8514-794B-863B-5A05F48D42DC}"/>
              </a:ext>
            </a:extLst>
          </p:cNvPr>
          <p:cNvGrpSpPr/>
          <p:nvPr/>
        </p:nvGrpSpPr>
        <p:grpSpPr>
          <a:xfrm>
            <a:off x="13675794" y="3593308"/>
            <a:ext cx="804843" cy="1084707"/>
            <a:chOff x="-2513" y="-14499"/>
            <a:chExt cx="28129" cy="37911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A74AD07-3908-1925-32BF-80F2900C2D7B}"/>
                </a:ext>
              </a:extLst>
            </p:cNvPr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C423679D-3EAB-DAA3-07BC-21D11AA528D4}"/>
                </a:ext>
              </a:extLst>
            </p:cNvPr>
            <p:cNvSpPr txBox="1"/>
            <p:nvPr/>
          </p:nvSpPr>
          <p:spPr>
            <a:xfrm>
              <a:off x="-2513" y="-14499"/>
              <a:ext cx="28129" cy="3791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42" name="Freeform 42">
            <a:extLst>
              <a:ext uri="{FF2B5EF4-FFF2-40B4-BE49-F238E27FC236}">
                <a16:creationId xmlns:a16="http://schemas.microsoft.com/office/drawing/2014/main" id="{BAEA7F88-1248-911E-32B2-98F607433DF4}"/>
              </a:ext>
            </a:extLst>
          </p:cNvPr>
          <p:cNvSpPr/>
          <p:nvPr/>
        </p:nvSpPr>
        <p:spPr>
          <a:xfrm>
            <a:off x="9523077" y="8862593"/>
            <a:ext cx="7925843" cy="460025"/>
          </a:xfrm>
          <a:custGeom>
            <a:avLst/>
            <a:gdLst/>
            <a:ahLst/>
            <a:cxnLst/>
            <a:rect l="l" t="t" r="r" b="b"/>
            <a:pathLst>
              <a:path w="7925843" h="460025">
                <a:moveTo>
                  <a:pt x="0" y="0"/>
                </a:moveTo>
                <a:lnTo>
                  <a:pt x="7925843" y="0"/>
                </a:lnTo>
                <a:lnTo>
                  <a:pt x="7925843" y="460025"/>
                </a:lnTo>
                <a:lnTo>
                  <a:pt x="0" y="460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0CD4B0B1-2EEC-AEC6-FD9A-790696FEA35E}"/>
              </a:ext>
            </a:extLst>
          </p:cNvPr>
          <p:cNvSpPr/>
          <p:nvPr/>
        </p:nvSpPr>
        <p:spPr>
          <a:xfrm>
            <a:off x="14622250" y="2131728"/>
            <a:ext cx="521631" cy="517555"/>
          </a:xfrm>
          <a:custGeom>
            <a:avLst/>
            <a:gdLst/>
            <a:ahLst/>
            <a:cxnLst/>
            <a:rect l="l" t="t" r="r" b="b"/>
            <a:pathLst>
              <a:path w="521631" h="517555">
                <a:moveTo>
                  <a:pt x="0" y="0"/>
                </a:moveTo>
                <a:lnTo>
                  <a:pt x="521630" y="0"/>
                </a:lnTo>
                <a:lnTo>
                  <a:pt x="521630" y="517556"/>
                </a:lnTo>
                <a:lnTo>
                  <a:pt x="0" y="5175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BA5C4A90-0EE2-DFA9-152E-40A1A27B5F9B}"/>
              </a:ext>
            </a:extLst>
          </p:cNvPr>
          <p:cNvGrpSpPr/>
          <p:nvPr/>
        </p:nvGrpSpPr>
        <p:grpSpPr>
          <a:xfrm>
            <a:off x="14487282" y="2339050"/>
            <a:ext cx="797346" cy="1084707"/>
            <a:chOff x="-2281" y="-14053"/>
            <a:chExt cx="27867" cy="37911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78E37964-8BDF-DFF9-C223-7874EB49F67A}"/>
                </a:ext>
              </a:extLst>
            </p:cNvPr>
            <p:cNvSpPr/>
            <p:nvPr/>
          </p:nvSpPr>
          <p:spPr>
            <a:xfrm>
              <a:off x="0" y="0"/>
              <a:ext cx="23103" cy="9336"/>
            </a:xfrm>
            <a:custGeom>
              <a:avLst/>
              <a:gdLst/>
              <a:ahLst/>
              <a:cxnLst/>
              <a:rect l="l" t="t" r="r" b="b"/>
              <a:pathLst>
                <a:path w="23103" h="9336">
                  <a:moveTo>
                    <a:pt x="0" y="0"/>
                  </a:moveTo>
                  <a:lnTo>
                    <a:pt x="23103" y="0"/>
                  </a:lnTo>
                  <a:lnTo>
                    <a:pt x="23103" y="9336"/>
                  </a:lnTo>
                  <a:lnTo>
                    <a:pt x="0" y="9336"/>
                  </a:lnTo>
                  <a:close/>
                </a:path>
              </a:pathLst>
            </a:custGeom>
            <a:solidFill>
              <a:srgbClr val="B7CFA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C7CCE33B-C615-9703-2A04-1D29CA9C673A}"/>
                </a:ext>
              </a:extLst>
            </p:cNvPr>
            <p:cNvSpPr txBox="1"/>
            <p:nvPr/>
          </p:nvSpPr>
          <p:spPr>
            <a:xfrm>
              <a:off x="-2281" y="-14053"/>
              <a:ext cx="27867" cy="3791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Train Set</a:t>
              </a:r>
            </a:p>
          </p:txBody>
        </p:sp>
      </p:grpSp>
      <p:sp>
        <p:nvSpPr>
          <p:cNvPr id="47" name="Freeform 47">
            <a:extLst>
              <a:ext uri="{FF2B5EF4-FFF2-40B4-BE49-F238E27FC236}">
                <a16:creationId xmlns:a16="http://schemas.microsoft.com/office/drawing/2014/main" id="{B3801395-9E4A-C0CA-BB66-299918441DB4}"/>
              </a:ext>
            </a:extLst>
          </p:cNvPr>
          <p:cNvSpPr/>
          <p:nvPr/>
        </p:nvSpPr>
        <p:spPr>
          <a:xfrm>
            <a:off x="15536756" y="2128716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8" name="Group 48">
            <a:extLst>
              <a:ext uri="{FF2B5EF4-FFF2-40B4-BE49-F238E27FC236}">
                <a16:creationId xmlns:a16="http://schemas.microsoft.com/office/drawing/2014/main" id="{A0D9FF57-A4AC-8E49-F934-813EFC04152A}"/>
              </a:ext>
            </a:extLst>
          </p:cNvPr>
          <p:cNvGrpSpPr/>
          <p:nvPr/>
        </p:nvGrpSpPr>
        <p:grpSpPr>
          <a:xfrm>
            <a:off x="15264651" y="2293882"/>
            <a:ext cx="1047814" cy="1143855"/>
            <a:chOff x="0" y="-14288"/>
            <a:chExt cx="34857" cy="38051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9F9AF7BF-7F2F-09CC-5BCA-8234BBD60322}"/>
                </a:ext>
              </a:extLst>
            </p:cNvPr>
            <p:cNvSpPr/>
            <p:nvPr/>
          </p:nvSpPr>
          <p:spPr>
            <a:xfrm>
              <a:off x="0" y="0"/>
              <a:ext cx="34857" cy="9476"/>
            </a:xfrm>
            <a:custGeom>
              <a:avLst/>
              <a:gdLst/>
              <a:ahLst/>
              <a:cxnLst/>
              <a:rect l="l" t="t" r="r" b="b"/>
              <a:pathLst>
                <a:path w="34857" h="9476">
                  <a:moveTo>
                    <a:pt x="0" y="0"/>
                  </a:moveTo>
                  <a:lnTo>
                    <a:pt x="34857" y="0"/>
                  </a:lnTo>
                  <a:lnTo>
                    <a:pt x="34857" y="9476"/>
                  </a:lnTo>
                  <a:lnTo>
                    <a:pt x="0" y="9476"/>
                  </a:lnTo>
                  <a:close/>
                </a:path>
              </a:pathLst>
            </a:custGeom>
            <a:solidFill>
              <a:srgbClr val="AACF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6BBEA0B1-444A-F175-ACE6-9CC479FA84A4}"/>
                </a:ext>
              </a:extLst>
            </p:cNvPr>
            <p:cNvSpPr txBox="1"/>
            <p:nvPr/>
          </p:nvSpPr>
          <p:spPr>
            <a:xfrm>
              <a:off x="0" y="-14288"/>
              <a:ext cx="34857" cy="3805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Validation Set</a:t>
              </a:r>
            </a:p>
          </p:txBody>
        </p:sp>
      </p:grpSp>
      <p:sp>
        <p:nvSpPr>
          <p:cNvPr id="51" name="Freeform 51">
            <a:extLst>
              <a:ext uri="{FF2B5EF4-FFF2-40B4-BE49-F238E27FC236}">
                <a16:creationId xmlns:a16="http://schemas.microsoft.com/office/drawing/2014/main" id="{378A8021-4384-C4FB-582F-29D09BFD44D5}"/>
              </a:ext>
            </a:extLst>
          </p:cNvPr>
          <p:cNvSpPr/>
          <p:nvPr/>
        </p:nvSpPr>
        <p:spPr>
          <a:xfrm>
            <a:off x="16441926" y="2128716"/>
            <a:ext cx="503604" cy="490785"/>
          </a:xfrm>
          <a:custGeom>
            <a:avLst/>
            <a:gdLst/>
            <a:ahLst/>
            <a:cxnLst/>
            <a:rect l="l" t="t" r="r" b="b"/>
            <a:pathLst>
              <a:path w="503604" h="490785">
                <a:moveTo>
                  <a:pt x="0" y="0"/>
                </a:moveTo>
                <a:lnTo>
                  <a:pt x="503604" y="0"/>
                </a:lnTo>
                <a:lnTo>
                  <a:pt x="503604" y="490785"/>
                </a:lnTo>
                <a:lnTo>
                  <a:pt x="0" y="490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52" name="Group 52">
            <a:extLst>
              <a:ext uri="{FF2B5EF4-FFF2-40B4-BE49-F238E27FC236}">
                <a16:creationId xmlns:a16="http://schemas.microsoft.com/office/drawing/2014/main" id="{5AF5E862-DE96-4DEE-E76C-2B4001D5941A}"/>
              </a:ext>
            </a:extLst>
          </p:cNvPr>
          <p:cNvGrpSpPr/>
          <p:nvPr/>
        </p:nvGrpSpPr>
        <p:grpSpPr>
          <a:xfrm>
            <a:off x="16350743" y="2297656"/>
            <a:ext cx="690781" cy="1126111"/>
            <a:chOff x="0" y="-14480"/>
            <a:chExt cx="22979" cy="37461"/>
          </a:xfrm>
        </p:grpSpPr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AD2B5F1C-4D70-0107-A9A3-1B891B611951}"/>
                </a:ext>
              </a:extLst>
            </p:cNvPr>
            <p:cNvSpPr/>
            <p:nvPr/>
          </p:nvSpPr>
          <p:spPr>
            <a:xfrm>
              <a:off x="0" y="0"/>
              <a:ext cx="22819" cy="8886"/>
            </a:xfrm>
            <a:custGeom>
              <a:avLst/>
              <a:gdLst/>
              <a:ahLst/>
              <a:cxnLst/>
              <a:rect l="l" t="t" r="r" b="b"/>
              <a:pathLst>
                <a:path w="22819" h="8886">
                  <a:moveTo>
                    <a:pt x="0" y="0"/>
                  </a:moveTo>
                  <a:lnTo>
                    <a:pt x="22819" y="0"/>
                  </a:lnTo>
                  <a:lnTo>
                    <a:pt x="22819" y="8886"/>
                  </a:lnTo>
                  <a:lnTo>
                    <a:pt x="0" y="8886"/>
                  </a:lnTo>
                  <a:close/>
                </a:path>
              </a:pathLst>
            </a:custGeom>
            <a:solidFill>
              <a:srgbClr val="8CAD75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Box 54">
              <a:extLst>
                <a:ext uri="{FF2B5EF4-FFF2-40B4-BE49-F238E27FC236}">
                  <a16:creationId xmlns:a16="http://schemas.microsoft.com/office/drawing/2014/main" id="{37E2DFDB-FF69-B9BB-32D2-ADC751CEB641}"/>
                </a:ext>
              </a:extLst>
            </p:cNvPr>
            <p:cNvSpPr txBox="1"/>
            <p:nvPr/>
          </p:nvSpPr>
          <p:spPr>
            <a:xfrm>
              <a:off x="160" y="-14480"/>
              <a:ext cx="22819" cy="37461"/>
            </a:xfrm>
            <a:prstGeom prst="rect">
              <a:avLst/>
            </a:prstGeom>
          </p:spPr>
          <p:txBody>
            <a:bodyPr lIns="50487" tIns="50487" rIns="50487" bIns="50487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1" dirty="0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Test 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68089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2304" y="4279900"/>
            <a:ext cx="61033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0969" y="3865222"/>
            <a:ext cx="6783391" cy="4780712"/>
          </a:xfrm>
          <a:custGeom>
            <a:avLst/>
            <a:gdLst/>
            <a:ahLst/>
            <a:cxnLst/>
            <a:rect l="l" t="t" r="r" b="b"/>
            <a:pathLst>
              <a:path w="6783391" h="4780712">
                <a:moveTo>
                  <a:pt x="0" y="0"/>
                </a:moveTo>
                <a:lnTo>
                  <a:pt x="6783391" y="0"/>
                </a:lnTo>
                <a:lnTo>
                  <a:pt x="6783391" y="4780712"/>
                </a:lnTo>
                <a:lnTo>
                  <a:pt x="0" y="4780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89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89513" y="2284529"/>
            <a:ext cx="800418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(RQ1) : Pratique minoritaire mais non marginale.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89042" y="3372455"/>
            <a:ext cx="8987245" cy="29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8"/>
              </a:lnSpc>
            </a:pPr>
            <a:r>
              <a:rPr lang="en-US" sz="20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Répartition des amendements de la XVIIème législature* selon leur sourcing (en %)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11095" y="8598309"/>
            <a:ext cx="10087863" cy="25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4"/>
              </a:lnSpc>
            </a:pPr>
            <a:r>
              <a:rPr lang="en-US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*à l’exclusion des amendements dont l’exposé sommaire est null ou d’une longueur &gt;1024 tokens.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75911" y="4797594"/>
            <a:ext cx="5345860" cy="4246467"/>
          </a:xfrm>
          <a:custGeom>
            <a:avLst/>
            <a:gdLst/>
            <a:ahLst/>
            <a:cxnLst/>
            <a:rect l="l" t="t" r="r" b="b"/>
            <a:pathLst>
              <a:path w="5345860" h="4246467">
                <a:moveTo>
                  <a:pt x="0" y="0"/>
                </a:moveTo>
                <a:lnTo>
                  <a:pt x="5345860" y="0"/>
                </a:lnTo>
                <a:lnTo>
                  <a:pt x="5345860" y="4246468"/>
                </a:lnTo>
                <a:lnTo>
                  <a:pt x="0" y="424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2059389"/>
            <a:ext cx="8882565" cy="7167614"/>
          </a:xfrm>
          <a:custGeom>
            <a:avLst/>
            <a:gdLst/>
            <a:ahLst/>
            <a:cxnLst/>
            <a:rect l="l" t="t" r="r" b="b"/>
            <a:pathLst>
              <a:path w="8882565" h="7167614">
                <a:moveTo>
                  <a:pt x="0" y="0"/>
                </a:moveTo>
                <a:lnTo>
                  <a:pt x="8882565" y="0"/>
                </a:lnTo>
                <a:lnTo>
                  <a:pt x="8882565" y="7167615"/>
                </a:lnTo>
                <a:lnTo>
                  <a:pt x="0" y="7167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7445" y="1858888"/>
            <a:ext cx="888256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(RQ2) : Différence substantielle entre groupes politiques.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90590" y="9220200"/>
            <a:ext cx="8900691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*à l’exclusion des amendements dont l’exposé sommaire est null ou d’une longueur &gt;1024 tokens.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7719" y="4187926"/>
            <a:ext cx="3884077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À mettre au regard du volume des amendements déposés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7719" y="2803626"/>
            <a:ext cx="7131983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 NI et LIOT sont-ils plus soumis à influence ou plus transparents 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0890" y="2516682"/>
            <a:ext cx="15986221" cy="5785014"/>
          </a:xfrm>
          <a:custGeom>
            <a:avLst/>
            <a:gdLst/>
            <a:ahLst/>
            <a:cxnLst/>
            <a:rect l="l" t="t" r="r" b="b"/>
            <a:pathLst>
              <a:path w="15986221" h="5785014">
                <a:moveTo>
                  <a:pt x="0" y="0"/>
                </a:moveTo>
                <a:lnTo>
                  <a:pt x="15986220" y="0"/>
                </a:lnTo>
                <a:lnTo>
                  <a:pt x="15986220" y="5785014"/>
                </a:lnTo>
                <a:lnTo>
                  <a:pt x="0" y="5785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857584" y="2352821"/>
            <a:ext cx="2510315" cy="1797342"/>
            <a:chOff x="0" y="0"/>
            <a:chExt cx="661153" cy="4733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1153" cy="473374"/>
            </a:xfrm>
            <a:custGeom>
              <a:avLst/>
              <a:gdLst/>
              <a:ahLst/>
              <a:cxnLst/>
              <a:rect l="l" t="t" r="r" b="b"/>
              <a:pathLst>
                <a:path w="661153" h="473374">
                  <a:moveTo>
                    <a:pt x="0" y="0"/>
                  </a:moveTo>
                  <a:lnTo>
                    <a:pt x="661153" y="0"/>
                  </a:lnTo>
                  <a:lnTo>
                    <a:pt x="661153" y="473374"/>
                  </a:lnTo>
                  <a:lnTo>
                    <a:pt x="0" y="47337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61153" cy="501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de finances + Projet de loi de financement de la sécurité sociale pour 2025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39325" y="1787525"/>
            <a:ext cx="2898732" cy="1130592"/>
            <a:chOff x="0" y="0"/>
            <a:chExt cx="763452" cy="297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3452" cy="297769"/>
            </a:xfrm>
            <a:custGeom>
              <a:avLst/>
              <a:gdLst/>
              <a:ahLst/>
              <a:cxnLst/>
              <a:rect l="l" t="t" r="r" b="b"/>
              <a:pathLst>
                <a:path w="763452" h="297769">
                  <a:moveTo>
                    <a:pt x="0" y="0"/>
                  </a:moveTo>
                  <a:lnTo>
                    <a:pt x="763452" y="0"/>
                  </a:lnTo>
                  <a:lnTo>
                    <a:pt x="763452" y="297769"/>
                  </a:lnTo>
                  <a:lnTo>
                    <a:pt x="0" y="2977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63452" cy="32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d'urgence pour la protection et la souveraineté agricoles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46106" y="3065297"/>
            <a:ext cx="3402537" cy="1463967"/>
            <a:chOff x="0" y="0"/>
            <a:chExt cx="896141" cy="385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6141" cy="385572"/>
            </a:xfrm>
            <a:custGeom>
              <a:avLst/>
              <a:gdLst/>
              <a:ahLst/>
              <a:cxnLst/>
              <a:rect l="l" t="t" r="r" b="b"/>
              <a:pathLst>
                <a:path w="896141" h="385572">
                  <a:moveTo>
                    <a:pt x="0" y="0"/>
                  </a:moveTo>
                  <a:lnTo>
                    <a:pt x="896141" y="0"/>
                  </a:lnTo>
                  <a:lnTo>
                    <a:pt x="896141" y="385572"/>
                  </a:lnTo>
                  <a:lnTo>
                    <a:pt x="0" y="3855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96141" cy="41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Proposition de loi visant à lever les contraintes à l'exercice du métier d'agriculteur (“loi Duplomb”)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0890" y="8616052"/>
            <a:ext cx="1545339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(RQ3) : davantage de sourcing lors des grands moments parlementaires (PLF)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17466" y="9034130"/>
            <a:ext cx="665306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sur des textes relatifs à l’agriculture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77226" y="4265410"/>
            <a:ext cx="937376" cy="211681"/>
            <a:chOff x="0" y="0"/>
            <a:chExt cx="1249834" cy="282241"/>
          </a:xfrm>
        </p:grpSpPr>
        <p:sp>
          <p:nvSpPr>
            <p:cNvPr id="16" name="AutoShape 16"/>
            <p:cNvSpPr/>
            <p:nvPr/>
          </p:nvSpPr>
          <p:spPr>
            <a:xfrm>
              <a:off x="2600" y="25400"/>
              <a:ext cx="1244634" cy="733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AutoShape 17"/>
            <p:cNvSpPr/>
            <p:nvPr/>
          </p:nvSpPr>
          <p:spPr>
            <a:xfrm flipH="1">
              <a:off x="25400" y="25421"/>
              <a:ext cx="325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utoShape 18"/>
            <p:cNvSpPr/>
            <p:nvPr/>
          </p:nvSpPr>
          <p:spPr>
            <a:xfrm flipH="1">
              <a:off x="1224109" y="25400"/>
              <a:ext cx="325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207744" y="2958292"/>
            <a:ext cx="264652" cy="214015"/>
            <a:chOff x="0" y="0"/>
            <a:chExt cx="352869" cy="285354"/>
          </a:xfrm>
        </p:grpSpPr>
        <p:sp>
          <p:nvSpPr>
            <p:cNvPr id="20" name="AutoShape 20"/>
            <p:cNvSpPr/>
            <p:nvPr/>
          </p:nvSpPr>
          <p:spPr>
            <a:xfrm flipV="1">
              <a:off x="11779" y="25399"/>
              <a:ext cx="329311" cy="31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AutoShape 21"/>
            <p:cNvSpPr/>
            <p:nvPr/>
          </p:nvSpPr>
          <p:spPr>
            <a:xfrm flipH="1">
              <a:off x="25400" y="285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22"/>
            <p:cNvSpPr/>
            <p:nvPr/>
          </p:nvSpPr>
          <p:spPr>
            <a:xfrm flipH="1">
              <a:off x="327351" y="158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67917" y="4635103"/>
            <a:ext cx="255999" cy="214015"/>
            <a:chOff x="0" y="0"/>
            <a:chExt cx="341332" cy="285354"/>
          </a:xfrm>
        </p:grpSpPr>
        <p:sp>
          <p:nvSpPr>
            <p:cNvPr id="24" name="AutoShape 24"/>
            <p:cNvSpPr/>
            <p:nvPr/>
          </p:nvSpPr>
          <p:spPr>
            <a:xfrm flipV="1">
              <a:off x="242" y="25399"/>
              <a:ext cx="329311" cy="31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AutoShape 25"/>
            <p:cNvSpPr/>
            <p:nvPr/>
          </p:nvSpPr>
          <p:spPr>
            <a:xfrm flipH="1">
              <a:off x="26562" y="285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315814" y="158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11265" y="3172308"/>
            <a:ext cx="3787445" cy="1130592"/>
            <a:chOff x="0" y="0"/>
            <a:chExt cx="997516" cy="2977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7516" cy="297769"/>
            </a:xfrm>
            <a:custGeom>
              <a:avLst/>
              <a:gdLst/>
              <a:ahLst/>
              <a:cxnLst/>
              <a:rect l="l" t="t" r="r" b="b"/>
              <a:pathLst>
                <a:path w="997516" h="297769">
                  <a:moveTo>
                    <a:pt x="0" y="0"/>
                  </a:moveTo>
                  <a:lnTo>
                    <a:pt x="997516" y="0"/>
                  </a:lnTo>
                  <a:lnTo>
                    <a:pt x="997516" y="297769"/>
                  </a:lnTo>
                  <a:lnTo>
                    <a:pt x="0" y="2977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997516" cy="32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de finances + Projet de loi de financement de la sécurité sociale pour 2026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573169" y="4393096"/>
            <a:ext cx="729316" cy="272335"/>
            <a:chOff x="0" y="0"/>
            <a:chExt cx="972421" cy="363114"/>
          </a:xfrm>
        </p:grpSpPr>
        <p:sp>
          <p:nvSpPr>
            <p:cNvPr id="31" name="AutoShape 31"/>
            <p:cNvSpPr/>
            <p:nvPr/>
          </p:nvSpPr>
          <p:spPr>
            <a:xfrm>
              <a:off x="7875" y="25399"/>
              <a:ext cx="956670" cy="964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AutoShape 32"/>
            <p:cNvSpPr/>
            <p:nvPr/>
          </p:nvSpPr>
          <p:spPr>
            <a:xfrm flipH="1">
              <a:off x="25400" y="25427"/>
              <a:ext cx="250" cy="3376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AutoShape 33"/>
            <p:cNvSpPr/>
            <p:nvPr/>
          </p:nvSpPr>
          <p:spPr>
            <a:xfrm flipH="1">
              <a:off x="946771" y="25399"/>
              <a:ext cx="250" cy="3376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50890" y="2516682"/>
            <a:ext cx="15986221" cy="5785014"/>
          </a:xfrm>
          <a:custGeom>
            <a:avLst/>
            <a:gdLst/>
            <a:ahLst/>
            <a:cxnLst/>
            <a:rect l="l" t="t" r="r" b="b"/>
            <a:pathLst>
              <a:path w="15986221" h="5785014">
                <a:moveTo>
                  <a:pt x="0" y="0"/>
                </a:moveTo>
                <a:lnTo>
                  <a:pt x="15986220" y="0"/>
                </a:lnTo>
                <a:lnTo>
                  <a:pt x="15986220" y="5785014"/>
                </a:lnTo>
                <a:lnTo>
                  <a:pt x="0" y="5785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857584" y="2352821"/>
            <a:ext cx="2510315" cy="1797342"/>
            <a:chOff x="0" y="0"/>
            <a:chExt cx="661153" cy="4733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1153" cy="473374"/>
            </a:xfrm>
            <a:custGeom>
              <a:avLst/>
              <a:gdLst/>
              <a:ahLst/>
              <a:cxnLst/>
              <a:rect l="l" t="t" r="r" b="b"/>
              <a:pathLst>
                <a:path w="661153" h="473374">
                  <a:moveTo>
                    <a:pt x="0" y="0"/>
                  </a:moveTo>
                  <a:lnTo>
                    <a:pt x="661153" y="0"/>
                  </a:lnTo>
                  <a:lnTo>
                    <a:pt x="661153" y="473374"/>
                  </a:lnTo>
                  <a:lnTo>
                    <a:pt x="0" y="47337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61153" cy="501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de finances + Projet de loi de financement de la sécurité sociale pour 2025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39325" y="1787525"/>
            <a:ext cx="2898732" cy="1130592"/>
            <a:chOff x="0" y="0"/>
            <a:chExt cx="763452" cy="2977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3452" cy="297769"/>
            </a:xfrm>
            <a:custGeom>
              <a:avLst/>
              <a:gdLst/>
              <a:ahLst/>
              <a:cxnLst/>
              <a:rect l="l" t="t" r="r" b="b"/>
              <a:pathLst>
                <a:path w="763452" h="297769">
                  <a:moveTo>
                    <a:pt x="0" y="0"/>
                  </a:moveTo>
                  <a:lnTo>
                    <a:pt x="763452" y="0"/>
                  </a:lnTo>
                  <a:lnTo>
                    <a:pt x="763452" y="297769"/>
                  </a:lnTo>
                  <a:lnTo>
                    <a:pt x="0" y="2977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763452" cy="32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d'urgence pour la protection et la souveraineté agricoles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46106" y="3065297"/>
            <a:ext cx="3402537" cy="1463967"/>
            <a:chOff x="0" y="0"/>
            <a:chExt cx="896141" cy="385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6141" cy="385572"/>
            </a:xfrm>
            <a:custGeom>
              <a:avLst/>
              <a:gdLst/>
              <a:ahLst/>
              <a:cxnLst/>
              <a:rect l="l" t="t" r="r" b="b"/>
              <a:pathLst>
                <a:path w="896141" h="385572">
                  <a:moveTo>
                    <a:pt x="0" y="0"/>
                  </a:moveTo>
                  <a:lnTo>
                    <a:pt x="896141" y="0"/>
                  </a:lnTo>
                  <a:lnTo>
                    <a:pt x="896141" y="385572"/>
                  </a:lnTo>
                  <a:lnTo>
                    <a:pt x="0" y="38557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96141" cy="4141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Proposition de loi visant à lever les contraintes à l'exercice du métier d'agriculteur (“loi Duplomb”)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Quelques résultats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0890" y="8616052"/>
            <a:ext cx="1545339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(RQ3) : davantage de sourcing lors des grands moments parlementaires (PLF)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17466" y="9034130"/>
            <a:ext cx="665306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sur des textes relatifs à l’agriculture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77226" y="4265410"/>
            <a:ext cx="937376" cy="211681"/>
            <a:chOff x="0" y="0"/>
            <a:chExt cx="1249834" cy="282241"/>
          </a:xfrm>
        </p:grpSpPr>
        <p:sp>
          <p:nvSpPr>
            <p:cNvPr id="16" name="AutoShape 16"/>
            <p:cNvSpPr/>
            <p:nvPr/>
          </p:nvSpPr>
          <p:spPr>
            <a:xfrm>
              <a:off x="2600" y="25400"/>
              <a:ext cx="1244634" cy="733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AutoShape 17"/>
            <p:cNvSpPr/>
            <p:nvPr/>
          </p:nvSpPr>
          <p:spPr>
            <a:xfrm flipH="1">
              <a:off x="25400" y="25421"/>
              <a:ext cx="325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utoShape 18"/>
            <p:cNvSpPr/>
            <p:nvPr/>
          </p:nvSpPr>
          <p:spPr>
            <a:xfrm flipH="1">
              <a:off x="1224109" y="25400"/>
              <a:ext cx="325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207744" y="2958292"/>
            <a:ext cx="264652" cy="214015"/>
            <a:chOff x="0" y="0"/>
            <a:chExt cx="352869" cy="285354"/>
          </a:xfrm>
        </p:grpSpPr>
        <p:sp>
          <p:nvSpPr>
            <p:cNvPr id="20" name="AutoShape 20"/>
            <p:cNvSpPr/>
            <p:nvPr/>
          </p:nvSpPr>
          <p:spPr>
            <a:xfrm flipV="1">
              <a:off x="11779" y="25399"/>
              <a:ext cx="329311" cy="31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AutoShape 21"/>
            <p:cNvSpPr/>
            <p:nvPr/>
          </p:nvSpPr>
          <p:spPr>
            <a:xfrm flipH="1">
              <a:off x="25400" y="285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22"/>
            <p:cNvSpPr/>
            <p:nvPr/>
          </p:nvSpPr>
          <p:spPr>
            <a:xfrm flipH="1">
              <a:off x="327351" y="158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67917" y="4635103"/>
            <a:ext cx="255999" cy="214015"/>
            <a:chOff x="0" y="0"/>
            <a:chExt cx="341332" cy="285354"/>
          </a:xfrm>
        </p:grpSpPr>
        <p:sp>
          <p:nvSpPr>
            <p:cNvPr id="24" name="AutoShape 24"/>
            <p:cNvSpPr/>
            <p:nvPr/>
          </p:nvSpPr>
          <p:spPr>
            <a:xfrm flipV="1">
              <a:off x="242" y="25399"/>
              <a:ext cx="329311" cy="313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AutoShape 25"/>
            <p:cNvSpPr/>
            <p:nvPr/>
          </p:nvSpPr>
          <p:spPr>
            <a:xfrm flipH="1">
              <a:off x="26562" y="285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315814" y="15855"/>
              <a:ext cx="118" cy="25678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11265" y="3172308"/>
            <a:ext cx="3787445" cy="1130592"/>
            <a:chOff x="0" y="0"/>
            <a:chExt cx="997516" cy="2977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7516" cy="297769"/>
            </a:xfrm>
            <a:custGeom>
              <a:avLst/>
              <a:gdLst/>
              <a:ahLst/>
              <a:cxnLst/>
              <a:rect l="l" t="t" r="r" b="b"/>
              <a:pathLst>
                <a:path w="997516" h="297769">
                  <a:moveTo>
                    <a:pt x="0" y="0"/>
                  </a:moveTo>
                  <a:lnTo>
                    <a:pt x="997516" y="0"/>
                  </a:lnTo>
                  <a:lnTo>
                    <a:pt x="997516" y="297769"/>
                  </a:lnTo>
                  <a:lnTo>
                    <a:pt x="0" y="29776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997516" cy="326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Projet de loi de finances + Projet de loi de financement de la sécurité sociale pour 2026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573169" y="4393096"/>
            <a:ext cx="729316" cy="272335"/>
            <a:chOff x="0" y="0"/>
            <a:chExt cx="972421" cy="363114"/>
          </a:xfrm>
        </p:grpSpPr>
        <p:sp>
          <p:nvSpPr>
            <p:cNvPr id="31" name="AutoShape 31"/>
            <p:cNvSpPr/>
            <p:nvPr/>
          </p:nvSpPr>
          <p:spPr>
            <a:xfrm>
              <a:off x="7875" y="25399"/>
              <a:ext cx="956670" cy="964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AutoShape 32"/>
            <p:cNvSpPr/>
            <p:nvPr/>
          </p:nvSpPr>
          <p:spPr>
            <a:xfrm flipH="1">
              <a:off x="25400" y="25427"/>
              <a:ext cx="250" cy="3376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AutoShape 33"/>
            <p:cNvSpPr/>
            <p:nvPr/>
          </p:nvSpPr>
          <p:spPr>
            <a:xfrm flipH="1">
              <a:off x="946771" y="25399"/>
              <a:ext cx="250" cy="3376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070553" y="9034130"/>
            <a:ext cx="25337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qui ? pourquoi ?</a:t>
            </a:r>
          </a:p>
        </p:txBody>
      </p:sp>
      <p:sp>
        <p:nvSpPr>
          <p:cNvPr id="35" name="AutoShape 35"/>
          <p:cNvSpPr/>
          <p:nvPr/>
        </p:nvSpPr>
        <p:spPr>
          <a:xfrm>
            <a:off x="12249216" y="9288130"/>
            <a:ext cx="14494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Intérêt, limites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83901"/>
            <a:ext cx="16518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Est-ce qu’un modèle génératif aurait pu le faire 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704153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 le guide d’annotation est déjà optimal, oui.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20485" y="4685228"/>
            <a:ext cx="1481522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 n’était pas le cas ici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Annoter nous permet d’avoir une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meilleure connaissance des données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d’affiner / de remettre en question notre guide d’annotation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Intérêt, limites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20485" y="4754409"/>
            <a:ext cx="11062156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Simplicité de la tâche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(peu d’appréciation subjective)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Absence de sensibilité des données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Coût temporel limité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(peu d’annotations)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20485" y="7869084"/>
            <a:ext cx="1481522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Coûts économique, environnemental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Réplicabilité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83901"/>
            <a:ext cx="16518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E98E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Est-ce qu’un modèle génératif aurait pu le faire 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04153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 ailleurs, mettre en perspective la nature de notre cas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040409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 ne pas ignorer :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88825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Intérêt, limites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13981"/>
            <a:ext cx="1481522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 qu’on aurait pu ajouter ou faire différemment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754828"/>
            <a:ext cx="1624670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Exploration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préalable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des données via les outils intégrés dans ActiveTigger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48225"/>
            <a:ext cx="16246703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Plus d’annotations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: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validation et test sets (meilleur F1)</a:t>
            </a:r>
          </a:p>
          <a:p>
            <a:pPr marL="1295400" lvl="2" indent="-431800" algn="l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train set pour la catégorie “source” 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Annotation croisée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d’une partie des données (accord inter-annotateur)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2597" y="8077200"/>
            <a:ext cx="1624670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Annotation manuelle </a:t>
            </a: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 664 données de +1024 tokens retirées du dataset.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03452" y="3570946"/>
            <a:ext cx="488109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Merci !</a:t>
            </a:r>
          </a:p>
        </p:txBody>
      </p:sp>
      <p:sp>
        <p:nvSpPr>
          <p:cNvPr id="3" name="Freeform 3"/>
          <p:cNvSpPr/>
          <p:nvPr/>
        </p:nvSpPr>
        <p:spPr>
          <a:xfrm>
            <a:off x="8634413" y="2629369"/>
            <a:ext cx="1019174" cy="1046352"/>
          </a:xfrm>
          <a:custGeom>
            <a:avLst/>
            <a:gdLst/>
            <a:ahLst/>
            <a:cxnLst/>
            <a:rect l="l" t="t" r="r" b="b"/>
            <a:pathLst>
              <a:path w="1019174" h="1046352">
                <a:moveTo>
                  <a:pt x="0" y="0"/>
                </a:moveTo>
                <a:lnTo>
                  <a:pt x="1019174" y="0"/>
                </a:lnTo>
                <a:lnTo>
                  <a:pt x="1019174" y="1046352"/>
                </a:lnTo>
                <a:lnTo>
                  <a:pt x="0" y="104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863163" y="5385190"/>
            <a:ext cx="1256167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Demande de compte, documentation, lien GitHub, lien Discord : 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https://activetigger.com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3671</Words>
  <Application>Microsoft Macintosh PowerPoint</Application>
  <PresentationFormat>Personnalisé</PresentationFormat>
  <Paragraphs>532</Paragraphs>
  <Slides>76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76</vt:i4>
      </vt:variant>
    </vt:vector>
  </HeadingPairs>
  <TitlesOfParts>
    <vt:vector size="88" baseType="lpstr">
      <vt:lpstr>Open Sauce Bold</vt:lpstr>
      <vt:lpstr>Calibri</vt:lpstr>
      <vt:lpstr>Open Sauce</vt:lpstr>
      <vt:lpstr>Open Sauce Bold Italics</vt:lpstr>
      <vt:lpstr>Calibri (MS)</vt:lpstr>
      <vt:lpstr>Open Sans</vt:lpstr>
      <vt:lpstr>Arial</vt:lpstr>
      <vt:lpstr>Open Sans Bold</vt:lpstr>
      <vt:lpstr>Times New Roman</vt:lpstr>
      <vt:lpstr>Gotham Bold</vt:lpstr>
      <vt:lpstr>Open Sauce Italics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Use_case_VLONGUE_EO</dc:title>
  <cp:lastModifiedBy>ROUGIER Adrien</cp:lastModifiedBy>
  <cp:revision>17</cp:revision>
  <dcterms:created xsi:type="dcterms:W3CDTF">2006-08-16T00:00:00Z</dcterms:created>
  <dcterms:modified xsi:type="dcterms:W3CDTF">2026-10-22T09:19:41Z</dcterms:modified>
  <dc:identifier>DAHYoXKn-o8</dc:identifier>
</cp:coreProperties>
</file>